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3636e3ead4a1d" /><Relationship Type="http://schemas.openxmlformats.org/officeDocument/2006/relationships/extended-properties" Target="/docProps/app.xml" Id="Rab7dc82e74844204" /><Relationship Type="http://schemas.openxmlformats.org/officeDocument/2006/relationships/officeDocument" Target="/ppt/presentation.xml" Id="R51d31067c41b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1019f09cb44cf"/>
  </p:sldMasterIdLst>
  <p:notesMasterIdLst>
    <p:notesMasterId xmlns:r="http://schemas.openxmlformats.org/officeDocument/2006/relationships" r:id="R4754d63938694bf2"/>
  </p:notesMasterIdLst>
  <p:sldIdLst>
    <p:sldId xmlns:r="http://schemas.openxmlformats.org/officeDocument/2006/relationships" id="256" r:id="R2951a52117f5426d"/>
    <p:sldId xmlns:r="http://schemas.openxmlformats.org/officeDocument/2006/relationships" id="257" r:id="R7ac9cade3ad540f7"/>
    <p:sldId xmlns:r="http://schemas.openxmlformats.org/officeDocument/2006/relationships" id="258" r:id="R71165a8f283e4f0a"/>
    <p:sldId xmlns:r="http://schemas.openxmlformats.org/officeDocument/2006/relationships" id="259" r:id="Rcc58d85b7f474612"/>
    <p:sldId xmlns:r="http://schemas.openxmlformats.org/officeDocument/2006/relationships" id="260" r:id="Rd65abbd79e6a45ee"/>
    <p:sldId xmlns:r="http://schemas.openxmlformats.org/officeDocument/2006/relationships" id="261" r:id="Ra41c09308c0c484a"/>
    <p:sldId xmlns:r="http://schemas.openxmlformats.org/officeDocument/2006/relationships" id="262" r:id="R4946e1508f114f76"/>
    <p:sldId xmlns:r="http://schemas.openxmlformats.org/officeDocument/2006/relationships" id="263" r:id="Rbf6ac99c093f4d8b"/>
    <p:sldId xmlns:r="http://schemas.openxmlformats.org/officeDocument/2006/relationships" id="264" r:id="Rd816bce470c64506"/>
    <p:sldId xmlns:r="http://schemas.openxmlformats.org/officeDocument/2006/relationships" id="265" r:id="R9b2e06de6e5749e9"/>
    <p:sldId xmlns:r="http://schemas.openxmlformats.org/officeDocument/2006/relationships" id="266" r:id="R606ac7eeeef34cda"/>
    <p:sldId xmlns:r="http://schemas.openxmlformats.org/officeDocument/2006/relationships" id="267" r:id="Rd7382878e5064b98"/>
    <p:sldId xmlns:r="http://schemas.openxmlformats.org/officeDocument/2006/relationships" id="268" r:id="R8702e3ee079f4423"/>
    <p:sldId xmlns:r="http://schemas.openxmlformats.org/officeDocument/2006/relationships" id="269" r:id="Rbe6d4755c4684472"/>
    <p:sldId xmlns:r="http://schemas.openxmlformats.org/officeDocument/2006/relationships" id="270" r:id="R8c115eabc3444ca9"/>
    <p:sldId xmlns:r="http://schemas.openxmlformats.org/officeDocument/2006/relationships" id="271" r:id="R7df000f0a0c645fa"/>
    <p:sldId xmlns:r="http://schemas.openxmlformats.org/officeDocument/2006/relationships" id="272" r:id="Rfb105b8639b442a6"/>
    <p:sldId xmlns:r="http://schemas.openxmlformats.org/officeDocument/2006/relationships" id="273" r:id="R85bf2bf698bc4700"/>
    <p:sldId xmlns:r="http://schemas.openxmlformats.org/officeDocument/2006/relationships" id="274" r:id="Rf9b4029ad14c4098"/>
    <p:sldId xmlns:r="http://schemas.openxmlformats.org/officeDocument/2006/relationships" id="275" r:id="Ra3267f81ebf449af"/>
    <p:sldId xmlns:r="http://schemas.openxmlformats.org/officeDocument/2006/relationships" id="276" r:id="Re890250f8b4b450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1019f09cb44cf" /><Relationship Type="http://schemas.openxmlformats.org/officeDocument/2006/relationships/theme" Target="/ppt/theme/theme1.xml" Id="R1e9fce7df2ed4947" /><Relationship Type="http://schemas.openxmlformats.org/officeDocument/2006/relationships/notesMaster" Target="/ppt/notesMasters/notesMaster1.xml" Id="R4754d63938694bf2" /><Relationship Type="http://schemas.openxmlformats.org/officeDocument/2006/relationships/presProps" Target="/ppt/presProps.xml" Id="Rc3e2990f09d544fc" /><Relationship Type="http://schemas.openxmlformats.org/officeDocument/2006/relationships/viewProps" Target="/ppt/viewProps.xml" Id="Rbbc294a8439c4f97" /><Relationship Type="http://schemas.openxmlformats.org/officeDocument/2006/relationships/tableStyles" Target="/ppt/tableStyles.xml" Id="R99a3485787ec4b33" /><Relationship Type="http://schemas.openxmlformats.org/officeDocument/2006/relationships/slide" Target="/ppt/slides/slide1.xml" Id="R2951a52117f5426d" /><Relationship Type="http://schemas.openxmlformats.org/officeDocument/2006/relationships/slide" Target="/ppt/slides/slide2.xml" Id="R7ac9cade3ad540f7" /><Relationship Type="http://schemas.openxmlformats.org/officeDocument/2006/relationships/slide" Target="/ppt/slides/slide3.xml" Id="R71165a8f283e4f0a" /><Relationship Type="http://schemas.openxmlformats.org/officeDocument/2006/relationships/slide" Target="/ppt/slides/slide4.xml" Id="Rcc58d85b7f474612" /><Relationship Type="http://schemas.openxmlformats.org/officeDocument/2006/relationships/slide" Target="/ppt/slides/slide5.xml" Id="Rd65abbd79e6a45ee" /><Relationship Type="http://schemas.openxmlformats.org/officeDocument/2006/relationships/slide" Target="/ppt/slides/slide6.xml" Id="Ra41c09308c0c484a" /><Relationship Type="http://schemas.openxmlformats.org/officeDocument/2006/relationships/slide" Target="/ppt/slides/slide7.xml" Id="R4946e1508f114f76" /><Relationship Type="http://schemas.openxmlformats.org/officeDocument/2006/relationships/slide" Target="/ppt/slides/slide8.xml" Id="Rbf6ac99c093f4d8b" /><Relationship Type="http://schemas.openxmlformats.org/officeDocument/2006/relationships/slide" Target="/ppt/slides/slide9.xml" Id="Rd816bce470c64506" /><Relationship Type="http://schemas.openxmlformats.org/officeDocument/2006/relationships/slide" Target="/ppt/slides/slide10.xml" Id="R9b2e06de6e5749e9" /><Relationship Type="http://schemas.openxmlformats.org/officeDocument/2006/relationships/slide" Target="/ppt/slides/slide11.xml" Id="R606ac7eeeef34cda" /><Relationship Type="http://schemas.openxmlformats.org/officeDocument/2006/relationships/slide" Target="/ppt/slides/slide12.xml" Id="Rd7382878e5064b98" /><Relationship Type="http://schemas.openxmlformats.org/officeDocument/2006/relationships/slide" Target="/ppt/slides/slide13.xml" Id="R8702e3ee079f4423" /><Relationship Type="http://schemas.openxmlformats.org/officeDocument/2006/relationships/slide" Target="/ppt/slides/slide14.xml" Id="Rbe6d4755c4684472" /><Relationship Type="http://schemas.openxmlformats.org/officeDocument/2006/relationships/slide" Target="/ppt/slides/slide15.xml" Id="R8c115eabc3444ca9" /><Relationship Type="http://schemas.openxmlformats.org/officeDocument/2006/relationships/slide" Target="/ppt/slides/slide16.xml" Id="R7df000f0a0c645fa" /><Relationship Type="http://schemas.openxmlformats.org/officeDocument/2006/relationships/slide" Target="/ppt/slides/slide17.xml" Id="Rfb105b8639b442a6" /><Relationship Type="http://schemas.openxmlformats.org/officeDocument/2006/relationships/slide" Target="/ppt/slides/slide18.xml" Id="R85bf2bf698bc4700" /><Relationship Type="http://schemas.openxmlformats.org/officeDocument/2006/relationships/slide" Target="/ppt/slides/slide19.xml" Id="Rf9b4029ad14c4098" /><Relationship Type="http://schemas.openxmlformats.org/officeDocument/2006/relationships/slide" Target="/ppt/slides/slide20.xml" Id="Ra3267f81ebf449af" /><Relationship Type="http://schemas.openxmlformats.org/officeDocument/2006/relationships/slide" Target="/ppt/slides/slide21.xml" Id="Re890250f8b4b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8bab50a22ae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bb7997e8942b8" /><Relationship Type="http://schemas.openxmlformats.org/officeDocument/2006/relationships/notesMaster" Target="/ppt/notesMasters/notesMaster1.xml" Id="Ree671a47036b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cf2392ba1047ab" /><Relationship Type="http://schemas.openxmlformats.org/officeDocument/2006/relationships/notesMaster" Target="/ppt/notesMasters/notesMaster1.xml" Id="Rb36dfa6b780e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af534ad614551" /><Relationship Type="http://schemas.openxmlformats.org/officeDocument/2006/relationships/notesMaster" Target="/ppt/notesMasters/notesMaster1.xml" Id="Ra1e02f9d5f3f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d03c0198cd42c7" /><Relationship Type="http://schemas.openxmlformats.org/officeDocument/2006/relationships/notesMaster" Target="/ppt/notesMasters/notesMaster1.xml" Id="Rd80e08761e2b49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5f68648b814076" /><Relationship Type="http://schemas.openxmlformats.org/officeDocument/2006/relationships/notesMaster" Target="/ppt/notesMasters/notesMaster1.xml" Id="R9f1a1f2df5ce44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43d5e2b994ca1" /><Relationship Type="http://schemas.openxmlformats.org/officeDocument/2006/relationships/notesMaster" Target="/ppt/notesMasters/notesMaster1.xml" Id="Rf20f8f3d82a54a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b11bf662174be5" /><Relationship Type="http://schemas.openxmlformats.org/officeDocument/2006/relationships/notesMaster" Target="/ppt/notesMasters/notesMaster1.xml" Id="Re6973c2eedc840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67fe31c3e4406" /><Relationship Type="http://schemas.openxmlformats.org/officeDocument/2006/relationships/notesMaster" Target="/ppt/notesMasters/notesMaster1.xml" Id="R28487121837e46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5ca42513304b0b" /><Relationship Type="http://schemas.openxmlformats.org/officeDocument/2006/relationships/notesMaster" Target="/ppt/notesMasters/notesMaster1.xml" Id="Rb1ceecc8e1884f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35df3369f74d14" /><Relationship Type="http://schemas.openxmlformats.org/officeDocument/2006/relationships/notesMaster" Target="/ppt/notesMasters/notesMaster1.xml" Id="R82cf1ac146d246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a44858eeb04285" /><Relationship Type="http://schemas.openxmlformats.org/officeDocument/2006/relationships/notesMaster" Target="/ppt/notesMasters/notesMaster1.xml" Id="Rd710ad91ad3944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fe8ee1ca3c4bc8" /><Relationship Type="http://schemas.openxmlformats.org/officeDocument/2006/relationships/notesMaster" Target="/ppt/notesMasters/notesMaster1.xml" Id="Rf0dd2a14054c4e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9332bb83db4305" /><Relationship Type="http://schemas.openxmlformats.org/officeDocument/2006/relationships/notesMaster" Target="/ppt/notesMasters/notesMaster1.xml" Id="Rc93d6574b70d40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42354a5fd245bf" /><Relationship Type="http://schemas.openxmlformats.org/officeDocument/2006/relationships/notesMaster" Target="/ppt/notesMasters/notesMaster1.xml" Id="R1bfb8f9fb62e48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a23ee3a7ee4fc3" /><Relationship Type="http://schemas.openxmlformats.org/officeDocument/2006/relationships/notesMaster" Target="/ppt/notesMasters/notesMaster1.xml" Id="Rb8f0018d890e41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9b2de6f33c47f9" /><Relationship Type="http://schemas.openxmlformats.org/officeDocument/2006/relationships/notesMaster" Target="/ppt/notesMasters/notesMaster1.xml" Id="Rfe4ca34b237441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834035c2d74e28" /><Relationship Type="http://schemas.openxmlformats.org/officeDocument/2006/relationships/notesMaster" Target="/ppt/notesMasters/notesMaster1.xml" Id="R634ad6a028d943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d529f4644e4c80" /><Relationship Type="http://schemas.openxmlformats.org/officeDocument/2006/relationships/notesMaster" Target="/ppt/notesMasters/notesMaster1.xml" Id="Rd2af45f9d91542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ff7f40015f47f0" /><Relationship Type="http://schemas.openxmlformats.org/officeDocument/2006/relationships/notesMaster" Target="/ppt/notesMasters/notesMaster1.xml" Id="R05d6df2a097c4d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dc245ef4294144" /><Relationship Type="http://schemas.openxmlformats.org/officeDocument/2006/relationships/notesMaster" Target="/ppt/notesMasters/notesMaster1.xml" Id="Ra173cb476dbf4b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ac273bb5784558" /><Relationship Type="http://schemas.openxmlformats.org/officeDocument/2006/relationships/notesMaster" Target="/ppt/notesMasters/notesMaster1.xml" Id="R5265331b338d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7a071815b4bf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7531d241f548e7" /><Relationship Type="http://schemas.openxmlformats.org/officeDocument/2006/relationships/slideLayout" Target="/ppt/slideLayouts/slideLayout2.xml" Id="Re87119ac3f5d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119ac3f5d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47e55417c24700" /><Relationship Type="http://schemas.openxmlformats.org/officeDocument/2006/relationships/notesSlide" Target="/ppt/notesSlides/notesSlide1.xml" Id="R69200d620f5944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5a0b47a594d30" /><Relationship Type="http://schemas.openxmlformats.org/officeDocument/2006/relationships/notesSlide" Target="/ppt/notesSlides/notesSlide2.xml" Id="Rd700e8a7baac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736351d8b42a2" /><Relationship Type="http://schemas.openxmlformats.org/officeDocument/2006/relationships/notesSlide" Target="/ppt/notesSlides/notesSlide3.xml" Id="Rbcf1c39644b246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373e1a5f84fbd" /><Relationship Type="http://schemas.openxmlformats.org/officeDocument/2006/relationships/notesSlide" Target="/ppt/notesSlides/notesSlide4.xml" Id="R9accc8f679414e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aa509aa924186" /><Relationship Type="http://schemas.openxmlformats.org/officeDocument/2006/relationships/notesSlide" Target="/ppt/notesSlides/notesSlide5.xml" Id="R97f2edf1a4af42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d7ab679ce4f7b" /><Relationship Type="http://schemas.openxmlformats.org/officeDocument/2006/relationships/image" Target="/ppt/media/image.png" Id="Rd5060fffc947487e" /><Relationship Type="http://schemas.openxmlformats.org/officeDocument/2006/relationships/image" Target="/ppt/media/image2.png" Id="R892dd10f887c42ae" /><Relationship Type="http://schemas.openxmlformats.org/officeDocument/2006/relationships/image" Target="/ppt/media/image3.png" Id="R90d0bb32ce214881" /><Relationship Type="http://schemas.openxmlformats.org/officeDocument/2006/relationships/image" Target="/ppt/media/image4.png" Id="Re82d4399acf8485d" /><Relationship Type="http://schemas.openxmlformats.org/officeDocument/2006/relationships/image" Target="/ppt/media/image5.png" Id="R800d80f21c574319" /><Relationship Type="http://schemas.openxmlformats.org/officeDocument/2006/relationships/image" Target="/ppt/media/image6.png" Id="R161a48f300244c5c" /><Relationship Type="http://schemas.openxmlformats.org/officeDocument/2006/relationships/image" Target="/ppt/media/image7.png" Id="R984858231ed84a0f" /><Relationship Type="http://schemas.openxmlformats.org/officeDocument/2006/relationships/image" Target="/ppt/media/image8.png" Id="R4415f33fa3394279" /><Relationship Type="http://schemas.openxmlformats.org/officeDocument/2006/relationships/image" Target="/ppt/media/image9.png" Id="Rb94e989e37834769" /><Relationship Type="http://schemas.openxmlformats.org/officeDocument/2006/relationships/image" Target="/ppt/media/image10.png" Id="Rab58f52de50143ca" /><Relationship Type="http://schemas.openxmlformats.org/officeDocument/2006/relationships/image" Target="/ppt/media/image11.png" Id="Rfcc33878804c4eb7" /><Relationship Type="http://schemas.openxmlformats.org/officeDocument/2006/relationships/notesSlide" Target="/ppt/notesSlides/notesSlide6.xml" Id="R9a96125513af4f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295c33b0442f2" /><Relationship Type="http://schemas.openxmlformats.org/officeDocument/2006/relationships/notesSlide" Target="/ppt/notesSlides/notesSlide7.xml" Id="R8961214f6c7e43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7cc6573644548" /><Relationship Type="http://schemas.openxmlformats.org/officeDocument/2006/relationships/image" Target="/ppt/media/image12.png" Id="Rb60483040fd04d56" /><Relationship Type="http://schemas.openxmlformats.org/officeDocument/2006/relationships/notesSlide" Target="/ppt/notesSlides/notesSlide8.xml" Id="Rfb7d33c8f9be46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ed960602546d9" /><Relationship Type="http://schemas.openxmlformats.org/officeDocument/2006/relationships/image" Target="/ppt/media/image13.png" Id="Reaa16544da4a4258" /><Relationship Type="http://schemas.openxmlformats.org/officeDocument/2006/relationships/image" Target="/ppt/media/image14.png" Id="R6fcdff8f1fea4a85" /><Relationship Type="http://schemas.openxmlformats.org/officeDocument/2006/relationships/notesSlide" Target="/ppt/notesSlides/notesSlide9.xml" Id="Rf8d725ce56f849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f5962f4b547b9" /><Relationship Type="http://schemas.openxmlformats.org/officeDocument/2006/relationships/image" Target="/ppt/media/image15.png" Id="R9e859e9da3e043bb" /><Relationship Type="http://schemas.openxmlformats.org/officeDocument/2006/relationships/notesSlide" Target="/ppt/notesSlides/notesSlide10.xml" Id="R72c886bdc015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b17a072ca14026" /><Relationship Type="http://schemas.openxmlformats.org/officeDocument/2006/relationships/notesSlide" Target="/ppt/notesSlides/notesSlide11.xml" Id="Re00852cfa9b645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b668e5b424e9d" /><Relationship Type="http://schemas.openxmlformats.org/officeDocument/2006/relationships/notesSlide" Target="/ppt/notesSlides/notesSlide12.xml" Id="Rba95fc793c4440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62f17da2745b8" /><Relationship Type="http://schemas.openxmlformats.org/officeDocument/2006/relationships/notesSlide" Target="/ppt/notesSlides/notesSlide13.xml" Id="R3e2cad0224ed4d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21cb48f324bc0" /><Relationship Type="http://schemas.openxmlformats.org/officeDocument/2006/relationships/notesSlide" Target="/ppt/notesSlides/notesSlide14.xml" Id="Raad129b47f3a41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5a3f4bb8046cf" /><Relationship Type="http://schemas.openxmlformats.org/officeDocument/2006/relationships/image" Target="/ppt/media/image16.png" Id="R44dca28c1da54cfd" /><Relationship Type="http://schemas.openxmlformats.org/officeDocument/2006/relationships/notesSlide" Target="/ppt/notesSlides/notesSlide15.xml" Id="Raa1731ee64734f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9e1377d7d44864" /><Relationship Type="http://schemas.openxmlformats.org/officeDocument/2006/relationships/image" Target="/ppt/media/image17.png" Id="R8e9e3f3c6d2a4911" /><Relationship Type="http://schemas.openxmlformats.org/officeDocument/2006/relationships/notesSlide" Target="/ppt/notesSlides/notesSlide16.xml" Id="Rddcaf84aa30745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9c846d0d847b3" /><Relationship Type="http://schemas.openxmlformats.org/officeDocument/2006/relationships/notesSlide" Target="/ppt/notesSlides/notesSlide17.xml" Id="Rc3f56c1b4c844a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dbbf3b4ed54d83" /><Relationship Type="http://schemas.openxmlformats.org/officeDocument/2006/relationships/notesSlide" Target="/ppt/notesSlides/notesSlide18.xml" Id="Re6b0cfd5d7e049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27d850bc748a0" /><Relationship Type="http://schemas.openxmlformats.org/officeDocument/2006/relationships/notesSlide" Target="/ppt/notesSlides/notesSlide19.xml" Id="R79ed7a62c1ee47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5ac00146c47d0" /><Relationship Type="http://schemas.openxmlformats.org/officeDocument/2006/relationships/image" Target="/ppt/media/image18.png" Id="R7158fa03b7a84e08" /><Relationship Type="http://schemas.openxmlformats.org/officeDocument/2006/relationships/image" Target="/ppt/media/image19.png" Id="R2368f7378dc24bf7" /><Relationship Type="http://schemas.openxmlformats.org/officeDocument/2006/relationships/image" Target="/ppt/media/image20.png" Id="R4c97971ad72a4118" /><Relationship Type="http://schemas.openxmlformats.org/officeDocument/2006/relationships/image" Target="/ppt/media/image21.png" Id="R712fd32e53104b9e" /><Relationship Type="http://schemas.openxmlformats.org/officeDocument/2006/relationships/notesSlide" Target="/ppt/notesSlides/notesSlide20.xml" Id="Rd367865eb8f340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8a87f499a149c8" /><Relationship Type="http://schemas.openxmlformats.org/officeDocument/2006/relationships/notesSlide" Target="/ppt/notesSlides/notesSlide21.xml" Id="Rfd539afbaa48458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8D25454-C923-442A-A673-3223BEA3A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BAD12A9C-84BE-4DFE-A9F0-97A904C36DB6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CEC5E028-54EB-4DB8-A550-17A4077A13DA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09022A47-B226-4D2C-AB9F-3B0EB5D4E543}"/>
              </a:ext>
            </a:extLst>
          </p:cNvPr>
          <p:cNvSpPr txBox="1">
            <a:spLocks noGrp="1"/>
          </p:cNvSpPr>
          <p:nvPr/>
        </p:nvSpPr>
        <p:spPr>
          <a:xfrm>
            <a:off x="762000" y="2619375"/>
            <a:ext cx="16192500" cy="2000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41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41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AI for daily life</a:t>
            </a:r>
          </a:p>
        </p:txBody>
      </p:sp>
      <p:sp>
        <p:nvSpPr>
          <p:cNvPr id="5" name="">
            <a:extLst>
              <a:ext uri="{FF2B5EF4-FFF2-40B4-BE49-F238E27FC236}">
                <ns2:creationId id="{194B05FD-A7DB-4BCC-B9FF-4FB6AF3F1B02}"/>
              </a:ext>
            </a:extLst>
          </p:cNvPr>
          <p:cNvSpPr txBox="1">
            <a:spLocks noGrp="1"/>
          </p:cNvSpPr>
          <p:nvPr/>
        </p:nvSpPr>
        <p:spPr>
          <a:xfrm>
            <a:off x="800100" y="485775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3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33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the personal stack I run on</a:t>
            </a:r>
          </a:p>
        </p:txBody>
      </p:sp>
      <p:sp>
        <p:nvSpPr>
          <p:cNvPr id="6" name="">
            <a:extLst>
              <a:ext uri="{FF2B5EF4-FFF2-40B4-BE49-F238E27FC236}">
                <ns2:creationId id="{075BC15B-FF7B-4D14-AD43-B7143319FCC2}"/>
              </a:ext>
            </a:extLst>
          </p:cNvPr>
          <p:cNvSpPr txBox="1">
            <a:spLocks noGrp="1"/>
          </p:cNvSpPr>
          <p:nvPr/>
        </p:nvSpPr>
        <p:spPr>
          <a:xfrm>
            <a:off x="762000" y="9525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24.05.2026</a:t>
            </a:r>
          </a:p>
        </p:txBody>
      </p:sp>
      <p:sp>
        <p:nvSpPr>
          <p:cNvPr id="7" name="">
            <a:extLst>
              <a:ext uri="{FF2B5EF4-FFF2-40B4-BE49-F238E27FC236}">
                <ns2:creationId id="{80E01BBF-A1E4-4E7C-BF1B-661F62450519}"/>
              </a:ext>
            </a:extLst>
          </p:cNvPr>
          <p:cNvSpPr txBox="1">
            <a:spLocks noGrp="1"/>
          </p:cNvSpPr>
          <p:nvPr/>
        </p:nvSpPr>
        <p:spPr>
          <a:xfrm>
            <a:off x="13906500" y="952500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240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template</a:t>
            </a:r>
          </a:p>
        </p:txBody>
      </p:sp>
    </p:spTree>
    <p:extLst>
      <p:ext uri="{BB962C8B-B14F-4D97-AF65-F5344CB8AC3E}">
        <ns3:creationId val="81899193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FC26AF3-6690-4BDF-AACC-DE450B4DE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780436D0-154E-415F-B8D1-0BB244093772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FFE37A16-5D0B-4434-A3BA-3BED98E77865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B4DD7ADD-62EA-4052-84F0-96B04888B34C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2 / 21</a:t>
            </a:r>
          </a:p>
        </p:txBody>
      </p:sp>
      <p:sp>
        <p:nvSpPr>
          <p:cNvPr id="5" name="">
            <a:extLst>
              <a:ext uri="{FF2B5EF4-FFF2-40B4-BE49-F238E27FC236}">
                <ns2:creationId id="{3908B94F-DB58-4E8B-A305-4E4E14BE10B5}"/>
              </a:ext>
            </a:extLst>
          </p:cNvPr>
          <p:cNvSpPr txBox="1">
            <a:spLocks noGrp="1"/>
          </p:cNvSpPr>
          <p:nvPr/>
        </p:nvSpPr>
        <p:spPr>
          <a:xfrm>
            <a:off x="762000" y="17145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Agenda</a:t>
            </a:r>
          </a:p>
        </p:txBody>
      </p:sp>
      <p:sp>
        <p:nvSpPr>
          <p:cNvPr id="6" name="">
            <a:extLst>
              <a:ext uri="{FF2B5EF4-FFF2-40B4-BE49-F238E27FC236}">
                <ns2:creationId id="{91EA8F4E-7338-4A32-8B71-13FD2C0A212F}"/>
              </a:ext>
            </a:extLst>
          </p:cNvPr>
          <p:cNvSpPr txBox="1">
            <a:spLocks noGrp="1"/>
          </p:cNvSpPr>
          <p:nvPr/>
        </p:nvSpPr>
        <p:spPr>
          <a:xfrm>
            <a:off x="762000" y="33337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1.</a:t>
            </a:r>
          </a:p>
        </p:txBody>
      </p:sp>
      <p:sp>
        <p:nvSpPr>
          <p:cNvPr id="7" name="">
            <a:extLst>
              <a:ext uri="{FF2B5EF4-FFF2-40B4-BE49-F238E27FC236}">
                <ns2:creationId id="{BEA14B11-A668-452E-9B6A-C42D53B9295C}"/>
              </a:ext>
            </a:extLst>
          </p:cNvPr>
          <p:cNvSpPr txBox="1">
            <a:spLocks noGrp="1"/>
          </p:cNvSpPr>
          <p:nvPr/>
        </p:nvSpPr>
        <p:spPr>
          <a:xfrm>
            <a:off x="1619250" y="33337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Mental model: three concentric layers</a:t>
            </a:r>
          </a:p>
        </p:txBody>
      </p:sp>
      <p:sp>
        <p:nvSpPr>
          <p:cNvPr id="8" name="">
            <a:extLst>
              <a:ext uri="{FF2B5EF4-FFF2-40B4-BE49-F238E27FC236}">
                <ns2:creationId id="{E1166D2A-8E57-437E-8D60-59EC9796729D}"/>
              </a:ext>
            </a:extLst>
          </p:cNvPr>
          <p:cNvSpPr txBox="1">
            <a:spLocks noGrp="1"/>
          </p:cNvSpPr>
          <p:nvPr/>
        </p:nvSpPr>
        <p:spPr>
          <a:xfrm>
            <a:off x="762000" y="39814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2.</a:t>
            </a:r>
          </a:p>
        </p:txBody>
      </p:sp>
      <p:sp>
        <p:nvSpPr>
          <p:cNvPr id="9" name="">
            <a:extLst>
              <a:ext uri="{FF2B5EF4-FFF2-40B4-BE49-F238E27FC236}">
                <ns2:creationId id="{5E6A4205-C1B3-49F8-95A4-4321B9F43CB8}"/>
              </a:ext>
            </a:extLst>
          </p:cNvPr>
          <p:cNvSpPr txBox="1">
            <a:spLocks noGrp="1"/>
          </p:cNvSpPr>
          <p:nvPr/>
        </p:nvSpPr>
        <p:spPr>
          <a:xfrm>
            <a:off x="1619250" y="39814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Runner: chief-of-staff</a:t>
            </a:r>
          </a:p>
        </p:txBody>
      </p:sp>
      <p:sp>
        <p:nvSpPr>
          <p:cNvPr id="10" name="">
            <a:extLst>
              <a:ext uri="{FF2B5EF4-FFF2-40B4-BE49-F238E27FC236}">
                <ns2:creationId id="{0E0D9A4E-C50B-4844-BE6F-B65BE71229F1}"/>
              </a:ext>
            </a:extLst>
          </p:cNvPr>
          <p:cNvSpPr txBox="1">
            <a:spLocks noGrp="1"/>
          </p:cNvSpPr>
          <p:nvPr/>
        </p:nvSpPr>
        <p:spPr>
          <a:xfrm>
            <a:off x="762000" y="46291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B730C544-9D8E-4AB3-9468-B4CEA9AAF990}"/>
              </a:ext>
            </a:extLst>
          </p:cNvPr>
          <p:cNvSpPr txBox="1">
            <a:spLocks noGrp="1"/>
          </p:cNvSpPr>
          <p:nvPr/>
        </p:nvSpPr>
        <p:spPr>
          <a:xfrm>
            <a:off x="1619250" y="46291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Obsidian: second brain · LLM-wiki</a:t>
            </a:r>
          </a:p>
        </p:txBody>
      </p:sp>
      <p:sp>
        <p:nvSpPr>
          <p:cNvPr id="12" name="">
            <a:extLst>
              <a:ext uri="{FF2B5EF4-FFF2-40B4-BE49-F238E27FC236}">
                <ns2:creationId id="{4470557F-269E-4ACB-AA27-89FCA89B5D10}"/>
              </a:ext>
            </a:extLst>
          </p:cNvPr>
          <p:cNvSpPr txBox="1">
            <a:spLocks noGrp="1"/>
          </p:cNvSpPr>
          <p:nvPr/>
        </p:nvSpPr>
        <p:spPr>
          <a:xfrm>
            <a:off x="762000" y="52768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93FF9D46-67D8-43E5-993F-E7D275FC731D}"/>
              </a:ext>
            </a:extLst>
          </p:cNvPr>
          <p:cNvSpPr txBox="1">
            <a:spLocks noGrp="1"/>
          </p:cNvSpPr>
          <p:nvPr/>
        </p:nvSpPr>
        <p:spPr>
          <a:xfrm>
            <a:off x="1619250" y="52768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surface: site + APIs</a:t>
            </a:r>
          </a:p>
        </p:txBody>
      </p:sp>
      <p:sp>
        <p:nvSpPr>
          <p:cNvPr id="14" name="">
            <a:extLst>
              <a:ext uri="{FF2B5EF4-FFF2-40B4-BE49-F238E27FC236}">
                <ns2:creationId id="{94434290-4A44-40A3-B4DF-1C438242D4A4}"/>
              </a:ext>
            </a:extLst>
          </p:cNvPr>
          <p:cNvSpPr txBox="1">
            <a:spLocks noGrp="1"/>
          </p:cNvSpPr>
          <p:nvPr/>
        </p:nvSpPr>
        <p:spPr>
          <a:xfrm>
            <a:off x="762000" y="59245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5.</a:t>
            </a:r>
          </a:p>
        </p:txBody>
      </p:sp>
      <p:sp>
        <p:nvSpPr>
          <p:cNvPr id="15" name="">
            <a:extLst>
              <a:ext uri="{FF2B5EF4-FFF2-40B4-BE49-F238E27FC236}">
                <ns2:creationId id="{3460E59E-370C-499F-89BD-9F7B8AD29523}"/>
              </a:ext>
            </a:extLst>
          </p:cNvPr>
          <p:cNvSpPr txBox="1">
            <a:spLocks noGrp="1"/>
          </p:cNvSpPr>
          <p:nvPr/>
        </p:nvSpPr>
        <p:spPr>
          <a:xfrm>
            <a:off x="1619250" y="59245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Personal dashboard: local control center</a:t>
            </a:r>
          </a:p>
        </p:txBody>
      </p:sp>
      <p:sp>
        <p:nvSpPr>
          <p:cNvPr id="16" name="">
            <a:extLst>
              <a:ext uri="{FF2B5EF4-FFF2-40B4-BE49-F238E27FC236}">
                <ns2:creationId id="{89C8EBE3-9C8D-44B2-A259-7F17D4F70B9C}"/>
              </a:ext>
            </a:extLst>
          </p:cNvPr>
          <p:cNvSpPr txBox="1">
            <a:spLocks noGrp="1"/>
          </p:cNvSpPr>
          <p:nvPr/>
        </p:nvSpPr>
        <p:spPr>
          <a:xfrm>
            <a:off x="762000" y="65722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6.</a:t>
            </a:r>
          </a:p>
        </p:txBody>
      </p:sp>
      <p:sp>
        <p:nvSpPr>
          <p:cNvPr id="17" name="">
            <a:extLst>
              <a:ext uri="{FF2B5EF4-FFF2-40B4-BE49-F238E27FC236}">
                <ns2:creationId id="{C885165F-EE8A-424D-969E-3B238EC93B62}"/>
              </a:ext>
            </a:extLst>
          </p:cNvPr>
          <p:cNvSpPr txBox="1">
            <a:spLocks noGrp="1"/>
          </p:cNvSpPr>
          <p:nvPr/>
        </p:nvSpPr>
        <p:spPr>
          <a:xfrm>
            <a:off x="1619250" y="65722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Co-typist: on-device autocomplete</a:t>
            </a:r>
          </a:p>
        </p:txBody>
      </p:sp>
      <p:sp>
        <p:nvSpPr>
          <p:cNvPr id="18" name="">
            <a:extLst>
              <a:ext uri="{FF2B5EF4-FFF2-40B4-BE49-F238E27FC236}">
                <ns2:creationId id="{9F0341E6-D85D-4101-BCFF-A299593F3175}"/>
              </a:ext>
            </a:extLst>
          </p:cNvPr>
          <p:cNvSpPr txBox="1">
            <a:spLocks noGrp="1"/>
          </p:cNvSpPr>
          <p:nvPr/>
        </p:nvSpPr>
        <p:spPr>
          <a:xfrm>
            <a:off x="762000" y="72199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7.</a:t>
            </a:r>
          </a:p>
        </p:txBody>
      </p:sp>
      <p:sp>
        <p:nvSpPr>
          <p:cNvPr id="19" name="">
            <a:extLst>
              <a:ext uri="{FF2B5EF4-FFF2-40B4-BE49-F238E27FC236}">
                <ns2:creationId id="{FF633B2D-BF4F-472C-BA3E-54E692650C5D}"/>
              </a:ext>
            </a:extLst>
          </p:cNvPr>
          <p:cNvSpPr txBox="1">
            <a:spLocks noGrp="1"/>
          </p:cNvSpPr>
          <p:nvPr/>
        </p:nvSpPr>
        <p:spPr>
          <a:xfrm>
            <a:off x="1619250" y="72199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Codex: agentic coding harness</a:t>
            </a:r>
          </a:p>
        </p:txBody>
      </p:sp>
      <p:sp>
        <p:nvSpPr>
          <p:cNvPr id="20" name="">
            <a:extLst>
              <a:ext uri="{FF2B5EF4-FFF2-40B4-BE49-F238E27FC236}">
                <ns2:creationId id="{8AFB5BC7-5E29-424C-9A0F-F4F4B930C305}"/>
              </a:ext>
            </a:extLst>
          </p:cNvPr>
          <p:cNvSpPr txBox="1">
            <a:spLocks noGrp="1"/>
          </p:cNvSpPr>
          <p:nvPr/>
        </p:nvSpPr>
        <p:spPr>
          <a:xfrm>
            <a:off x="762000" y="78676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8.</a:t>
            </a:r>
          </a:p>
        </p:txBody>
      </p:sp>
      <p:sp>
        <p:nvSpPr>
          <p:cNvPr id="21" name="">
            <a:extLst>
              <a:ext uri="{FF2B5EF4-FFF2-40B4-BE49-F238E27FC236}">
                <ns2:creationId id="{BD4916CC-723A-4307-9792-B439E85BA4FE}"/>
              </a:ext>
            </a:extLst>
          </p:cNvPr>
          <p:cNvSpPr txBox="1">
            <a:spLocks noGrp="1"/>
          </p:cNvSpPr>
          <p:nvPr/>
        </p:nvSpPr>
        <p:spPr>
          <a:xfrm>
            <a:off x="1619250" y="78676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Runner workflow: request → filed learnings</a:t>
            </a:r>
          </a:p>
        </p:txBody>
      </p:sp>
      <p:sp>
        <p:nvSpPr>
          <p:cNvPr id="22" name="">
            <a:extLst>
              <a:ext uri="{FF2B5EF4-FFF2-40B4-BE49-F238E27FC236}">
                <ns2:creationId id="{8B9DC269-8DD7-45E5-9508-F040AA0698A1}"/>
              </a:ext>
            </a:extLst>
          </p:cNvPr>
          <p:cNvSpPr txBox="1">
            <a:spLocks noGrp="1"/>
          </p:cNvSpPr>
          <p:nvPr/>
        </p:nvSpPr>
        <p:spPr>
          <a:xfrm>
            <a:off x="762000" y="8515350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625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9.</a:t>
            </a:r>
          </a:p>
        </p:txBody>
      </p:sp>
      <p:sp>
        <p:nvSpPr>
          <p:cNvPr id="23" name="">
            <a:extLst>
              <a:ext uri="{FF2B5EF4-FFF2-40B4-BE49-F238E27FC236}">
                <ns2:creationId id="{188D27C1-EA84-452E-B3C7-D844D398768F}"/>
              </a:ext>
            </a:extLst>
          </p:cNvPr>
          <p:cNvSpPr txBox="1">
            <a:spLocks noGrp="1"/>
          </p:cNvSpPr>
          <p:nvPr/>
        </p:nvSpPr>
        <p:spPr>
          <a:xfrm>
            <a:off x="1619250" y="851535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Demo plan</a:t>
            </a:r>
          </a:p>
        </p:txBody>
      </p:sp>
    </p:spTree>
    <p:extLst>
      <p:ext uri="{BB962C8B-B14F-4D97-AF65-F5344CB8AC3E}">
        <ns3:creationId val="214616900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8F900D7-21D2-420E-B3DC-B73B534CFE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1CC750C0-A3F8-4A5A-BD8E-33EF34C8E466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45C770CD-8090-4414-86A5-568666562A87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04BD859E-D9D5-439D-ABB8-9D9E6B7A3089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3 / 21</a:t>
            </a:r>
          </a:p>
        </p:txBody>
      </p:sp>
      <p:sp>
        <p:nvSpPr>
          <p:cNvPr id="5" name="">
            <a:extLst>
              <a:ext uri="{FF2B5EF4-FFF2-40B4-BE49-F238E27FC236}">
                <ns2:creationId id="{0925F773-C0C1-4121-9A43-AA41D4F55628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</a:t>
            </a:r>
          </a:p>
        </p:txBody>
      </p:sp>
      <p:sp>
        <p:nvSpPr>
          <p:cNvPr id="6" name="">
            <a:extLst>
              <a:ext uri="{FF2B5EF4-FFF2-40B4-BE49-F238E27FC236}">
                <ns2:creationId id="{7183455B-6A5F-4F5A-8BCF-2C6C4BA46F67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Mental model</a:t>
            </a:r>
          </a:p>
        </p:txBody>
      </p:sp>
    </p:spTree>
    <p:extLst>
      <p:ext uri="{BB962C8B-B14F-4D97-AF65-F5344CB8AC3E}">
        <ns3:creationId val="26505587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8237C28-54E7-4FEF-8B61-C65838EA8D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9D646612-73E3-4697-8787-502A70062BB0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31FEB3A5-F4C7-4E96-812A-E86C6475AD84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8FE7CA8C-1F52-4871-B1DC-7E7D6E7EC3EF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4 / 21</a:t>
            </a:r>
          </a:p>
        </p:txBody>
      </p:sp>
      <p:sp>
        <p:nvSpPr>
          <p:cNvPr id="5" name="">
            <a:extLst>
              <a:ext uri="{FF2B5EF4-FFF2-40B4-BE49-F238E27FC236}">
                <ns2:creationId id="{459D78BB-9E1C-409D-8663-5597E96A15DF}"/>
              </a:ext>
            </a:extLst>
          </p:cNvPr>
          <p:cNvSpPr txBox="1">
            <a:spLocks noGrp="1"/>
          </p:cNvSpPr>
          <p:nvPr/>
        </p:nvSpPr>
        <p:spPr>
          <a:xfrm>
            <a:off x="762000" y="161925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Three concentric layers</a:t>
            </a:r>
          </a:p>
        </p:txBody>
      </p:sp>
      <p:sp>
        <p:nvSpPr>
          <p:cNvPr id="6" name="">
            <a:extLst>
              <a:ext uri="{FF2B5EF4-FFF2-40B4-BE49-F238E27FC236}">
                <ns2:creationId id="{1586E811-F3ED-48C8-B78E-6C2416276C05}"/>
              </a:ext>
            </a:extLst>
          </p:cNvPr>
          <p:cNvSpPr txBox="1">
            <a:spLocks noGrp="1"/>
          </p:cNvSpPr>
          <p:nvPr/>
        </p:nvSpPr>
        <p:spPr>
          <a:xfrm>
            <a:off x="781050" y="253365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Same primitives: personal first, then a scoped subset for the team via Centaur.</a:t>
            </a:r>
          </a:p>
        </p:txBody>
      </p:sp>
      <p:sp>
        <p:nvSpPr>
          <p:cNvPr id="7" name="">
            <a:extLst>
              <a:ext uri="{FF2B5EF4-FFF2-40B4-BE49-F238E27FC236}">
                <ns2:creationId id="{132B6119-666E-4DE2-8739-0BAC64CF5B33}"/>
              </a:ext>
            </a:extLst>
          </p:cNvPr>
          <p:cNvSpPr>
            <a:spLocks noGrp="1"/>
          </p:cNvSpPr>
          <p:nvPr/>
        </p:nvSpPr>
        <p:spPr>
          <a:xfrm>
            <a:off x="2047875" y="4210050"/>
            <a:ext cx="4762500" cy="3143250"/>
          </a:xfrm>
          <a:prstGeom prst="rect">
            <a:avLst/>
          </a:prstGeom>
          <a:solidFill>
            <a:srgbClr val="1F2A4E"/>
          </a:solidFill>
          <a:ln w="0">
            <a:solidFill>
              <a:srgbClr val="1F2A4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43D88572-0E64-4A0B-895A-5F327BE61677}"/>
              </a:ext>
            </a:extLst>
          </p:cNvPr>
          <p:cNvSpPr>
            <a:spLocks noGrp="1"/>
          </p:cNvSpPr>
          <p:nvPr/>
        </p:nvSpPr>
        <p:spPr>
          <a:xfrm>
            <a:off x="2714625" y="4781550"/>
            <a:ext cx="3429000" cy="2000250"/>
          </a:xfrm>
          <a:prstGeom prst="rect">
            <a:avLst/>
          </a:prstGeom>
          <a:solidFill>
            <a:srgbClr val="3DA8A0"/>
          </a:solidFill>
          <a:ln w="0">
            <a:solidFill>
              <a:srgbClr val="3DA8A0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96497C0E-4F4A-4DEC-84B2-E1DEEBCB4F54}"/>
              </a:ext>
            </a:extLst>
          </p:cNvPr>
          <p:cNvSpPr>
            <a:spLocks noGrp="1"/>
          </p:cNvSpPr>
          <p:nvPr/>
        </p:nvSpPr>
        <p:spPr>
          <a:xfrm>
            <a:off x="3381375" y="5257800"/>
            <a:ext cx="2095500" cy="1047750"/>
          </a:xfrm>
          <a:prstGeom prst="rect">
            <a:avLst/>
          </a:prstGeom>
          <a:solidFill>
            <a:srgbClr val="E97862"/>
          </a:solidFill>
          <a:ln w="0">
            <a:solidFill>
              <a:srgbClr val="E9786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98700D6-F7CD-403B-99CE-A82557ABB279}"/>
              </a:ext>
            </a:extLst>
          </p:cNvPr>
          <p:cNvSpPr txBox="1">
            <a:spLocks noGrp="1"/>
          </p:cNvSpPr>
          <p:nvPr/>
        </p:nvSpPr>
        <p:spPr>
          <a:xfrm>
            <a:off x="3333750" y="440055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Team</a:t>
            </a:r>
          </a:p>
        </p:txBody>
      </p:sp>
      <p:sp>
        <p:nvSpPr>
          <p:cNvPr id="11" name="">
            <a:extLst>
              <a:ext uri="{FF2B5EF4-FFF2-40B4-BE49-F238E27FC236}">
                <ns2:creationId id="{4BF9DBE5-E13E-4A32-9873-016AF231671E}"/>
              </a:ext>
            </a:extLst>
          </p:cNvPr>
          <p:cNvSpPr txBox="1">
            <a:spLocks noGrp="1"/>
          </p:cNvSpPr>
          <p:nvPr/>
        </p:nvSpPr>
        <p:spPr>
          <a:xfrm>
            <a:off x="3333750" y="5286375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Agents</a:t>
            </a:r>
          </a:p>
        </p:txBody>
      </p:sp>
      <p:sp>
        <p:nvSpPr>
          <p:cNvPr id="12" name="">
            <a:extLst>
              <a:ext uri="{FF2B5EF4-FFF2-40B4-BE49-F238E27FC236}">
                <ns2:creationId id="{E13B5996-77EA-4AC2-B59A-4929FCBDC921}"/>
              </a:ext>
            </a:extLst>
          </p:cNvPr>
          <p:cNvSpPr txBox="1">
            <a:spLocks noGrp="1"/>
          </p:cNvSpPr>
          <p:nvPr/>
        </p:nvSpPr>
        <p:spPr>
          <a:xfrm>
            <a:off x="3333750" y="581025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Context</a:t>
            </a:r>
          </a:p>
        </p:txBody>
      </p:sp>
      <p:sp>
        <p:nvSpPr>
          <p:cNvPr id="13" name="">
            <a:extLst>
              <a:ext uri="{FF2B5EF4-FFF2-40B4-BE49-F238E27FC236}">
                <ns2:creationId id="{A3C707DF-D426-448B-8D47-73EA8E639525}"/>
              </a:ext>
            </a:extLst>
          </p:cNvPr>
          <p:cNvSpPr txBox="1">
            <a:spLocks noGrp="1"/>
          </p:cNvSpPr>
          <p:nvPr/>
        </p:nvSpPr>
        <p:spPr>
          <a:xfrm>
            <a:off x="9525000" y="3381375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Context layer</a:t>
            </a:r>
          </a:p>
        </p:txBody>
      </p:sp>
      <p:sp>
        <p:nvSpPr>
          <p:cNvPr id="14" name="">
            <a:extLst>
              <a:ext uri="{FF2B5EF4-FFF2-40B4-BE49-F238E27FC236}">
                <ns2:creationId id="{D0755E2F-24E7-4E82-968C-C540021BF115}"/>
              </a:ext>
            </a:extLst>
          </p:cNvPr>
          <p:cNvSpPr txBox="1">
            <a:spLocks noGrp="1"/>
          </p:cNvSpPr>
          <p:nvPr/>
        </p:nvSpPr>
        <p:spPr>
          <a:xfrm>
            <a:off x="9525000" y="3857625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Obsidian vault · agent memory · public surface: facts about work, projects, finances and notes.</a:t>
            </a:r>
          </a:p>
        </p:txBody>
      </p:sp>
      <p:sp>
        <p:nvSpPr>
          <p:cNvPr id="15" name="">
            <a:extLst>
              <a:ext uri="{FF2B5EF4-FFF2-40B4-BE49-F238E27FC236}">
                <ns2:creationId id="{D100B670-3725-42CF-88F7-E5801DC67EC0}"/>
              </a:ext>
            </a:extLst>
          </p:cNvPr>
          <p:cNvSpPr txBox="1">
            <a:spLocks noGrp="1"/>
          </p:cNvSpPr>
          <p:nvPr/>
        </p:nvSpPr>
        <p:spPr>
          <a:xfrm>
            <a:off x="9525000" y="47625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Personal agent layer</a:t>
            </a:r>
          </a:p>
        </p:txBody>
      </p:sp>
      <p:sp>
        <p:nvSpPr>
          <p:cNvPr id="16" name="">
            <a:extLst>
              <a:ext uri="{FF2B5EF4-FFF2-40B4-BE49-F238E27FC236}">
                <ns2:creationId id="{0A5A5A7E-2938-40CD-B578-F15A2B66C681}"/>
              </a:ext>
            </a:extLst>
          </p:cNvPr>
          <p:cNvSpPr txBox="1">
            <a:spLocks noGrp="1"/>
          </p:cNvSpPr>
          <p:nvPr/>
        </p:nvSpPr>
        <p:spPr>
          <a:xfrm>
            <a:off x="9525000" y="523875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Runner as chief-of-staff. Codex as the coding harness. Co-typist at the keystroke layer.</a:t>
            </a:r>
          </a:p>
        </p:txBody>
      </p:sp>
      <p:sp>
        <p:nvSpPr>
          <p:cNvPr id="17" name="">
            <a:extLst>
              <a:ext uri="{FF2B5EF4-FFF2-40B4-BE49-F238E27FC236}">
                <ns2:creationId id="{028F11FE-7A2C-4C67-82B9-37C7FF2528EF}"/>
              </a:ext>
            </a:extLst>
          </p:cNvPr>
          <p:cNvSpPr txBox="1">
            <a:spLocks noGrp="1"/>
          </p:cNvSpPr>
          <p:nvPr/>
        </p:nvSpPr>
        <p:spPr>
          <a:xfrm>
            <a:off x="9525000" y="6143625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Team agent layer</a:t>
            </a:r>
          </a:p>
        </p:txBody>
      </p:sp>
      <p:sp>
        <p:nvSpPr>
          <p:cNvPr id="18" name="">
            <a:extLst>
              <a:ext uri="{FF2B5EF4-FFF2-40B4-BE49-F238E27FC236}">
                <ns2:creationId id="{062DD3D3-E0EE-452F-B1CD-EF114E4ADD33}"/>
              </a:ext>
            </a:extLst>
          </p:cNvPr>
          <p:cNvSpPr txBox="1">
            <a:spLocks noGrp="1"/>
          </p:cNvSpPr>
          <p:nvPr/>
        </p:nvSpPr>
        <p:spPr>
          <a:xfrm>
            <a:off x="9525000" y="6619875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 company Slack agent: a curated subset of these abilities with proper permissioning.</a:t>
            </a:r>
          </a:p>
        </p:txBody>
      </p:sp>
    </p:spTree>
    <p:extLst>
      <p:ext uri="{BB962C8B-B14F-4D97-AF65-F5344CB8AC3E}">
        <ns3:creationId val="346621128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4951D25-AA0C-437E-9D10-6D895E93AE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BC6ACB3C-8035-4492-829F-29E086D03E77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1C241AAF-66CD-4AAC-B4A2-176B3E727B6D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1C8285C1-FD05-4852-95E2-20F8C2453CB4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5 / 21</a:t>
            </a:r>
          </a:p>
        </p:txBody>
      </p:sp>
      <p:sp>
        <p:nvSpPr>
          <p:cNvPr id="5" name="">
            <a:extLst>
              <a:ext uri="{FF2B5EF4-FFF2-40B4-BE49-F238E27FC236}">
                <ns2:creationId id="{E1211247-2CD3-4E00-8AD7-7BF16C3100BF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sp>
        <p:nvSpPr>
          <p:cNvPr id="6" name="">
            <a:extLst>
              <a:ext uri="{FF2B5EF4-FFF2-40B4-BE49-F238E27FC236}">
                <ns2:creationId id="{DA520048-5754-40C8-A255-DABA5A110789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Runner</a:t>
            </a:r>
          </a:p>
        </p:txBody>
      </p:sp>
    </p:spTree>
    <p:extLst>
      <p:ext uri="{BB962C8B-B14F-4D97-AF65-F5344CB8AC3E}">
        <ns3:creationId val="199557551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87D71E7-09D7-47F4-A0B8-9C507DDC00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ACABBB3D-42D7-4D61-AB22-01CE2D9E587D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8CC033F0-4BF8-4A47-9AFA-26A1649D92CE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B923E724-5CAF-4CED-845B-77564501F404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6 / 21</a:t>
            </a:r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ns3:embed="Rd5060fffc947487e"/>
          <a:stretch/>
        </p:blipFill>
        <p:spPr>
          <a:xfrm>
            <a:off x="762000" y="1638300"/>
            <a:ext cx="1295400" cy="12954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D5A933ED-A2D4-43D4-906D-BC68948A06D1}"/>
              </a:ext>
            </a:extLst>
          </p:cNvPr>
          <p:cNvSpPr txBox="1">
            <a:spLocks noGrp="1"/>
          </p:cNvSpPr>
          <p:nvPr/>
        </p:nvSpPr>
        <p:spPr>
          <a:xfrm>
            <a:off x="2381250" y="1638300"/>
            <a:ext cx="133350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Runner</a:t>
            </a:r>
          </a:p>
        </p:txBody>
      </p:sp>
      <p:sp>
        <p:nvSpPr>
          <p:cNvPr id="7" name="">
            <a:extLst>
              <a:ext uri="{FF2B5EF4-FFF2-40B4-BE49-F238E27FC236}">
                <ns2:creationId id="{78AD4471-A79A-448C-8B30-D2CEE33644A7}"/>
              </a:ext>
            </a:extLst>
          </p:cNvPr>
          <p:cNvSpPr txBox="1">
            <a:spLocks noGrp="1"/>
          </p:cNvSpPr>
          <p:nvPr/>
        </p:nvSpPr>
        <p:spPr>
          <a:xfrm>
            <a:off x="2400300" y="2809875"/>
            <a:ext cx="14668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chief-of-staff agent: Anthropic SDK + MCP, persistent file memory, scheduled automations</a:t>
            </a:r>
          </a:p>
        </p:txBody>
      </p:sp>
      <p:sp>
        <p:nvSpPr>
          <p:cNvPr id="8" name="">
            <a:extLst>
              <a:ext uri="{FF2B5EF4-FFF2-40B4-BE49-F238E27FC236}">
                <ns2:creationId id="{1A8A7901-2998-4333-9184-6A852F08300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9" name="">
            <a:extLst>
              <a:ext uri="{FF2B5EF4-FFF2-40B4-BE49-F238E27FC236}">
                <ns2:creationId id="{250197D7-39BF-41C4-A1CB-D8C6D2A2451A}"/>
              </a:ext>
            </a:extLst>
          </p:cNvPr>
          <p:cNvSpPr txBox="1">
            <a:spLocks noGrp="1"/>
          </p:cNvSpPr>
          <p:nvPr/>
        </p:nvSpPr>
        <p:spPr>
          <a:xfrm>
            <a:off x="1066800" y="3981450"/>
            <a:ext cx="7505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Drafts replies, books meetings, runs research.</a:t>
            </a:r>
          </a:p>
        </p:txBody>
      </p:sp>
      <p:sp>
        <p:nvSpPr>
          <p:cNvPr id="10" name="">
            <a:extLst>
              <a:ext uri="{FF2B5EF4-FFF2-40B4-BE49-F238E27FC236}">
                <ns2:creationId id="{D8D00118-0D85-4DBB-B3EB-8D98E8BCC8E5}"/>
              </a:ext>
            </a:extLst>
          </p:cNvPr>
          <p:cNvSpPr>
            <a:spLocks noGrp="1"/>
          </p:cNvSpPr>
          <p:nvPr/>
        </p:nvSpPr>
        <p:spPr>
          <a:xfrm>
            <a:off x="762000" y="492442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1" name="">
            <a:extLst>
              <a:ext uri="{FF2B5EF4-FFF2-40B4-BE49-F238E27FC236}">
                <ns2:creationId id="{B8A1568A-190A-4E2A-BD26-0AE8F7E91C55}"/>
              </a:ext>
            </a:extLst>
          </p:cNvPr>
          <p:cNvSpPr txBox="1">
            <a:spLocks noGrp="1"/>
          </p:cNvSpPr>
          <p:nvPr/>
        </p:nvSpPr>
        <p:spPr>
          <a:xfrm>
            <a:off x="1066800" y="4810125"/>
            <a:ext cx="7505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Persistent memory ~/.runner/memory/: user, feedback, project, references.</a:t>
            </a:r>
          </a:p>
        </p:txBody>
      </p:sp>
      <p:sp>
        <p:nvSpPr>
          <p:cNvPr id="12" name="">
            <a:extLst>
              <a:ext uri="{FF2B5EF4-FFF2-40B4-BE49-F238E27FC236}">
                <ns2:creationId id="{64886AAC-23D3-419D-88D7-AA18D1B5525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3" name="">
            <a:extLst>
              <a:ext uri="{FF2B5EF4-FFF2-40B4-BE49-F238E27FC236}">
                <ns2:creationId id="{77553D7A-B205-4C94-AF88-472E53118061}"/>
              </a:ext>
            </a:extLst>
          </p:cNvPr>
          <p:cNvSpPr txBox="1">
            <a:spLocks noGrp="1"/>
          </p:cNvSpPr>
          <p:nvPr/>
        </p:nvSpPr>
        <p:spPr>
          <a:xfrm>
            <a:off x="1066800" y="5638800"/>
            <a:ext cx="7505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Skills inbox-triage · morning-briefing · meeting-prep · investor-updates · weekly-review.</a:t>
            </a:r>
          </a:p>
        </p:txBody>
      </p:sp>
      <p:sp>
        <p:nvSpPr>
          <p:cNvPr id="14" name="">
            <a:extLst>
              <a:ext uri="{FF2B5EF4-FFF2-40B4-BE49-F238E27FC236}">
                <ns2:creationId id="{A715BBCE-E515-403E-BE49-2ADED05F0FCA}"/>
              </a:ext>
            </a:extLst>
          </p:cNvPr>
          <p:cNvSpPr>
            <a:spLocks noGrp="1"/>
          </p:cNvSpPr>
          <p:nvPr/>
        </p:nvSpPr>
        <p:spPr>
          <a:xfrm>
            <a:off x="762000" y="6581775"/>
            <a:ext cx="133350" cy="1333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5" name="">
            <a:extLst>
              <a:ext uri="{FF2B5EF4-FFF2-40B4-BE49-F238E27FC236}">
                <ns2:creationId id="{A01FC57E-43B4-4655-B571-6B3A0731B499}"/>
              </a:ext>
            </a:extLst>
          </p:cNvPr>
          <p:cNvSpPr txBox="1">
            <a:spLocks noGrp="1"/>
          </p:cNvSpPr>
          <p:nvPr/>
        </p:nvSpPr>
        <p:spPr>
          <a:xfrm>
            <a:off x="1066800" y="6467475"/>
            <a:ext cx="7505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Action cards: no silent outbound sends.</a:t>
            </a:r>
          </a:p>
        </p:txBody>
      </p:sp>
      <p:sp>
        <p:nvSpPr>
          <p:cNvPr id="16" name="">
            <a:extLst>
              <a:ext uri="{FF2B5EF4-FFF2-40B4-BE49-F238E27FC236}">
                <ns2:creationId id="{1A7EA1DB-2E61-42F2-A4DD-926747C85BCC}"/>
              </a:ext>
            </a:extLst>
          </p:cNvPr>
          <p:cNvSpPr txBox="1">
            <a:spLocks noGrp="1"/>
          </p:cNvSpPr>
          <p:nvPr/>
        </p:nvSpPr>
        <p:spPr>
          <a:xfrm>
            <a:off x="9525000" y="40005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Connected surfaces</a:t>
            </a:r>
          </a:p>
        </p:txBody>
      </p:sp>
      <p:sp>
        <p:nvSpPr>
          <p:cNvPr id="17" name="">
            <a:extLst>
              <a:ext uri="{FF2B5EF4-FFF2-40B4-BE49-F238E27FC236}">
                <ns2:creationId id="{840ABEE0-2D05-4BE8-AE74-F86A2C8BD543}"/>
              </a:ext>
            </a:extLst>
          </p:cNvPr>
          <p:cNvSpPr>
            <a:spLocks noGrp="1"/>
          </p:cNvSpPr>
          <p:nvPr/>
        </p:nvSpPr>
        <p:spPr>
          <a:xfrm>
            <a:off x="9525000" y="44577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18" name=""/>
          <p:cNvPicPr>
            <a:picLocks noChangeAspect="1"/>
          </p:cNvPicPr>
          <p:nvPr/>
        </p:nvPicPr>
        <p:blipFill>
          <a:blip ns3:embed="R892dd10f887c42ae"/>
          <a:stretch/>
        </p:blipFill>
        <p:spPr>
          <a:xfrm>
            <a:off x="9677400" y="4600575"/>
            <a:ext cx="400050" cy="400050"/>
          </a:xfrm>
          <a:prstGeom prst="rect">
            <a:avLst/>
          </a:prstGeom>
        </p:spPr>
      </p:pic>
      <p:sp>
        <p:nvSpPr>
          <p:cNvPr id="19" name="">
            <a:extLst>
              <a:ext uri="{FF2B5EF4-FFF2-40B4-BE49-F238E27FC236}">
                <ns2:creationId id="{7685BC3A-4516-4BB3-A567-0933CE694EBF}"/>
              </a:ext>
            </a:extLst>
          </p:cNvPr>
          <p:cNvSpPr txBox="1">
            <a:spLocks noGrp="1"/>
          </p:cNvSpPr>
          <p:nvPr/>
        </p:nvSpPr>
        <p:spPr>
          <a:xfrm>
            <a:off x="10229850" y="4648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Mailboxes</a:t>
            </a:r>
          </a:p>
        </p:txBody>
      </p:sp>
      <p:sp>
        <p:nvSpPr>
          <p:cNvPr id="20" name="">
            <a:extLst>
              <a:ext uri="{FF2B5EF4-FFF2-40B4-BE49-F238E27FC236}">
                <ns2:creationId id="{F92C058A-E735-48B3-A96A-9FE743A4A539}"/>
              </a:ext>
            </a:extLst>
          </p:cNvPr>
          <p:cNvSpPr>
            <a:spLocks noGrp="1"/>
          </p:cNvSpPr>
          <p:nvPr/>
        </p:nvSpPr>
        <p:spPr>
          <a:xfrm>
            <a:off x="13239750" y="44577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21" name=""/>
          <p:cNvPicPr>
            <a:picLocks noChangeAspect="1"/>
          </p:cNvPicPr>
          <p:nvPr/>
        </p:nvPicPr>
        <p:blipFill>
          <a:blip ns3:embed="R90d0bb32ce214881"/>
          <a:stretch/>
        </p:blipFill>
        <p:spPr>
          <a:xfrm>
            <a:off x="13392150" y="4600575"/>
            <a:ext cx="400050" cy="400050"/>
          </a:xfrm>
          <a:prstGeom prst="rect">
            <a:avLst/>
          </a:prstGeom>
        </p:spPr>
      </p:pic>
      <p:sp>
        <p:nvSpPr>
          <p:cNvPr id="22" name="">
            <a:extLst>
              <a:ext uri="{FF2B5EF4-FFF2-40B4-BE49-F238E27FC236}">
                <ns2:creationId id="{F773D8E9-00E6-4CC6-AAA2-EE73F4395E80}"/>
              </a:ext>
            </a:extLst>
          </p:cNvPr>
          <p:cNvSpPr txBox="1">
            <a:spLocks noGrp="1"/>
          </p:cNvSpPr>
          <p:nvPr/>
        </p:nvSpPr>
        <p:spPr>
          <a:xfrm>
            <a:off x="13944600" y="4648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Calendars</a:t>
            </a:r>
          </a:p>
        </p:txBody>
      </p:sp>
      <p:sp>
        <p:nvSpPr>
          <p:cNvPr id="23" name="">
            <a:extLst>
              <a:ext uri="{FF2B5EF4-FFF2-40B4-BE49-F238E27FC236}">
                <ns2:creationId id="{456F4806-40BB-4F2B-9B15-A63BFE4CE571}"/>
              </a:ext>
            </a:extLst>
          </p:cNvPr>
          <p:cNvSpPr>
            <a:spLocks noGrp="1"/>
          </p:cNvSpPr>
          <p:nvPr/>
        </p:nvSpPr>
        <p:spPr>
          <a:xfrm>
            <a:off x="9525000" y="527685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24" name=""/>
          <p:cNvPicPr>
            <a:picLocks noChangeAspect="1"/>
          </p:cNvPicPr>
          <p:nvPr/>
        </p:nvPicPr>
        <p:blipFill>
          <a:blip ns3:embed="Re82d4399acf8485d"/>
          <a:stretch/>
        </p:blipFill>
        <p:spPr>
          <a:xfrm>
            <a:off x="9677400" y="5419725"/>
            <a:ext cx="400050" cy="400050"/>
          </a:xfrm>
          <a:prstGeom prst="rect">
            <a:avLst/>
          </a:prstGeom>
        </p:spPr>
      </p:pic>
      <p:sp>
        <p:nvSpPr>
          <p:cNvPr id="25" name="">
            <a:extLst>
              <a:ext uri="{FF2B5EF4-FFF2-40B4-BE49-F238E27FC236}">
                <ns2:creationId id="{A3D2EB4C-3D88-4685-9ECA-CAC1A194F08A}"/>
              </a:ext>
            </a:extLst>
          </p:cNvPr>
          <p:cNvSpPr txBox="1">
            <a:spLocks noGrp="1"/>
          </p:cNvSpPr>
          <p:nvPr/>
        </p:nvSpPr>
        <p:spPr>
          <a:xfrm>
            <a:off x="10229850" y="54673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26" name="">
            <a:extLst>
              <a:ext uri="{FF2B5EF4-FFF2-40B4-BE49-F238E27FC236}">
                <ns2:creationId id="{F813DAC5-C4E2-4799-8D37-612553EA482C}"/>
              </a:ext>
            </a:extLst>
          </p:cNvPr>
          <p:cNvSpPr>
            <a:spLocks noGrp="1"/>
          </p:cNvSpPr>
          <p:nvPr/>
        </p:nvSpPr>
        <p:spPr>
          <a:xfrm>
            <a:off x="13239750" y="527685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27" name=""/>
          <p:cNvPicPr>
            <a:picLocks noChangeAspect="1"/>
          </p:cNvPicPr>
          <p:nvPr/>
        </p:nvPicPr>
        <p:blipFill>
          <a:blip ns3:embed="R800d80f21c574319"/>
          <a:stretch/>
        </p:blipFill>
        <p:spPr>
          <a:xfrm>
            <a:off x="13392150" y="5419725"/>
            <a:ext cx="400050" cy="400050"/>
          </a:xfrm>
          <a:prstGeom prst="rect">
            <a:avLst/>
          </a:prstGeom>
        </p:spPr>
      </p:pic>
      <p:sp>
        <p:nvSpPr>
          <p:cNvPr id="28" name="">
            <a:extLst>
              <a:ext uri="{FF2B5EF4-FFF2-40B4-BE49-F238E27FC236}">
                <ns2:creationId id="{A6750DD5-8803-4654-85D8-B28C2B4E6EF5}"/>
              </a:ext>
            </a:extLst>
          </p:cNvPr>
          <p:cNvSpPr txBox="1">
            <a:spLocks noGrp="1"/>
          </p:cNvSpPr>
          <p:nvPr/>
        </p:nvSpPr>
        <p:spPr>
          <a:xfrm>
            <a:off x="13944600" y="54673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Telegram</a:t>
            </a:r>
          </a:p>
        </p:txBody>
      </p:sp>
      <p:sp>
        <p:nvSpPr>
          <p:cNvPr id="29" name="">
            <a:extLst>
              <a:ext uri="{FF2B5EF4-FFF2-40B4-BE49-F238E27FC236}">
                <ns2:creationId id="{DFA898C0-60C3-4A7E-990B-E304F0BBFA02}"/>
              </a:ext>
            </a:extLst>
          </p:cNvPr>
          <p:cNvSpPr>
            <a:spLocks noGrp="1"/>
          </p:cNvSpPr>
          <p:nvPr/>
        </p:nvSpPr>
        <p:spPr>
          <a:xfrm>
            <a:off x="9525000" y="60960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30" name=""/>
          <p:cNvPicPr>
            <a:picLocks noChangeAspect="1"/>
          </p:cNvPicPr>
          <p:nvPr/>
        </p:nvPicPr>
        <p:blipFill>
          <a:blip ns3:embed="R161a48f300244c5c"/>
          <a:stretch/>
        </p:blipFill>
        <p:spPr>
          <a:xfrm>
            <a:off x="9677400" y="6238875"/>
            <a:ext cx="400050" cy="400050"/>
          </a:xfrm>
          <a:prstGeom prst="rect">
            <a:avLst/>
          </a:prstGeom>
        </p:spPr>
      </p:pic>
      <p:sp>
        <p:nvSpPr>
          <p:cNvPr id="31" name="">
            <a:extLst>
              <a:ext uri="{FF2B5EF4-FFF2-40B4-BE49-F238E27FC236}">
                <ns2:creationId id="{0450A0C0-52E1-468E-ABD6-89C7530DE518}"/>
              </a:ext>
            </a:extLst>
          </p:cNvPr>
          <p:cNvSpPr txBox="1">
            <a:spLocks noGrp="1"/>
          </p:cNvSpPr>
          <p:nvPr/>
        </p:nvSpPr>
        <p:spPr>
          <a:xfrm>
            <a:off x="10229850" y="6286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WhatsApp</a:t>
            </a:r>
          </a:p>
        </p:txBody>
      </p:sp>
      <p:sp>
        <p:nvSpPr>
          <p:cNvPr id="32" name="">
            <a:extLst>
              <a:ext uri="{FF2B5EF4-FFF2-40B4-BE49-F238E27FC236}">
                <ns2:creationId id="{AACFC5A9-9925-40D9-9988-6BBC217BEB61}"/>
              </a:ext>
            </a:extLst>
          </p:cNvPr>
          <p:cNvSpPr>
            <a:spLocks noGrp="1"/>
          </p:cNvSpPr>
          <p:nvPr/>
        </p:nvSpPr>
        <p:spPr>
          <a:xfrm>
            <a:off x="13239750" y="60960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33" name=""/>
          <p:cNvPicPr>
            <a:picLocks noChangeAspect="1"/>
          </p:cNvPicPr>
          <p:nvPr/>
        </p:nvPicPr>
        <p:blipFill>
          <a:blip ns3:embed="R984858231ed84a0f"/>
          <a:stretch/>
        </p:blipFill>
        <p:spPr>
          <a:xfrm>
            <a:off x="13392150" y="6238875"/>
            <a:ext cx="400050" cy="400050"/>
          </a:xfrm>
          <a:prstGeom prst="rect">
            <a:avLst/>
          </a:prstGeom>
        </p:spPr>
      </p:pic>
      <p:sp>
        <p:nvSpPr>
          <p:cNvPr id="34" name="">
            <a:extLst>
              <a:ext uri="{FF2B5EF4-FFF2-40B4-BE49-F238E27FC236}">
                <ns2:creationId id="{99947B13-5678-4F2C-A8CE-F446DCB269E7}"/>
              </a:ext>
            </a:extLst>
          </p:cNvPr>
          <p:cNvSpPr txBox="1">
            <a:spLocks noGrp="1"/>
          </p:cNvSpPr>
          <p:nvPr/>
        </p:nvSpPr>
        <p:spPr>
          <a:xfrm>
            <a:off x="13944600" y="6286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LinkedIn</a:t>
            </a:r>
          </a:p>
        </p:txBody>
      </p:sp>
      <p:sp>
        <p:nvSpPr>
          <p:cNvPr id="35" name="">
            <a:extLst>
              <a:ext uri="{FF2B5EF4-FFF2-40B4-BE49-F238E27FC236}">
                <ns2:creationId id="{F208CD1F-9F3E-4CB2-A6DD-74F12631F81C}"/>
              </a:ext>
            </a:extLst>
          </p:cNvPr>
          <p:cNvSpPr>
            <a:spLocks noGrp="1"/>
          </p:cNvSpPr>
          <p:nvPr/>
        </p:nvSpPr>
        <p:spPr>
          <a:xfrm>
            <a:off x="9525000" y="691515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36" name=""/>
          <p:cNvPicPr>
            <a:picLocks noChangeAspect="1"/>
          </p:cNvPicPr>
          <p:nvPr/>
        </p:nvPicPr>
        <p:blipFill>
          <a:blip ns3:embed="R4415f33fa3394279"/>
          <a:stretch/>
        </p:blipFill>
        <p:spPr>
          <a:xfrm>
            <a:off x="9677400" y="7058025"/>
            <a:ext cx="400050" cy="400050"/>
          </a:xfrm>
          <a:prstGeom prst="rect">
            <a:avLst/>
          </a:prstGeom>
        </p:spPr>
      </p:pic>
      <p:sp>
        <p:nvSpPr>
          <p:cNvPr id="37" name="">
            <a:extLst>
              <a:ext uri="{FF2B5EF4-FFF2-40B4-BE49-F238E27FC236}">
                <ns2:creationId id="{5EE3A680-D2A4-4F7A-B1A7-96D16F9D3B8E}"/>
              </a:ext>
            </a:extLst>
          </p:cNvPr>
          <p:cNvSpPr txBox="1">
            <a:spLocks noGrp="1"/>
          </p:cNvSpPr>
          <p:nvPr/>
        </p:nvSpPr>
        <p:spPr>
          <a:xfrm>
            <a:off x="10229850" y="71056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38" name="">
            <a:extLst>
              <a:ext uri="{FF2B5EF4-FFF2-40B4-BE49-F238E27FC236}">
                <ns2:creationId id="{F49D025B-78CD-4643-89C5-FCC06EE9CCBA}"/>
              </a:ext>
            </a:extLst>
          </p:cNvPr>
          <p:cNvSpPr>
            <a:spLocks noGrp="1"/>
          </p:cNvSpPr>
          <p:nvPr/>
        </p:nvSpPr>
        <p:spPr>
          <a:xfrm>
            <a:off x="13239750" y="691515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39" name=""/>
          <p:cNvPicPr>
            <a:picLocks noChangeAspect="1"/>
          </p:cNvPicPr>
          <p:nvPr/>
        </p:nvPicPr>
        <p:blipFill>
          <a:blip ns3:embed="Rb94e989e37834769"/>
          <a:stretch/>
        </p:blipFill>
        <p:spPr>
          <a:xfrm>
            <a:off x="13392150" y="7058025"/>
            <a:ext cx="400050" cy="400050"/>
          </a:xfrm>
          <a:prstGeom prst="rect">
            <a:avLst/>
          </a:prstGeom>
        </p:spPr>
      </p:pic>
      <p:sp>
        <p:nvSpPr>
          <p:cNvPr id="40" name="">
            <a:extLst>
              <a:ext uri="{FF2B5EF4-FFF2-40B4-BE49-F238E27FC236}">
                <ns2:creationId id="{019BC07B-1CBE-41D1-BD72-27B695A765D9}"/>
              </a:ext>
            </a:extLst>
          </p:cNvPr>
          <p:cNvSpPr txBox="1">
            <a:spLocks noGrp="1"/>
          </p:cNvSpPr>
          <p:nvPr/>
        </p:nvSpPr>
        <p:spPr>
          <a:xfrm>
            <a:off x="13944600" y="71056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Chrome + Zoom</a:t>
            </a:r>
          </a:p>
        </p:txBody>
      </p:sp>
      <p:sp>
        <p:nvSpPr>
          <p:cNvPr id="41" name="">
            <a:extLst>
              <a:ext uri="{FF2B5EF4-FFF2-40B4-BE49-F238E27FC236}">
                <ns2:creationId id="{9E555261-B801-4FBF-8DF7-ED681C5FFA68}"/>
              </a:ext>
            </a:extLst>
          </p:cNvPr>
          <p:cNvSpPr>
            <a:spLocks noGrp="1"/>
          </p:cNvSpPr>
          <p:nvPr/>
        </p:nvSpPr>
        <p:spPr>
          <a:xfrm>
            <a:off x="9525000" y="77343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42" name=""/>
          <p:cNvPicPr>
            <a:picLocks noChangeAspect="1"/>
          </p:cNvPicPr>
          <p:nvPr/>
        </p:nvPicPr>
        <p:blipFill>
          <a:blip ns3:embed="Rab58f52de50143ca"/>
          <a:stretch/>
        </p:blipFill>
        <p:spPr>
          <a:xfrm>
            <a:off x="9677400" y="7877175"/>
            <a:ext cx="400050" cy="400050"/>
          </a:xfrm>
          <a:prstGeom prst="rect">
            <a:avLst/>
          </a:prstGeom>
        </p:spPr>
      </p:pic>
      <p:sp>
        <p:nvSpPr>
          <p:cNvPr id="43" name="">
            <a:extLst>
              <a:ext uri="{FF2B5EF4-FFF2-40B4-BE49-F238E27FC236}">
                <ns2:creationId id="{2AF6A91C-B5C1-49C3-A7B1-4A0C408CCBDA}"/>
              </a:ext>
            </a:extLst>
          </p:cNvPr>
          <p:cNvSpPr txBox="1">
            <a:spLocks noGrp="1"/>
          </p:cNvSpPr>
          <p:nvPr/>
        </p:nvSpPr>
        <p:spPr>
          <a:xfrm>
            <a:off x="10229850" y="79248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Supabase</a:t>
            </a:r>
          </a:p>
        </p:txBody>
      </p:sp>
      <p:sp>
        <p:nvSpPr>
          <p:cNvPr id="44" name="">
            <a:extLst>
              <a:ext uri="{FF2B5EF4-FFF2-40B4-BE49-F238E27FC236}">
                <ns2:creationId id="{CC727297-4470-40D7-9D8D-49E0AB6E230F}"/>
              </a:ext>
            </a:extLst>
          </p:cNvPr>
          <p:cNvSpPr>
            <a:spLocks noGrp="1"/>
          </p:cNvSpPr>
          <p:nvPr/>
        </p:nvSpPr>
        <p:spPr>
          <a:xfrm>
            <a:off x="13239750" y="7734300"/>
            <a:ext cx="3333750" cy="68580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pic>
        <p:nvPicPr>
          <p:cNvPr id="45" name=""/>
          <p:cNvPicPr>
            <a:picLocks noChangeAspect="1"/>
          </p:cNvPicPr>
          <p:nvPr/>
        </p:nvPicPr>
        <p:blipFill>
          <a:blip ns3:embed="Rfcc33878804c4eb7"/>
          <a:stretch/>
        </p:blipFill>
        <p:spPr>
          <a:xfrm>
            <a:off x="13392150" y="7877175"/>
            <a:ext cx="400050" cy="400050"/>
          </a:xfrm>
          <a:prstGeom prst="rect">
            <a:avLst/>
          </a:prstGeom>
        </p:spPr>
      </p:pic>
      <p:sp>
        <p:nvSpPr>
          <p:cNvPr id="46" name="">
            <a:extLst>
              <a:ext uri="{FF2B5EF4-FFF2-40B4-BE49-F238E27FC236}">
                <ns2:creationId id="{F83E897F-9DA9-4C7B-B1BD-C03BC35DAAC7}"/>
              </a:ext>
            </a:extLst>
          </p:cNvPr>
          <p:cNvSpPr txBox="1">
            <a:spLocks noGrp="1"/>
          </p:cNvSpPr>
          <p:nvPr/>
        </p:nvSpPr>
        <p:spPr>
          <a:xfrm>
            <a:off x="13944600" y="79248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Notion + Granola</a:t>
            </a:r>
          </a:p>
        </p:txBody>
      </p:sp>
      <p:sp>
        <p:nvSpPr>
          <p:cNvPr id="47" name="">
            <a:extLst>
              <a:ext uri="{FF2B5EF4-FFF2-40B4-BE49-F238E27FC236}">
                <ns2:creationId id="{4AE9F8CA-050F-49E3-BC79-B7E528ACD1BA}"/>
              </a:ext>
            </a:extLst>
          </p:cNvPr>
          <p:cNvSpPr txBox="1">
            <a:spLocks noGrp="1"/>
          </p:cNvSpPr>
          <p:nvPr/>
        </p:nvSpPr>
        <p:spPr>
          <a:xfrm>
            <a:off x="762000" y="9286875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1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runner.now/download/s3sx69</a:t>
            </a:r>
          </a:p>
        </p:txBody>
      </p:sp>
    </p:spTree>
    <p:extLst>
      <p:ext uri="{BB962C8B-B14F-4D97-AF65-F5344CB8AC3E}">
        <ns4:creationId val="1428658798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252ECC9-76DC-4AF5-9703-5916C414B4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500738A4-E271-4A9D-A388-0567E8EAD554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0D198A5A-311F-49AA-A116-27FC8BEF50BF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AF8DB92D-56FE-4DA6-834F-F8A944216930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7 / 21</a:t>
            </a:r>
          </a:p>
        </p:txBody>
      </p:sp>
      <p:sp>
        <p:nvSpPr>
          <p:cNvPr id="5" name="">
            <a:extLst>
              <a:ext uri="{FF2B5EF4-FFF2-40B4-BE49-F238E27FC236}">
                <ns2:creationId id="{83967574-730E-442D-85E4-E3487EAE9AE5}"/>
              </a:ext>
            </a:extLst>
          </p:cNvPr>
          <p:cNvSpPr txBox="1">
            <a:spLocks noGrp="1"/>
          </p:cNvSpPr>
          <p:nvPr/>
        </p:nvSpPr>
        <p:spPr>
          <a:xfrm>
            <a:off x="762000" y="3190875"/>
            <a:ext cx="1524000" cy="1809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126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</a:t>
            </a:r>
          </a:p>
        </p:txBody>
      </p:sp>
      <p:sp>
        <p:nvSpPr>
          <p:cNvPr id="6" name="">
            <a:extLst>
              <a:ext uri="{FF2B5EF4-FFF2-40B4-BE49-F238E27FC236}">
                <ns2:creationId id="{7AB3804B-6E15-4AF2-9325-D4971BA2C8EE}"/>
              </a:ext>
            </a:extLst>
          </p:cNvPr>
          <p:cNvSpPr txBox="1">
            <a:spLocks noGrp="1"/>
          </p:cNvSpPr>
          <p:nvPr/>
        </p:nvSpPr>
        <p:spPr>
          <a:xfrm>
            <a:off x="2476500" y="3543300"/>
            <a:ext cx="14287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81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Obsidian</a:t>
            </a:r>
          </a:p>
        </p:txBody>
      </p:sp>
    </p:spTree>
    <p:extLst>
      <p:ext uri="{BB962C8B-B14F-4D97-AF65-F5344CB8AC3E}">
        <ns3:creationId val="158083148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B54FAAC-CB82-4C9D-9A92-C7BBEECA2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D6037DE6-296C-46F8-AA31-02D45BDC7CD0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0DA23ADB-91FB-4D5B-A372-65742CF92E3F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825BFF78-A165-4F56-BA28-8B58B7FB1932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8 / 21</a:t>
            </a:r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ns3:embed="Rb60483040fd04d56"/>
          <a:stretch/>
        </p:blipFill>
        <p:spPr>
          <a:xfrm>
            <a:off x="762000" y="1638300"/>
            <a:ext cx="1295400" cy="12954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2C2C9385-4073-4B3C-A22B-638FD958BBB8}"/>
              </a:ext>
            </a:extLst>
          </p:cNvPr>
          <p:cNvSpPr txBox="1">
            <a:spLocks noGrp="1"/>
          </p:cNvSpPr>
          <p:nvPr/>
        </p:nvSpPr>
        <p:spPr>
          <a:xfrm>
            <a:off x="2381250" y="1638300"/>
            <a:ext cx="133350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Obsidian</a:t>
            </a:r>
          </a:p>
        </p:txBody>
      </p:sp>
      <p:sp>
        <p:nvSpPr>
          <p:cNvPr id="7" name="">
            <a:extLst>
              <a:ext uri="{FF2B5EF4-FFF2-40B4-BE49-F238E27FC236}">
                <ns2:creationId id="{92353CF5-A292-4275-8AAF-64951CDECAB0}"/>
              </a:ext>
            </a:extLst>
          </p:cNvPr>
          <p:cNvSpPr txBox="1">
            <a:spLocks noGrp="1"/>
          </p:cNvSpPr>
          <p:nvPr/>
        </p:nvSpPr>
        <p:spPr>
          <a:xfrm>
            <a:off x="2400300" y="2809875"/>
            <a:ext cx="14668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second brain · LLM-wiki: plain markdown so every agent can read &amp; write the same files</a:t>
            </a:r>
          </a:p>
        </p:txBody>
      </p:sp>
      <p:sp>
        <p:nvSpPr>
          <p:cNvPr id="8" name="">
            <a:extLst>
              <a:ext uri="{FF2B5EF4-FFF2-40B4-BE49-F238E27FC236}">
                <ns2:creationId id="{88444ED8-CB98-4566-84B4-F8393618EB5B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9" name="">
            <a:extLst>
              <a:ext uri="{FF2B5EF4-FFF2-40B4-BE49-F238E27FC236}">
                <ns2:creationId id="{7D079803-D182-4629-9779-9E73E3BEB063}"/>
              </a:ext>
            </a:extLst>
          </p:cNvPr>
          <p:cNvSpPr txBox="1">
            <a:spLocks noGrp="1"/>
          </p:cNvSpPr>
          <p:nvPr/>
        </p:nvSpPr>
        <p:spPr>
          <a:xfrm>
            <a:off x="1066800" y="4095750"/>
            <a:ext cx="7124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Plain markdown: every agent can read + write the same files.</a:t>
            </a:r>
          </a:p>
        </p:txBody>
      </p:sp>
      <p:sp>
        <p:nvSpPr>
          <p:cNvPr id="10" name="">
            <a:extLst>
              <a:ext uri="{FF2B5EF4-FFF2-40B4-BE49-F238E27FC236}">
                <ns2:creationId id="{D75AEE90-CC50-4799-B573-A23EE29A6753}"/>
              </a:ext>
            </a:extLst>
          </p:cNvPr>
          <p:cNvSpPr>
            <a:spLocks noGrp="1"/>
          </p:cNvSpPr>
          <p:nvPr/>
        </p:nvSpPr>
        <p:spPr>
          <a:xfrm>
            <a:off x="762000" y="5019675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1" name="">
            <a:extLst>
              <a:ext uri="{FF2B5EF4-FFF2-40B4-BE49-F238E27FC236}">
                <ns2:creationId id="{64D37343-59C7-4ED7-88A6-60109C89E9C8}"/>
              </a:ext>
            </a:extLst>
          </p:cNvPr>
          <p:cNvSpPr txBox="1">
            <a:spLocks noGrp="1"/>
          </p:cNvSpPr>
          <p:nvPr/>
        </p:nvSpPr>
        <p:spPr>
          <a:xfrm>
            <a:off x="1066800" y="4905375"/>
            <a:ext cx="7124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Git-backed: agents never lose work.</a:t>
            </a:r>
          </a:p>
        </p:txBody>
      </p:sp>
      <p:sp>
        <p:nvSpPr>
          <p:cNvPr id="12" name="">
            <a:extLst>
              <a:ext uri="{FF2B5EF4-FFF2-40B4-BE49-F238E27FC236}">
                <ns2:creationId id="{E07C24ED-989C-463B-AAE5-34963B4CAB9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3" name="">
            <a:extLst>
              <a:ext uri="{FF2B5EF4-FFF2-40B4-BE49-F238E27FC236}">
                <ns2:creationId id="{A46BABF5-EFDA-4606-B90F-DBED97E0D16C}"/>
              </a:ext>
            </a:extLst>
          </p:cNvPr>
          <p:cNvSpPr txBox="1">
            <a:spLocks noGrp="1"/>
          </p:cNvSpPr>
          <p:nvPr/>
        </p:nvSpPr>
        <p:spPr>
          <a:xfrm>
            <a:off x="1066800" y="5715000"/>
            <a:ext cx="7124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Wikilinks make context navigable across topics.</a:t>
            </a:r>
          </a:p>
        </p:txBody>
      </p:sp>
      <p:sp>
        <p:nvSpPr>
          <p:cNvPr id="14" name="">
            <a:extLst>
              <a:ext uri="{FF2B5EF4-FFF2-40B4-BE49-F238E27FC236}">
                <ns2:creationId id="{4956E16D-AB81-4B39-B1F3-3C591AD152A1}"/>
              </a:ext>
            </a:extLst>
          </p:cNvPr>
          <p:cNvSpPr>
            <a:spLocks noGrp="1"/>
          </p:cNvSpPr>
          <p:nvPr/>
        </p:nvSpPr>
        <p:spPr>
          <a:xfrm>
            <a:off x="762000" y="6638925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5" name="">
            <a:extLst>
              <a:ext uri="{FF2B5EF4-FFF2-40B4-BE49-F238E27FC236}">
                <ns2:creationId id="{C66A0841-7EE3-4C16-B310-B8E9FEA3A960}"/>
              </a:ext>
            </a:extLst>
          </p:cNvPr>
          <p:cNvSpPr txBox="1">
            <a:spLocks noGrp="1"/>
          </p:cNvSpPr>
          <p:nvPr/>
        </p:nvSpPr>
        <p:spPr>
          <a:xfrm>
            <a:off x="1066800" y="6524625"/>
            <a:ext cx="7124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Karpathy's LLM-wiki pattern (see CLAUDE.md schema).</a:t>
            </a:r>
          </a:p>
        </p:txBody>
      </p:sp>
      <p:sp>
        <p:nvSpPr>
          <p:cNvPr id="16" name="">
            <a:extLst>
              <a:ext uri="{FF2B5EF4-FFF2-40B4-BE49-F238E27FC236}">
                <ns2:creationId id="{F6803057-DD71-4064-A444-0937DB1482A1}"/>
              </a:ext>
            </a:extLst>
          </p:cNvPr>
          <p:cNvSpPr>
            <a:spLocks noGrp="1"/>
          </p:cNvSpPr>
          <p:nvPr/>
        </p:nvSpPr>
        <p:spPr>
          <a:xfrm>
            <a:off x="9334500" y="3762375"/>
            <a:ext cx="7810500" cy="428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FC75176-42BA-4255-A8E2-03F65FA21C1F}"/>
              </a:ext>
            </a:extLst>
          </p:cNvPr>
          <p:cNvSpPr txBox="1">
            <a:spLocks noGrp="1"/>
          </p:cNvSpPr>
          <p:nvPr/>
        </p:nvSpPr>
        <p:spPr>
          <a:xfrm>
            <a:off x="9639300" y="4048125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Top-level structure</a:t>
            </a:r>
          </a:p>
        </p:txBody>
      </p:sp>
      <p:sp>
        <p:nvSpPr>
          <p:cNvPr id="18" name="">
            <a:extLst>
              <a:ext uri="{FF2B5EF4-FFF2-40B4-BE49-F238E27FC236}">
                <ns2:creationId id="{EABD50C7-DF82-46CF-8286-689799CDD3B5}"/>
              </a:ext>
            </a:extLst>
          </p:cNvPr>
          <p:cNvSpPr>
            <a:spLocks noGrp="1"/>
          </p:cNvSpPr>
          <p:nvPr/>
        </p:nvSpPr>
        <p:spPr>
          <a:xfrm>
            <a:off x="9639300" y="4619625"/>
            <a:ext cx="3333750" cy="1381125"/>
          </a:xfrm>
          <a:prstGeom prst="rect">
            <a:avLst/>
          </a:prstGeom>
          <a:solidFill>
            <a:srgbClr val="F5F2EC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D765F3DC-4D93-4EE6-92C4-B0652B5430DE}"/>
              </a:ext>
            </a:extLst>
          </p:cNvPr>
          <p:cNvSpPr>
            <a:spLocks noGrp="1"/>
          </p:cNvSpPr>
          <p:nvPr/>
        </p:nvSpPr>
        <p:spPr>
          <a:xfrm>
            <a:off x="9639300" y="4619625"/>
            <a:ext cx="76200" cy="13811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0" name="">
            <a:extLst>
              <a:ext uri="{FF2B5EF4-FFF2-40B4-BE49-F238E27FC236}">
                <ns2:creationId id="{B4ECBA3F-C9BA-4979-9B0C-1E80B8A6B805}"/>
              </a:ext>
            </a:extLst>
          </p:cNvPr>
          <p:cNvSpPr txBox="1">
            <a:spLocks noGrp="1"/>
          </p:cNvSpPr>
          <p:nvPr/>
        </p:nvSpPr>
        <p:spPr>
          <a:xfrm>
            <a:off x="9829800" y="4772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Capture</a:t>
            </a:r>
          </a:p>
        </p:txBody>
      </p:sp>
      <p:sp>
        <p:nvSpPr>
          <p:cNvPr id="21" name="">
            <a:extLst>
              <a:ext uri="{FF2B5EF4-FFF2-40B4-BE49-F238E27FC236}">
                <ns2:creationId id="{DAAF36A0-D050-4CE0-B993-E39958DB6AD9}"/>
              </a:ext>
            </a:extLst>
          </p:cNvPr>
          <p:cNvSpPr txBox="1">
            <a:spLocks noGrp="1"/>
          </p:cNvSpPr>
          <p:nvPr/>
        </p:nvSpPr>
        <p:spPr>
          <a:xfrm>
            <a:off x="9829800" y="51435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raw/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Clippings/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Meeting Transcripts/</a:t>
            </a:r>
          </a:p>
        </p:txBody>
      </p:sp>
      <p:sp>
        <p:nvSpPr>
          <p:cNvPr id="22" name="">
            <a:extLst>
              <a:ext uri="{FF2B5EF4-FFF2-40B4-BE49-F238E27FC236}">
                <ns2:creationId id="{ECA3E307-85AA-4643-87FA-37193CEE4F7D}"/>
              </a:ext>
            </a:extLst>
          </p:cNvPr>
          <p:cNvSpPr txBox="1">
            <a:spLocks noGrp="1"/>
          </p:cNvSpPr>
          <p:nvPr/>
        </p:nvSpPr>
        <p:spPr>
          <a:xfrm>
            <a:off x="11306175" y="5143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daily notes, journals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saved references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calls and notes</a:t>
            </a:r>
          </a:p>
        </p:txBody>
      </p:sp>
      <p:sp>
        <p:nvSpPr>
          <p:cNvPr id="23" name="">
            <a:extLst>
              <a:ext uri="{FF2B5EF4-FFF2-40B4-BE49-F238E27FC236}">
                <ns2:creationId id="{E1840A8A-0418-4301-B37F-C7ED8EE79E1A}"/>
              </a:ext>
            </a:extLst>
          </p:cNvPr>
          <p:cNvSpPr>
            <a:spLocks noGrp="1"/>
          </p:cNvSpPr>
          <p:nvPr/>
        </p:nvSpPr>
        <p:spPr>
          <a:xfrm>
            <a:off x="13354050" y="4619625"/>
            <a:ext cx="3333750" cy="1381125"/>
          </a:xfrm>
          <a:prstGeom prst="rect">
            <a:avLst/>
          </a:prstGeom>
          <a:solidFill>
            <a:srgbClr val="F5F2EC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60DD6AD7-C293-4728-8C9D-0A92E3442518}"/>
              </a:ext>
            </a:extLst>
          </p:cNvPr>
          <p:cNvSpPr>
            <a:spLocks noGrp="1"/>
          </p:cNvSpPr>
          <p:nvPr/>
        </p:nvSpPr>
        <p:spPr>
          <a:xfrm>
            <a:off x="13354050" y="4619625"/>
            <a:ext cx="76200" cy="13811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5" name="">
            <a:extLst>
              <a:ext uri="{FF2B5EF4-FFF2-40B4-BE49-F238E27FC236}">
                <ns2:creationId id="{EE7C1F1C-92B0-4E3F-AAC8-4E708B82CE2C}"/>
              </a:ext>
            </a:extLst>
          </p:cNvPr>
          <p:cNvSpPr txBox="1">
            <a:spLocks noGrp="1"/>
          </p:cNvSpPr>
          <p:nvPr/>
        </p:nvSpPr>
        <p:spPr>
          <a:xfrm>
            <a:off x="13544550" y="4772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Wiki layer</a:t>
            </a:r>
          </a:p>
        </p:txBody>
      </p:sp>
      <p:sp>
        <p:nvSpPr>
          <p:cNvPr id="26" name="">
            <a:extLst>
              <a:ext uri="{FF2B5EF4-FFF2-40B4-BE49-F238E27FC236}">
                <ns2:creationId id="{623EE5CA-60B1-4875-B623-D966D7B5A6DF}"/>
              </a:ext>
            </a:extLst>
          </p:cNvPr>
          <p:cNvSpPr txBox="1">
            <a:spLocks noGrp="1"/>
          </p:cNvSpPr>
          <p:nvPr/>
        </p:nvSpPr>
        <p:spPr>
          <a:xfrm>
            <a:off x="13544550" y="51435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wiki/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Knowledge/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People/</a:t>
            </a:r>
          </a:p>
        </p:txBody>
      </p:sp>
      <p:sp>
        <p:nvSpPr>
          <p:cNvPr id="27" name="">
            <a:extLst>
              <a:ext uri="{FF2B5EF4-FFF2-40B4-BE49-F238E27FC236}">
                <ns2:creationId id="{1D20CBEA-5A5B-40C4-8CA5-84E1C43EDF6E}"/>
              </a:ext>
            </a:extLst>
          </p:cNvPr>
          <p:cNvSpPr txBox="1">
            <a:spLocks noGrp="1"/>
          </p:cNvSpPr>
          <p:nvPr/>
        </p:nvSpPr>
        <p:spPr>
          <a:xfrm>
            <a:off x="15020925" y="51435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canonical entities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evergreen notes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relationship graph</a:t>
            </a:r>
          </a:p>
        </p:txBody>
      </p:sp>
      <p:sp>
        <p:nvSpPr>
          <p:cNvPr id="28" name="">
            <a:extLst>
              <a:ext uri="{FF2B5EF4-FFF2-40B4-BE49-F238E27FC236}">
                <ns2:creationId id="{4D9E3950-9511-49E2-AE53-CDEDDD59A53A}"/>
              </a:ext>
            </a:extLst>
          </p:cNvPr>
          <p:cNvSpPr>
            <a:spLocks noGrp="1"/>
          </p:cNvSpPr>
          <p:nvPr/>
        </p:nvSpPr>
        <p:spPr>
          <a:xfrm>
            <a:off x="9639300" y="6238875"/>
            <a:ext cx="3333750" cy="1381125"/>
          </a:xfrm>
          <a:prstGeom prst="rect">
            <a:avLst/>
          </a:prstGeom>
          <a:solidFill>
            <a:srgbClr val="F5F2EC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DCADD449-5AF7-4E4D-BF30-CDD2C6994FCB}"/>
              </a:ext>
            </a:extLst>
          </p:cNvPr>
          <p:cNvSpPr>
            <a:spLocks noGrp="1"/>
          </p:cNvSpPr>
          <p:nvPr/>
        </p:nvSpPr>
        <p:spPr>
          <a:xfrm>
            <a:off x="9639300" y="6238875"/>
            <a:ext cx="76200" cy="1381125"/>
          </a:xfrm>
          <a:prstGeom prst="rect">
            <a:avLst/>
          </a:prstGeom>
          <a:solidFill>
            <a:srgbClr val="1F2A4E"/>
          </a:solidFill>
        </p:spPr>
      </p:sp>
      <p:sp>
        <p:nvSpPr>
          <p:cNvPr id="30" name="">
            <a:extLst>
              <a:ext uri="{FF2B5EF4-FFF2-40B4-BE49-F238E27FC236}">
                <ns2:creationId id="{5A5AE12E-B692-42A7-A893-FDB76BB8E05B}"/>
              </a:ext>
            </a:extLst>
          </p:cNvPr>
          <p:cNvSpPr txBox="1">
            <a:spLocks noGrp="1"/>
          </p:cNvSpPr>
          <p:nvPr/>
        </p:nvSpPr>
        <p:spPr>
          <a:xfrm>
            <a:off x="9829800" y="63912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Work graph</a:t>
            </a:r>
          </a:p>
        </p:txBody>
      </p:sp>
      <p:sp>
        <p:nvSpPr>
          <p:cNvPr id="31" name="">
            <a:extLst>
              <a:ext uri="{FF2B5EF4-FFF2-40B4-BE49-F238E27FC236}">
                <ns2:creationId id="{C7E055EE-7FD2-4FC7-BF05-6D2C1FEBBAFC}"/>
              </a:ext>
            </a:extLst>
          </p:cNvPr>
          <p:cNvSpPr txBox="1">
            <a:spLocks noGrp="1"/>
          </p:cNvSpPr>
          <p:nvPr/>
        </p:nvSpPr>
        <p:spPr>
          <a:xfrm>
            <a:off x="9829800" y="676275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Projects/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Content/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Company/</a:t>
            </a:r>
          </a:p>
        </p:txBody>
      </p:sp>
      <p:sp>
        <p:nvSpPr>
          <p:cNvPr id="32" name="">
            <a:extLst>
              <a:ext uri="{FF2B5EF4-FFF2-40B4-BE49-F238E27FC236}">
                <ns2:creationId id="{4E792430-9A7D-4147-A329-9F49F57101A3}"/>
              </a:ext>
            </a:extLst>
          </p:cNvPr>
          <p:cNvSpPr txBox="1">
            <a:spLocks noGrp="1"/>
          </p:cNvSpPr>
          <p:nvPr/>
        </p:nvSpPr>
        <p:spPr>
          <a:xfrm>
            <a:off x="11306175" y="676275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active work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published surface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team context</a:t>
            </a:r>
          </a:p>
        </p:txBody>
      </p:sp>
      <p:sp>
        <p:nvSpPr>
          <p:cNvPr id="33" name="">
            <a:extLst>
              <a:ext uri="{FF2B5EF4-FFF2-40B4-BE49-F238E27FC236}">
                <ns2:creationId id="{8CB75BCA-76D9-4C2F-9AE0-FB04F6D1519D}"/>
              </a:ext>
            </a:extLst>
          </p:cNvPr>
          <p:cNvSpPr>
            <a:spLocks noGrp="1"/>
          </p:cNvSpPr>
          <p:nvPr/>
        </p:nvSpPr>
        <p:spPr>
          <a:xfrm>
            <a:off x="13354050" y="6238875"/>
            <a:ext cx="3333750" cy="1381125"/>
          </a:xfrm>
          <a:prstGeom prst="rect">
            <a:avLst/>
          </a:prstGeom>
          <a:solidFill>
            <a:srgbClr val="F5F2EC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BE83DF14-AEE0-4A3F-AA96-B3B3F6E0E670}"/>
              </a:ext>
            </a:extLst>
          </p:cNvPr>
          <p:cNvSpPr>
            <a:spLocks noGrp="1"/>
          </p:cNvSpPr>
          <p:nvPr/>
        </p:nvSpPr>
        <p:spPr>
          <a:xfrm>
            <a:off x="13354050" y="6238875"/>
            <a:ext cx="76200" cy="1381125"/>
          </a:xfrm>
          <a:prstGeom prst="rect">
            <a:avLst/>
          </a:prstGeom>
          <a:solidFill>
            <a:srgbClr val="6E6E6E"/>
          </a:solidFill>
        </p:spPr>
      </p:sp>
      <p:sp>
        <p:nvSpPr>
          <p:cNvPr id="35" name="">
            <a:extLst>
              <a:ext uri="{FF2B5EF4-FFF2-40B4-BE49-F238E27FC236}">
                <ns2:creationId id="{E68278A9-9ACE-4C82-850D-7B7A3072739D}"/>
              </a:ext>
            </a:extLst>
          </p:cNvPr>
          <p:cNvSpPr txBox="1">
            <a:spLocks noGrp="1"/>
          </p:cNvSpPr>
          <p:nvPr/>
        </p:nvSpPr>
        <p:spPr>
          <a:xfrm>
            <a:off x="13544550" y="63912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3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Personal ops</a:t>
            </a:r>
          </a:p>
        </p:txBody>
      </p:sp>
      <p:sp>
        <p:nvSpPr>
          <p:cNvPr id="36" name="">
            <a:extLst>
              <a:ext uri="{FF2B5EF4-FFF2-40B4-BE49-F238E27FC236}">
                <ns2:creationId id="{164BC5E4-11CB-424C-AEAC-9CD0876E29DF}"/>
              </a:ext>
            </a:extLst>
          </p:cNvPr>
          <p:cNvSpPr txBox="1">
            <a:spLocks noGrp="1"/>
          </p:cNvSpPr>
          <p:nvPr/>
        </p:nvSpPr>
        <p:spPr>
          <a:xfrm>
            <a:off x="13544550" y="676275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Finance/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Investing/</a:t>
            </a:r>
          </a:p>
          <a:p>
            <a:pPr algn="l">
              <a:def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</a:rPr>
              <a:t>Health/</a:t>
            </a:r>
          </a:p>
        </p:txBody>
      </p:sp>
      <p:sp>
        <p:nvSpPr>
          <p:cNvPr id="37" name="">
            <a:extLst>
              <a:ext uri="{FF2B5EF4-FFF2-40B4-BE49-F238E27FC236}">
                <ns2:creationId id="{3FB8578D-E8AF-416E-97F4-5CC1BA9FF246}"/>
              </a:ext>
            </a:extLst>
          </p:cNvPr>
          <p:cNvSpPr txBox="1">
            <a:spLocks noGrp="1"/>
          </p:cNvSpPr>
          <p:nvPr/>
        </p:nvSpPr>
        <p:spPr>
          <a:xfrm>
            <a:off x="15020925" y="676275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cashflow, docs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portfolio memory</a:t>
            </a:r>
          </a:p>
          <a:p>
            <a:pPr algn="l">
              <a:defRPr sz="120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longitudinal data</a:t>
            </a:r>
          </a:p>
        </p:txBody>
      </p:sp>
    </p:spTree>
    <p:extLst>
      <p:ext uri="{BB962C8B-B14F-4D97-AF65-F5344CB8AC3E}">
        <ns4:creationId val="177741280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C9E309A-DAA3-43C5-9948-F15AE2DB5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E1BFC422-D9B0-4959-8A5C-A80D5946FAB7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83B3FFA4-103B-41EC-A937-F3E956DEF927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57B71184-89A7-4341-A3FD-E15DDA3DBAF6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9 / 21</a:t>
            </a:r>
          </a:p>
        </p:txBody>
      </p:sp>
      <p:sp>
        <p:nvSpPr>
          <p:cNvPr id="5" name="">
            <a:extLst>
              <a:ext uri="{FF2B5EF4-FFF2-40B4-BE49-F238E27FC236}">
                <ns2:creationId id="{C9511E5A-8738-46F3-A207-94E35711C4A2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Public surface + personal dashboard</a:t>
            </a:r>
          </a:p>
        </p:txBody>
      </p:sp>
      <p:sp>
        <p:nvSpPr>
          <p:cNvPr id="6" name="">
            <a:extLst>
              <a:ext uri="{FF2B5EF4-FFF2-40B4-BE49-F238E27FC236}">
                <ns2:creationId id="{D403D807-887E-461C-AA9C-D41247AE4F98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A public side and a local control center; both consumed and written by agent skills.</a:t>
            </a:r>
          </a:p>
        </p:txBody>
      </p:sp>
      <p:sp>
        <p:nvSpPr>
          <p:cNvPr id="7" name="">
            <a:extLst>
              <a:ext uri="{FF2B5EF4-FFF2-40B4-BE49-F238E27FC236}">
                <ns2:creationId id="{E03308D1-024F-4A6F-93D7-E90DC729E5A4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7905750" cy="4191000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pic>
        <p:nvPicPr>
          <p:cNvPr id="8" name=""/>
          <p:cNvPicPr>
            <a:picLocks noChangeAspect="1"/>
          </p:cNvPicPr>
          <p:nvPr/>
        </p:nvPicPr>
        <p:blipFill>
          <a:blip ns3:embed="Reaa16544da4a4258"/>
          <a:stretch/>
        </p:blipFill>
        <p:spPr>
          <a:xfrm>
            <a:off x="1028700" y="4286250"/>
            <a:ext cx="609600" cy="60960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9BD2F039-2D53-4116-8EF1-6B94DCA1764D}"/>
              </a:ext>
            </a:extLst>
          </p:cNvPr>
          <p:cNvSpPr txBox="1">
            <a:spLocks noGrp="1"/>
          </p:cNvSpPr>
          <p:nvPr/>
        </p:nvSpPr>
        <p:spPr>
          <a:xfrm>
            <a:off x="1828800" y="4333875"/>
            <a:ext cx="6191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Public surface</a:t>
            </a:r>
          </a:p>
        </p:txBody>
      </p:sp>
      <p:sp>
        <p:nvSpPr>
          <p:cNvPr id="10" name="">
            <a:extLst>
              <a:ext uri="{FF2B5EF4-FFF2-40B4-BE49-F238E27FC236}">
                <ns2:creationId id="{8D37FA8A-B315-4928-B4E7-F421D9BAF2C5}"/>
              </a:ext>
            </a:extLst>
          </p:cNvPr>
          <p:cNvSpPr>
            <a:spLocks noGrp="1"/>
          </p:cNvSpPr>
          <p:nvPr/>
        </p:nvSpPr>
        <p:spPr>
          <a:xfrm>
            <a:off x="1047750" y="535305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1" name="">
            <a:extLst>
              <a:ext uri="{FF2B5EF4-FFF2-40B4-BE49-F238E27FC236}">
                <ns2:creationId id="{E00066D8-0635-437A-90B3-675F21C242EA}"/>
              </a:ext>
            </a:extLst>
          </p:cNvPr>
          <p:cNvSpPr txBox="1">
            <a:spLocks noGrp="1"/>
          </p:cNvSpPr>
          <p:nvPr/>
        </p:nvSpPr>
        <p:spPr>
          <a:xfrm>
            <a:off x="1352550" y="523875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Personal site, writing, projects and lightweight APIs</a:t>
            </a:r>
          </a:p>
        </p:txBody>
      </p:sp>
      <p:sp>
        <p:nvSpPr>
          <p:cNvPr id="12" name="">
            <a:extLst>
              <a:ext uri="{FF2B5EF4-FFF2-40B4-BE49-F238E27FC236}">
                <ns2:creationId id="{547F314B-70F5-42DE-AD1F-C5A218D43829}"/>
              </a:ext>
            </a:extLst>
          </p:cNvPr>
          <p:cNvSpPr>
            <a:spLocks noGrp="1"/>
          </p:cNvSpPr>
          <p:nvPr/>
        </p:nvSpPr>
        <p:spPr>
          <a:xfrm>
            <a:off x="1047750" y="590550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3" name="">
            <a:extLst>
              <a:ext uri="{FF2B5EF4-FFF2-40B4-BE49-F238E27FC236}">
                <ns2:creationId id="{F73ADF0C-5298-41BC-84E3-05AAAC08C094}"/>
              </a:ext>
            </a:extLst>
          </p:cNvPr>
          <p:cNvSpPr txBox="1">
            <a:spLocks noGrp="1"/>
          </p:cNvSpPr>
          <p:nvPr/>
        </p:nvSpPr>
        <p:spPr>
          <a:xfrm>
            <a:off x="1352550" y="579120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Structured database tables for repeatable agent writes</a:t>
            </a:r>
          </a:p>
        </p:txBody>
      </p:sp>
      <p:sp>
        <p:nvSpPr>
          <p:cNvPr id="14" name="">
            <a:extLst>
              <a:ext uri="{FF2B5EF4-FFF2-40B4-BE49-F238E27FC236}">
                <ns2:creationId id="{2FC7CDCB-D705-46F1-BE1E-C4AD7AA992AB}"/>
              </a:ext>
            </a:extLst>
          </p:cNvPr>
          <p:cNvSpPr>
            <a:spLocks noGrp="1"/>
          </p:cNvSpPr>
          <p:nvPr/>
        </p:nvSpPr>
        <p:spPr>
          <a:xfrm>
            <a:off x="1047750" y="645795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5" name="">
            <a:extLst>
              <a:ext uri="{FF2B5EF4-FFF2-40B4-BE49-F238E27FC236}">
                <ns2:creationId id="{E4F6C715-1D13-417A-BE96-D0A311C2B0CE}"/>
              </a:ext>
            </a:extLst>
          </p:cNvPr>
          <p:cNvSpPr txBox="1">
            <a:spLocks noGrp="1"/>
          </p:cNvSpPr>
          <p:nvPr/>
        </p:nvSpPr>
        <p:spPr>
          <a:xfrm>
            <a:off x="1352550" y="634365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Object storage for assets, documents and generated files</a:t>
            </a:r>
          </a:p>
        </p:txBody>
      </p:sp>
      <p:sp>
        <p:nvSpPr>
          <p:cNvPr id="16" name="">
            <a:extLst>
              <a:ext uri="{FF2B5EF4-FFF2-40B4-BE49-F238E27FC236}">
                <ns2:creationId id="{F30CA495-18D5-4302-BA13-55A26763EE80}"/>
              </a:ext>
            </a:extLst>
          </p:cNvPr>
          <p:cNvSpPr>
            <a:spLocks noGrp="1"/>
          </p:cNvSpPr>
          <p:nvPr/>
        </p:nvSpPr>
        <p:spPr>
          <a:xfrm>
            <a:off x="1047750" y="701040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7" name="">
            <a:extLst>
              <a:ext uri="{FF2B5EF4-FFF2-40B4-BE49-F238E27FC236}">
                <ns2:creationId id="{FF3289B9-CCB6-4054-92FB-5FF394FE8FDC}"/>
              </a:ext>
            </a:extLst>
          </p:cNvPr>
          <p:cNvSpPr txBox="1">
            <a:spLocks noGrp="1"/>
          </p:cNvSpPr>
          <p:nvPr/>
        </p:nvSpPr>
        <p:spPr>
          <a:xfrm>
            <a:off x="1352550" y="689610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Skills: publish update · tag lead · research pipeline</a:t>
            </a:r>
          </a:p>
        </p:txBody>
      </p:sp>
      <p:sp>
        <p:nvSpPr>
          <p:cNvPr id="18" name="">
            <a:extLst>
              <a:ext uri="{FF2B5EF4-FFF2-40B4-BE49-F238E27FC236}">
                <ns2:creationId id="{B4F5B8FD-9314-4CE6-8540-B258549795E0}"/>
              </a:ext>
            </a:extLst>
          </p:cNvPr>
          <p:cNvSpPr txBox="1">
            <a:spLocks noGrp="1"/>
          </p:cNvSpPr>
          <p:nvPr/>
        </p:nvSpPr>
        <p:spPr>
          <a:xfrm>
            <a:off x="1047750" y="7734300"/>
            <a:ext cx="72390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1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React/Vite · Cloudflare · Supabase · R2 · 1Password</a:t>
            </a:r>
          </a:p>
        </p:txBody>
      </p:sp>
      <p:sp>
        <p:nvSpPr>
          <p:cNvPr id="19" name="">
            <a:extLst>
              <a:ext uri="{FF2B5EF4-FFF2-40B4-BE49-F238E27FC236}">
                <ns2:creationId id="{F5BA0390-EDCF-4E29-9980-36B65C4DA43B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7905750" cy="419100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pic>
        <p:nvPicPr>
          <p:cNvPr id="20" name=""/>
          <p:cNvPicPr>
            <a:picLocks noChangeAspect="1"/>
          </p:cNvPicPr>
          <p:nvPr/>
        </p:nvPicPr>
        <p:blipFill>
          <a:blip ns3:embed="R6fcdff8f1fea4a85"/>
          <a:stretch/>
        </p:blipFill>
        <p:spPr>
          <a:xfrm>
            <a:off x="9601200" y="4286250"/>
            <a:ext cx="609600" cy="609600"/>
          </a:xfrm>
          <a:prstGeom prst="rect">
            <a:avLst/>
          </a:prstGeom>
        </p:spPr>
      </p:pic>
      <p:sp>
        <p:nvSpPr>
          <p:cNvPr id="21" name="">
            <a:extLst>
              <a:ext uri="{FF2B5EF4-FFF2-40B4-BE49-F238E27FC236}">
                <ns2:creationId id="{CC2A56B2-59A6-4036-BD6F-9BDDB8AB7C9B}"/>
              </a:ext>
            </a:extLst>
          </p:cNvPr>
          <p:cNvSpPr txBox="1">
            <a:spLocks noGrp="1"/>
          </p:cNvSpPr>
          <p:nvPr/>
        </p:nvSpPr>
        <p:spPr>
          <a:xfrm>
            <a:off x="10401300" y="4333875"/>
            <a:ext cx="6191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30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Personal dashboard</a:t>
            </a:r>
          </a:p>
        </p:txBody>
      </p:sp>
      <p:sp>
        <p:nvSpPr>
          <p:cNvPr id="22" name="">
            <a:extLst>
              <a:ext uri="{FF2B5EF4-FFF2-40B4-BE49-F238E27FC236}">
                <ns2:creationId id="{898C595F-444C-4CAE-956B-8BFC18BD09C9}"/>
              </a:ext>
            </a:extLst>
          </p:cNvPr>
          <p:cNvSpPr>
            <a:spLocks noGrp="1"/>
          </p:cNvSpPr>
          <p:nvPr/>
        </p:nvSpPr>
        <p:spPr>
          <a:xfrm>
            <a:off x="9620250" y="535305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3" name="">
            <a:extLst>
              <a:ext uri="{FF2B5EF4-FFF2-40B4-BE49-F238E27FC236}">
                <ns2:creationId id="{9D0BAFA0-78F7-4935-83C1-0DC1A88BB326}"/>
              </a:ext>
            </a:extLst>
          </p:cNvPr>
          <p:cNvSpPr txBox="1">
            <a:spLocks noGrp="1"/>
          </p:cNvSpPr>
          <p:nvPr/>
        </p:nvSpPr>
        <p:spPr>
          <a:xfrm>
            <a:off x="9925050" y="523875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Local React app over the vault</a:t>
            </a:r>
          </a:p>
        </p:txBody>
      </p:sp>
      <p:sp>
        <p:nvSpPr>
          <p:cNvPr id="24" name="">
            <a:extLst>
              <a:ext uri="{FF2B5EF4-FFF2-40B4-BE49-F238E27FC236}">
                <ns2:creationId id="{10AAC010-52AD-40F1-8E26-66B81222EBC0}"/>
              </a:ext>
            </a:extLst>
          </p:cNvPr>
          <p:cNvSpPr>
            <a:spLocks noGrp="1"/>
          </p:cNvSpPr>
          <p:nvPr/>
        </p:nvSpPr>
        <p:spPr>
          <a:xfrm>
            <a:off x="9620250" y="590550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5" name="">
            <a:extLst>
              <a:ext uri="{FF2B5EF4-FFF2-40B4-BE49-F238E27FC236}">
                <ns2:creationId id="{4E89B345-7CD5-4EBF-A51A-F8E60FFFCE42}"/>
              </a:ext>
            </a:extLst>
          </p:cNvPr>
          <p:cNvSpPr txBox="1">
            <a:spLocks noGrp="1"/>
          </p:cNvSpPr>
          <p:nvPr/>
        </p:nvSpPr>
        <p:spPr>
          <a:xfrm>
            <a:off x="9925050" y="579120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Graph view · finance + health + content charts</a:t>
            </a:r>
          </a:p>
        </p:txBody>
      </p:sp>
      <p:sp>
        <p:nvSpPr>
          <p:cNvPr id="26" name="">
            <a:extLst>
              <a:ext uri="{FF2B5EF4-FFF2-40B4-BE49-F238E27FC236}">
                <ns2:creationId id="{D3323CFC-F3D4-4598-96C0-17232EED6085}"/>
              </a:ext>
            </a:extLst>
          </p:cNvPr>
          <p:cNvSpPr>
            <a:spLocks noGrp="1"/>
          </p:cNvSpPr>
          <p:nvPr/>
        </p:nvSpPr>
        <p:spPr>
          <a:xfrm>
            <a:off x="9620250" y="645795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7" name="">
            <a:extLst>
              <a:ext uri="{FF2B5EF4-FFF2-40B4-BE49-F238E27FC236}">
                <ns2:creationId id="{B96260DE-9CED-41AA-9546-BFCF0A55554C}"/>
              </a:ext>
            </a:extLst>
          </p:cNvPr>
          <p:cNvSpPr txBox="1">
            <a:spLocks noGrp="1"/>
          </p:cNvSpPr>
          <p:nvPr/>
        </p:nvSpPr>
        <p:spPr>
          <a:xfrm>
            <a:off x="9925050" y="634365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Static snapshot regenerated by skill</a:t>
            </a:r>
          </a:p>
        </p:txBody>
      </p:sp>
      <p:sp>
        <p:nvSpPr>
          <p:cNvPr id="28" name="">
            <a:extLst>
              <a:ext uri="{FF2B5EF4-FFF2-40B4-BE49-F238E27FC236}">
                <ns2:creationId id="{64E586FC-D638-4E6D-8F32-2282EF23C3B5}"/>
              </a:ext>
            </a:extLst>
          </p:cNvPr>
          <p:cNvSpPr>
            <a:spLocks noGrp="1"/>
          </p:cNvSpPr>
          <p:nvPr/>
        </p:nvSpPr>
        <p:spPr>
          <a:xfrm>
            <a:off x="9620250" y="7010400"/>
            <a:ext cx="133350" cy="13335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29" name="">
            <a:extLst>
              <a:ext uri="{FF2B5EF4-FFF2-40B4-BE49-F238E27FC236}">
                <ns2:creationId id="{04FC0827-C563-4C15-A508-366C42167FB7}"/>
              </a:ext>
            </a:extLst>
          </p:cNvPr>
          <p:cNvSpPr txBox="1">
            <a:spLocks noGrp="1"/>
          </p:cNvSpPr>
          <p:nvPr/>
        </p:nvSpPr>
        <p:spPr>
          <a:xfrm>
            <a:off x="9925050" y="6896100"/>
            <a:ext cx="68389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Next: real DBs + APIs, live data plane</a:t>
            </a:r>
          </a:p>
        </p:txBody>
      </p:sp>
      <p:sp>
        <p:nvSpPr>
          <p:cNvPr id="30" name="">
            <a:extLst>
              <a:ext uri="{FF2B5EF4-FFF2-40B4-BE49-F238E27FC236}">
                <ns2:creationId id="{FB23BF1D-35B5-4590-8883-1C1CE98E2B4C}"/>
              </a:ext>
            </a:extLst>
          </p:cNvPr>
          <p:cNvSpPr txBox="1">
            <a:spLocks noGrp="1"/>
          </p:cNvSpPr>
          <p:nvPr/>
        </p:nvSpPr>
        <p:spPr>
          <a:xfrm>
            <a:off x="9620250" y="7734300"/>
            <a:ext cx="72390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1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Charts query live data; Runner mutates state via API.</a:t>
            </a:r>
          </a:p>
        </p:txBody>
      </p:sp>
    </p:spTree>
    <p:extLst>
      <p:ext uri="{BB962C8B-B14F-4D97-AF65-F5344CB8AC3E}">
        <ns4:creationId val="1107327211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E8DD238-D93D-4F89-B359-38F9A0E3E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75A39E2B-0662-4EC4-BFB8-87497468323C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4228BDB0-D5DB-4B52-8462-31801736F26E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3FDC806B-08DA-46F2-BAD8-02253913526C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10 / 21</a:t>
            </a:r>
          </a:p>
        </p:txBody>
      </p:sp>
      <p:sp>
        <p:nvSpPr>
          <p:cNvPr id="5" name="">
            <a:extLst>
              <a:ext uri="{FF2B5EF4-FFF2-40B4-BE49-F238E27FC236}">
                <ns2:creationId id="{5F90AE41-A824-410A-AB47-CAE224C6BF6A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16192500" cy="7810500"/>
          </a:xfrm>
          <a:prstGeom prst="rect">
            <a:avLst/>
          </a:prstGeom>
          <a:solidFill>
            <a:srgbClr val="08090B"/>
          </a:solidFill>
          <a:ln w="28575">
            <a:solidFill>
              <a:srgbClr val="4A4D4A"/>
            </a:solidFill>
            <a:prstDash val="solid"/>
          </a:ln>
        </p:spPr>
      </p:sp>
      <p:pic>
        <p:nvPicPr>
          <p:cNvPr id="6" name=""/>
          <p:cNvPicPr>
            <a:picLocks noChangeAspect="1"/>
          </p:cNvPicPr>
          <p:nvPr/>
        </p:nvPicPr>
        <p:blipFill>
          <a:blip ns3:embed="R9e859e9da3e043bb"/>
          <a:stretch/>
        </p:blipFill>
        <p:spPr>
          <a:xfrm>
            <a:off x="4969792" y="1952625"/>
            <a:ext cx="8348417" cy="676275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E0790B63-2D91-4EB1-8164-EB564959490E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E8E2D3"/>
                </a:solidFill>
                <a:latin typeface="Inter"/>
                <a:ea typeface="Inter"/>
                <a:cs typeface="Inter"/>
              </a:rPr>
              <a:t>Same pattern: private data stays local, but the interface is inspectable and agent-readable.</a:t>
            </a:r>
          </a:p>
        </p:txBody>
      </p:sp>
    </p:spTree>
    <p:extLst>
      <p:ext uri="{BB962C8B-B14F-4D97-AF65-F5344CB8AC3E}">
        <ns4:creationId val="2048394658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C451F70-0B91-40C8-8D45-41A5C3F6E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7A3C1B92-B4AB-49D1-ACB8-763729D009FB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22C1DF50-4EE0-439D-A1C4-42118F1DDC5C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D55C8841-F4A4-4ABF-A774-3ECF4269A7EC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11 / 21</a:t>
            </a:r>
          </a:p>
        </p:txBody>
      </p:sp>
      <p:sp>
        <p:nvSpPr>
          <p:cNvPr id="5" name="">
            <a:extLst>
              <a:ext uri="{FF2B5EF4-FFF2-40B4-BE49-F238E27FC236}">
                <ns2:creationId id="{661AC3A2-D387-4879-BE3C-391068F4E2C5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16192500" cy="7810500"/>
          </a:xfrm>
          <a:prstGeom prst="rect">
            <a:avLst/>
          </a:prstGeom>
          <a:solidFill>
            <a:srgbClr val="08090B"/>
          </a:solidFill>
          <a:ln w="28575">
            <a:solidFill>
              <a:srgbClr val="4A4D4A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0EBD8701-E7CF-4783-BACE-DF3213E0228C}"/>
              </a:ext>
            </a:extLst>
          </p:cNvPr>
          <p:cNvSpPr txBox="1">
            <a:spLocks noGrp="1"/>
          </p:cNvSpPr>
          <p:nvPr/>
        </p:nvSpPr>
        <p:spPr>
          <a:xfrm>
            <a:off x="1524000" y="18573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PERSONAL OS</a:t>
            </a:r>
          </a:p>
        </p:txBody>
      </p:sp>
      <p:sp>
        <p:nvSpPr>
          <p:cNvPr id="7" name="">
            <a:extLst>
              <a:ext uri="{FF2B5EF4-FFF2-40B4-BE49-F238E27FC236}">
                <ns2:creationId id="{F1270375-CAF5-4AD3-A7F8-1266EA7F4B09}"/>
              </a:ext>
            </a:extLst>
          </p:cNvPr>
          <p:cNvSpPr txBox="1">
            <a:spLocks noGrp="1"/>
          </p:cNvSpPr>
          <p:nvPr/>
        </p:nvSpPr>
        <p:spPr>
          <a:xfrm>
            <a:off x="1524000" y="230505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Media queue</a:t>
            </a:r>
          </a:p>
        </p:txBody>
      </p:sp>
      <p:sp>
        <p:nvSpPr>
          <p:cNvPr id="8" name="">
            <a:extLst>
              <a:ext uri="{FF2B5EF4-FFF2-40B4-BE49-F238E27FC236}">
                <ns2:creationId id="{80B594A0-245B-4523-A120-DEA80A2419B3}"/>
              </a:ext>
            </a:extLst>
          </p:cNvPr>
          <p:cNvSpPr txBox="1">
            <a:spLocks noGrp="1"/>
          </p:cNvSpPr>
          <p:nvPr/>
        </p:nvSpPr>
        <p:spPr>
          <a:xfrm>
            <a:off x="1524000" y="3000375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Videos, books, podcasts and notes become searchable input for agents.</a:t>
            </a:r>
          </a:p>
        </p:txBody>
      </p:sp>
      <p:sp>
        <p:nvSpPr>
          <p:cNvPr id="9" name="">
            <a:extLst>
              <a:ext uri="{FF2B5EF4-FFF2-40B4-BE49-F238E27FC236}">
                <ns2:creationId id="{D0F526D8-9BCC-4D07-A093-3F011FE21996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10668000" cy="6572250"/>
          </a:xfrm>
          <a:prstGeom prst="rect">
            <a:avLst/>
          </a:prstGeom>
          <a:solidFill>
            <a:srgbClr val="17191D"/>
          </a:solidFill>
          <a:ln w="9525">
            <a:solidFill>
              <a:srgbClr val="3A3C3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7B630AA-736B-49A9-987D-E794A025EB76}"/>
              </a:ext>
            </a:extLst>
          </p:cNvPr>
          <p:cNvSpPr txBox="1">
            <a:spLocks noGrp="1"/>
          </p:cNvSpPr>
          <p:nvPr/>
        </p:nvSpPr>
        <p:spPr>
          <a:xfrm>
            <a:off x="5905500" y="2428875"/>
            <a:ext cx="571500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Saved knowledge</a:t>
            </a:r>
          </a:p>
        </p:txBody>
      </p:sp>
      <p:sp>
        <p:nvSpPr>
          <p:cNvPr id="11" name="">
            <a:extLst>
              <a:ext uri="{FF2B5EF4-FFF2-40B4-BE49-F238E27FC236}">
                <ns2:creationId id="{F2E108E0-1C82-4AB8-B464-238FC5B05E36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238125" cy="2381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2" name="">
            <a:extLst>
              <a:ext uri="{FF2B5EF4-FFF2-40B4-BE49-F238E27FC236}">
                <ns2:creationId id="{D62E855F-6630-457A-9DC4-0238F7648830}"/>
              </a:ext>
            </a:extLst>
          </p:cNvPr>
          <p:cNvSpPr>
            <a:spLocks noGrp="1"/>
          </p:cNvSpPr>
          <p:nvPr/>
        </p:nvSpPr>
        <p:spPr>
          <a:xfrm>
            <a:off x="7515225" y="4124325"/>
            <a:ext cx="285750" cy="2857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3" name="">
            <a:extLst>
              <a:ext uri="{FF2B5EF4-FFF2-40B4-BE49-F238E27FC236}">
                <ns2:creationId id="{AEA7D77F-1CA0-413D-9CB2-0AA5CEDD49D8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333375" cy="33337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4" name="">
            <a:extLst>
              <a:ext uri="{FF2B5EF4-FFF2-40B4-BE49-F238E27FC236}">
                <ns2:creationId id="{A5AFDCC3-21A5-40AE-AA02-091BEE52CFB3}"/>
              </a:ext>
            </a:extLst>
          </p:cNvPr>
          <p:cNvSpPr>
            <a:spLocks noGrp="1"/>
          </p:cNvSpPr>
          <p:nvPr/>
        </p:nvSpPr>
        <p:spPr>
          <a:xfrm>
            <a:off x="10163175" y="5705475"/>
            <a:ext cx="381000" cy="3810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5" name="">
            <a:extLst>
              <a:ext uri="{FF2B5EF4-FFF2-40B4-BE49-F238E27FC236}">
                <ns2:creationId id="{97467B0A-0079-4A29-AB5A-82180D09797F}"/>
              </a:ext>
            </a:extLst>
          </p:cNvPr>
          <p:cNvSpPr>
            <a:spLocks noGrp="1"/>
          </p:cNvSpPr>
          <p:nvPr/>
        </p:nvSpPr>
        <p:spPr>
          <a:xfrm>
            <a:off x="11487150" y="6496050"/>
            <a:ext cx="428625" cy="4286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6" name="">
            <a:extLst>
              <a:ext uri="{FF2B5EF4-FFF2-40B4-BE49-F238E27FC236}">
                <ns2:creationId id="{8E927725-1294-40B2-A8DD-7947FB9AEC82}"/>
              </a:ext>
            </a:extLst>
          </p:cNvPr>
          <p:cNvSpPr>
            <a:spLocks noGrp="1"/>
          </p:cNvSpPr>
          <p:nvPr/>
        </p:nvSpPr>
        <p:spPr>
          <a:xfrm>
            <a:off x="12811125" y="7286625"/>
            <a:ext cx="238125" cy="2381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7" name="">
            <a:extLst>
              <a:ext uri="{FF2B5EF4-FFF2-40B4-BE49-F238E27FC236}">
                <ns2:creationId id="{E818E750-A583-45CA-95B7-5A8DAB2E58D2}"/>
              </a:ext>
            </a:extLst>
          </p:cNvPr>
          <p:cNvSpPr>
            <a:spLocks noGrp="1"/>
          </p:cNvSpPr>
          <p:nvPr/>
        </p:nvSpPr>
        <p:spPr>
          <a:xfrm>
            <a:off x="14135100" y="3981450"/>
            <a:ext cx="285750" cy="28575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8" name="">
            <a:extLst>
              <a:ext uri="{FF2B5EF4-FFF2-40B4-BE49-F238E27FC236}">
                <ns2:creationId id="{602F66C6-949C-4C5A-AF33-051DBB6891D9}"/>
              </a:ext>
            </a:extLst>
          </p:cNvPr>
          <p:cNvSpPr>
            <a:spLocks noGrp="1"/>
          </p:cNvSpPr>
          <p:nvPr/>
        </p:nvSpPr>
        <p:spPr>
          <a:xfrm>
            <a:off x="6219825" y="4772025"/>
            <a:ext cx="333375" cy="33337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9" name="">
            <a:extLst>
              <a:ext uri="{FF2B5EF4-FFF2-40B4-BE49-F238E27FC236}">
                <ns2:creationId id="{A2C3E749-EAF0-4E8A-8A01-B1FB07808ED8}"/>
              </a:ext>
            </a:extLst>
          </p:cNvPr>
          <p:cNvSpPr>
            <a:spLocks noGrp="1"/>
          </p:cNvSpPr>
          <p:nvPr/>
        </p:nvSpPr>
        <p:spPr>
          <a:xfrm>
            <a:off x="7543800" y="5562600"/>
            <a:ext cx="381000" cy="3810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0" name="">
            <a:extLst>
              <a:ext uri="{FF2B5EF4-FFF2-40B4-BE49-F238E27FC236}">
                <ns2:creationId id="{7FF62582-F6F0-4B68-A4A3-3D1670697996}"/>
              </a:ext>
            </a:extLst>
          </p:cNvPr>
          <p:cNvSpPr>
            <a:spLocks noGrp="1"/>
          </p:cNvSpPr>
          <p:nvPr/>
        </p:nvSpPr>
        <p:spPr>
          <a:xfrm>
            <a:off x="8867775" y="6353175"/>
            <a:ext cx="428625" cy="4286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1" name="">
            <a:extLst>
              <a:ext uri="{FF2B5EF4-FFF2-40B4-BE49-F238E27FC236}">
                <ns2:creationId id="{5D566DF0-5C8A-46C7-BD65-5040AB70258B}"/>
              </a:ext>
            </a:extLst>
          </p:cNvPr>
          <p:cNvSpPr>
            <a:spLocks noGrp="1"/>
          </p:cNvSpPr>
          <p:nvPr/>
        </p:nvSpPr>
        <p:spPr>
          <a:xfrm>
            <a:off x="10191750" y="7143750"/>
            <a:ext cx="238125" cy="23812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2" name="">
            <a:extLst>
              <a:ext uri="{FF2B5EF4-FFF2-40B4-BE49-F238E27FC236}">
                <ns2:creationId id="{3D5BE946-C0A3-4BB3-9A9A-E1A02F145D6C}"/>
              </a:ext>
            </a:extLst>
          </p:cNvPr>
          <p:cNvSpPr>
            <a:spLocks noGrp="1"/>
          </p:cNvSpPr>
          <p:nvPr/>
        </p:nvSpPr>
        <p:spPr>
          <a:xfrm>
            <a:off x="11515725" y="3838575"/>
            <a:ext cx="285750" cy="28575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3" name="">
            <a:extLst>
              <a:ext uri="{FF2B5EF4-FFF2-40B4-BE49-F238E27FC236}">
                <ns2:creationId id="{CE76D1E5-C514-44AF-8D41-A452E032B6F1}"/>
              </a:ext>
            </a:extLst>
          </p:cNvPr>
          <p:cNvSpPr>
            <a:spLocks noGrp="1"/>
          </p:cNvSpPr>
          <p:nvPr/>
        </p:nvSpPr>
        <p:spPr>
          <a:xfrm>
            <a:off x="12839700" y="4629150"/>
            <a:ext cx="333375" cy="33337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4" name="">
            <a:extLst>
              <a:ext uri="{FF2B5EF4-FFF2-40B4-BE49-F238E27FC236}">
                <ns2:creationId id="{B0EE8911-6551-4011-A3E8-C3B69CE2969A}"/>
              </a:ext>
            </a:extLst>
          </p:cNvPr>
          <p:cNvSpPr>
            <a:spLocks noGrp="1"/>
          </p:cNvSpPr>
          <p:nvPr/>
        </p:nvSpPr>
        <p:spPr>
          <a:xfrm>
            <a:off x="14163675" y="5419725"/>
            <a:ext cx="381000" cy="3810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5" name="">
            <a:extLst>
              <a:ext uri="{FF2B5EF4-FFF2-40B4-BE49-F238E27FC236}">
                <ns2:creationId id="{28CAEA39-CF9E-437A-977C-1C65300EEB3A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E8E2D3"/>
                </a:solidFill>
                <a:latin typeface="Inter"/>
                <a:ea typeface="Inter"/>
                <a:cs typeface="Inter"/>
              </a:rPr>
              <a:t>Same pattern: private data stays local, but the interface is inspectable and agent-readable.</a:t>
            </a:r>
          </a:p>
        </p:txBody>
      </p:sp>
    </p:spTree>
    <p:extLst>
      <p:ext uri="{BB962C8B-B14F-4D97-AF65-F5344CB8AC3E}">
        <ns3:creationId val="921579037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1131271-D598-457F-BAF1-2934577D0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4CD78F0B-E7E2-4F7B-9110-D06EE983E5CF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CDF79E96-C7CF-4A7D-9568-95E539A541D7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56D9D79C-C1BB-4F0B-A5E4-DF146ABA46C6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12 / 21</a:t>
            </a:r>
          </a:p>
        </p:txBody>
      </p:sp>
      <p:sp>
        <p:nvSpPr>
          <p:cNvPr id="5" name="">
            <a:extLst>
              <a:ext uri="{FF2B5EF4-FFF2-40B4-BE49-F238E27FC236}">
                <ns2:creationId id="{32AC2CA7-5F03-4B33-96AF-8991CBB7EF73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16192500" cy="7810500"/>
          </a:xfrm>
          <a:prstGeom prst="rect">
            <a:avLst/>
          </a:prstGeom>
          <a:solidFill>
            <a:srgbClr val="08090B"/>
          </a:solidFill>
          <a:ln w="28575">
            <a:solidFill>
              <a:srgbClr val="4A4D4A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AA554F88-3996-43DE-9696-5C52F108FD88}"/>
              </a:ext>
            </a:extLst>
          </p:cNvPr>
          <p:cNvSpPr txBox="1">
            <a:spLocks noGrp="1"/>
          </p:cNvSpPr>
          <p:nvPr/>
        </p:nvSpPr>
        <p:spPr>
          <a:xfrm>
            <a:off x="1524000" y="18573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PERSONAL OS</a:t>
            </a:r>
          </a:p>
        </p:txBody>
      </p:sp>
      <p:sp>
        <p:nvSpPr>
          <p:cNvPr id="7" name="">
            <a:extLst>
              <a:ext uri="{FF2B5EF4-FFF2-40B4-BE49-F238E27FC236}">
                <ns2:creationId id="{717BC2E1-31A6-4A1A-B436-31B328B7EB69}"/>
              </a:ext>
            </a:extLst>
          </p:cNvPr>
          <p:cNvSpPr txBox="1">
            <a:spLocks noGrp="1"/>
          </p:cNvSpPr>
          <p:nvPr/>
        </p:nvSpPr>
        <p:spPr>
          <a:xfrm>
            <a:off x="1524000" y="230505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Network graph</a:t>
            </a:r>
          </a:p>
        </p:txBody>
      </p:sp>
      <p:sp>
        <p:nvSpPr>
          <p:cNvPr id="8" name="">
            <a:extLst>
              <a:ext uri="{FF2B5EF4-FFF2-40B4-BE49-F238E27FC236}">
                <ns2:creationId id="{F87FD592-A630-4293-99B4-8913CED7AD21}"/>
              </a:ext>
            </a:extLst>
          </p:cNvPr>
          <p:cNvSpPr txBox="1">
            <a:spLocks noGrp="1"/>
          </p:cNvSpPr>
          <p:nvPr/>
        </p:nvSpPr>
        <p:spPr>
          <a:xfrm>
            <a:off x="1524000" y="3000375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Ranked relationships, research targets and outreach paths become legible.</a:t>
            </a:r>
          </a:p>
        </p:txBody>
      </p:sp>
      <p:sp>
        <p:nvSpPr>
          <p:cNvPr id="9" name="">
            <a:extLst>
              <a:ext uri="{FF2B5EF4-FFF2-40B4-BE49-F238E27FC236}">
                <ns2:creationId id="{E75D26C3-3366-4730-95DF-B7D43ECF5481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10668000" cy="6572250"/>
          </a:xfrm>
          <a:prstGeom prst="rect">
            <a:avLst/>
          </a:prstGeom>
          <a:solidFill>
            <a:srgbClr val="17191D"/>
          </a:solidFill>
          <a:ln w="9525">
            <a:solidFill>
              <a:srgbClr val="3A3C3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D716B14-478F-40FC-8FDB-BC48A5B953EA}"/>
              </a:ext>
            </a:extLst>
          </p:cNvPr>
          <p:cNvSpPr txBox="1">
            <a:spLocks noGrp="1"/>
          </p:cNvSpPr>
          <p:nvPr/>
        </p:nvSpPr>
        <p:spPr>
          <a:xfrm>
            <a:off x="5905500" y="2428875"/>
            <a:ext cx="571500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Social graph</a:t>
            </a:r>
          </a:p>
        </p:txBody>
      </p:sp>
      <p:sp>
        <p:nvSpPr>
          <p:cNvPr id="11" name="">
            <a:extLst>
              <a:ext uri="{FF2B5EF4-FFF2-40B4-BE49-F238E27FC236}">
                <ns2:creationId id="{BB34E9C8-548A-4AE6-8735-6585C14BB0AD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238125" cy="2381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2" name="">
            <a:extLst>
              <a:ext uri="{FF2B5EF4-FFF2-40B4-BE49-F238E27FC236}">
                <ns2:creationId id="{A975ADB7-70A4-4421-8EA7-0EED0B91C6AF}"/>
              </a:ext>
            </a:extLst>
          </p:cNvPr>
          <p:cNvSpPr>
            <a:spLocks noGrp="1"/>
          </p:cNvSpPr>
          <p:nvPr/>
        </p:nvSpPr>
        <p:spPr>
          <a:xfrm>
            <a:off x="7515225" y="4124325"/>
            <a:ext cx="285750" cy="2857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3" name="">
            <a:extLst>
              <a:ext uri="{FF2B5EF4-FFF2-40B4-BE49-F238E27FC236}">
                <ns2:creationId id="{857AAF9D-29E9-4DEC-9E8E-476BB6AA3514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333375" cy="33337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4" name="">
            <a:extLst>
              <a:ext uri="{FF2B5EF4-FFF2-40B4-BE49-F238E27FC236}">
                <ns2:creationId id="{33E6DAC0-D79F-45B4-88FA-B14501A1189A}"/>
              </a:ext>
            </a:extLst>
          </p:cNvPr>
          <p:cNvSpPr>
            <a:spLocks noGrp="1"/>
          </p:cNvSpPr>
          <p:nvPr/>
        </p:nvSpPr>
        <p:spPr>
          <a:xfrm>
            <a:off x="10163175" y="5705475"/>
            <a:ext cx="381000" cy="3810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5" name="">
            <a:extLst>
              <a:ext uri="{FF2B5EF4-FFF2-40B4-BE49-F238E27FC236}">
                <ns2:creationId id="{2A54BBBB-479C-4CDE-BAC8-FAC67E780E7B}"/>
              </a:ext>
            </a:extLst>
          </p:cNvPr>
          <p:cNvSpPr>
            <a:spLocks noGrp="1"/>
          </p:cNvSpPr>
          <p:nvPr/>
        </p:nvSpPr>
        <p:spPr>
          <a:xfrm>
            <a:off x="11487150" y="6496050"/>
            <a:ext cx="428625" cy="4286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6" name="">
            <a:extLst>
              <a:ext uri="{FF2B5EF4-FFF2-40B4-BE49-F238E27FC236}">
                <ns2:creationId id="{5C88FACC-C93C-4DA3-A999-89EF68C44F30}"/>
              </a:ext>
            </a:extLst>
          </p:cNvPr>
          <p:cNvSpPr>
            <a:spLocks noGrp="1"/>
          </p:cNvSpPr>
          <p:nvPr/>
        </p:nvSpPr>
        <p:spPr>
          <a:xfrm>
            <a:off x="12811125" y="7286625"/>
            <a:ext cx="238125" cy="2381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7" name="">
            <a:extLst>
              <a:ext uri="{FF2B5EF4-FFF2-40B4-BE49-F238E27FC236}">
                <ns2:creationId id="{632C0BCC-F999-4686-801E-54DDD1FE2BD2}"/>
              </a:ext>
            </a:extLst>
          </p:cNvPr>
          <p:cNvSpPr>
            <a:spLocks noGrp="1"/>
          </p:cNvSpPr>
          <p:nvPr/>
        </p:nvSpPr>
        <p:spPr>
          <a:xfrm>
            <a:off x="14135100" y="3981450"/>
            <a:ext cx="285750" cy="28575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8" name="">
            <a:extLst>
              <a:ext uri="{FF2B5EF4-FFF2-40B4-BE49-F238E27FC236}">
                <ns2:creationId id="{E7776FFD-D8B1-4B51-B015-866D515A0081}"/>
              </a:ext>
            </a:extLst>
          </p:cNvPr>
          <p:cNvSpPr>
            <a:spLocks noGrp="1"/>
          </p:cNvSpPr>
          <p:nvPr/>
        </p:nvSpPr>
        <p:spPr>
          <a:xfrm>
            <a:off x="6219825" y="4772025"/>
            <a:ext cx="333375" cy="33337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9" name="">
            <a:extLst>
              <a:ext uri="{FF2B5EF4-FFF2-40B4-BE49-F238E27FC236}">
                <ns2:creationId id="{792AB317-10CA-4BA1-80E2-A1D4B8838352}"/>
              </a:ext>
            </a:extLst>
          </p:cNvPr>
          <p:cNvSpPr>
            <a:spLocks noGrp="1"/>
          </p:cNvSpPr>
          <p:nvPr/>
        </p:nvSpPr>
        <p:spPr>
          <a:xfrm>
            <a:off x="7543800" y="5562600"/>
            <a:ext cx="381000" cy="3810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0" name="">
            <a:extLst>
              <a:ext uri="{FF2B5EF4-FFF2-40B4-BE49-F238E27FC236}">
                <ns2:creationId id="{62E0AB59-3D0B-41A6-BDB7-E906C97846E1}"/>
              </a:ext>
            </a:extLst>
          </p:cNvPr>
          <p:cNvSpPr>
            <a:spLocks noGrp="1"/>
          </p:cNvSpPr>
          <p:nvPr/>
        </p:nvSpPr>
        <p:spPr>
          <a:xfrm>
            <a:off x="8867775" y="6353175"/>
            <a:ext cx="428625" cy="4286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1" name="">
            <a:extLst>
              <a:ext uri="{FF2B5EF4-FFF2-40B4-BE49-F238E27FC236}">
                <ns2:creationId id="{24B021C0-9CE1-4A0D-B0E4-06A28E127E19}"/>
              </a:ext>
            </a:extLst>
          </p:cNvPr>
          <p:cNvSpPr>
            <a:spLocks noGrp="1"/>
          </p:cNvSpPr>
          <p:nvPr/>
        </p:nvSpPr>
        <p:spPr>
          <a:xfrm>
            <a:off x="10191750" y="7143750"/>
            <a:ext cx="238125" cy="23812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2" name="">
            <a:extLst>
              <a:ext uri="{FF2B5EF4-FFF2-40B4-BE49-F238E27FC236}">
                <ns2:creationId id="{0A0352FE-A26B-452B-B2CA-6F86D15E1A19}"/>
              </a:ext>
            </a:extLst>
          </p:cNvPr>
          <p:cNvSpPr>
            <a:spLocks noGrp="1"/>
          </p:cNvSpPr>
          <p:nvPr/>
        </p:nvSpPr>
        <p:spPr>
          <a:xfrm>
            <a:off x="11515725" y="3838575"/>
            <a:ext cx="285750" cy="28575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3" name="">
            <a:extLst>
              <a:ext uri="{FF2B5EF4-FFF2-40B4-BE49-F238E27FC236}">
                <ns2:creationId id="{8A47FE32-EE58-4635-8BE6-80BA348EDA7D}"/>
              </a:ext>
            </a:extLst>
          </p:cNvPr>
          <p:cNvSpPr>
            <a:spLocks noGrp="1"/>
          </p:cNvSpPr>
          <p:nvPr/>
        </p:nvSpPr>
        <p:spPr>
          <a:xfrm>
            <a:off x="12839700" y="4629150"/>
            <a:ext cx="333375" cy="33337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4" name="">
            <a:extLst>
              <a:ext uri="{FF2B5EF4-FFF2-40B4-BE49-F238E27FC236}">
                <ns2:creationId id="{FDCB2262-B2D5-45A4-AE81-1D77B42D77EB}"/>
              </a:ext>
            </a:extLst>
          </p:cNvPr>
          <p:cNvSpPr>
            <a:spLocks noGrp="1"/>
          </p:cNvSpPr>
          <p:nvPr/>
        </p:nvSpPr>
        <p:spPr>
          <a:xfrm>
            <a:off x="14163675" y="5419725"/>
            <a:ext cx="381000" cy="3810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5" name="">
            <a:extLst>
              <a:ext uri="{FF2B5EF4-FFF2-40B4-BE49-F238E27FC236}">
                <ns2:creationId id="{BB4078BD-C139-4714-A0FD-BEF9DF679640}"/>
              </a:ext>
            </a:extLst>
          </p:cNvPr>
          <p:cNvSpPr>
            <a:spLocks noGrp="1"/>
          </p:cNvSpPr>
          <p:nvPr/>
        </p:nvSpPr>
        <p:spPr>
          <a:xfrm>
            <a:off x="6248400" y="6210300"/>
            <a:ext cx="428625" cy="42862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6" name="">
            <a:extLst>
              <a:ext uri="{FF2B5EF4-FFF2-40B4-BE49-F238E27FC236}">
                <ns2:creationId id="{6F1C0E56-B376-455E-A1D5-F0B7AE6D919B}"/>
              </a:ext>
            </a:extLst>
          </p:cNvPr>
          <p:cNvSpPr>
            <a:spLocks noGrp="1"/>
          </p:cNvSpPr>
          <p:nvPr/>
        </p:nvSpPr>
        <p:spPr>
          <a:xfrm>
            <a:off x="7572375" y="7000875"/>
            <a:ext cx="238125" cy="23812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7" name="">
            <a:extLst>
              <a:ext uri="{FF2B5EF4-FFF2-40B4-BE49-F238E27FC236}">
                <ns2:creationId id="{FBE9E45A-5D60-4884-A1D9-5478EBC7F1ED}"/>
              </a:ext>
            </a:extLst>
          </p:cNvPr>
          <p:cNvSpPr>
            <a:spLocks noGrp="1"/>
          </p:cNvSpPr>
          <p:nvPr/>
        </p:nvSpPr>
        <p:spPr>
          <a:xfrm>
            <a:off x="8896350" y="3695700"/>
            <a:ext cx="285750" cy="28575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8" name="">
            <a:extLst>
              <a:ext uri="{FF2B5EF4-FFF2-40B4-BE49-F238E27FC236}">
                <ns2:creationId id="{1D526D51-E658-4339-B31E-6589B501C6C9}"/>
              </a:ext>
            </a:extLst>
          </p:cNvPr>
          <p:cNvSpPr>
            <a:spLocks noGrp="1"/>
          </p:cNvSpPr>
          <p:nvPr/>
        </p:nvSpPr>
        <p:spPr>
          <a:xfrm>
            <a:off x="10220325" y="4486275"/>
            <a:ext cx="333375" cy="33337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9" name="">
            <a:extLst>
              <a:ext uri="{FF2B5EF4-FFF2-40B4-BE49-F238E27FC236}">
                <ns2:creationId id="{A5B33186-E599-432F-B14D-C19A15DF4E39}"/>
              </a:ext>
            </a:extLst>
          </p:cNvPr>
          <p:cNvSpPr>
            <a:spLocks noGrp="1"/>
          </p:cNvSpPr>
          <p:nvPr/>
        </p:nvSpPr>
        <p:spPr>
          <a:xfrm>
            <a:off x="11544300" y="5276850"/>
            <a:ext cx="381000" cy="3810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0" name="">
            <a:extLst>
              <a:ext uri="{FF2B5EF4-FFF2-40B4-BE49-F238E27FC236}">
                <ns2:creationId id="{CBE1AF65-521F-4DE6-9FD9-057F488A5259}"/>
              </a:ext>
            </a:extLst>
          </p:cNvPr>
          <p:cNvSpPr>
            <a:spLocks noGrp="1"/>
          </p:cNvSpPr>
          <p:nvPr/>
        </p:nvSpPr>
        <p:spPr>
          <a:xfrm>
            <a:off x="12868275" y="6067425"/>
            <a:ext cx="428625" cy="42862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1" name="">
            <a:extLst>
              <a:ext uri="{FF2B5EF4-FFF2-40B4-BE49-F238E27FC236}">
                <ns2:creationId id="{78357EB4-8433-4592-9D91-62E2F9CECEED}"/>
              </a:ext>
            </a:extLst>
          </p:cNvPr>
          <p:cNvSpPr>
            <a:spLocks noGrp="1"/>
          </p:cNvSpPr>
          <p:nvPr/>
        </p:nvSpPr>
        <p:spPr>
          <a:xfrm>
            <a:off x="14192250" y="6858000"/>
            <a:ext cx="238125" cy="2381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32" name="">
            <a:extLst>
              <a:ext uri="{FF2B5EF4-FFF2-40B4-BE49-F238E27FC236}">
                <ns2:creationId id="{7C55376C-4521-4F0B-9A4F-89764E0021D0}"/>
              </a:ext>
            </a:extLst>
          </p:cNvPr>
          <p:cNvSpPr>
            <a:spLocks noGrp="1"/>
          </p:cNvSpPr>
          <p:nvPr/>
        </p:nvSpPr>
        <p:spPr>
          <a:xfrm>
            <a:off x="6276975" y="3552825"/>
            <a:ext cx="285750" cy="2857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33" name="">
            <a:extLst>
              <a:ext uri="{FF2B5EF4-FFF2-40B4-BE49-F238E27FC236}">
                <ns2:creationId id="{5C91018B-786E-44FA-AE37-30F4A70B1DFE}"/>
              </a:ext>
            </a:extLst>
          </p:cNvPr>
          <p:cNvSpPr>
            <a:spLocks noGrp="1"/>
          </p:cNvSpPr>
          <p:nvPr/>
        </p:nvSpPr>
        <p:spPr>
          <a:xfrm>
            <a:off x="7600950" y="4343400"/>
            <a:ext cx="333375" cy="33337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4" name="">
            <a:extLst>
              <a:ext uri="{FF2B5EF4-FFF2-40B4-BE49-F238E27FC236}">
                <ns2:creationId id="{2C75AEC5-A717-48E7-9207-0AFECFCCC3F5}"/>
              </a:ext>
            </a:extLst>
          </p:cNvPr>
          <p:cNvSpPr>
            <a:spLocks noGrp="1"/>
          </p:cNvSpPr>
          <p:nvPr/>
        </p:nvSpPr>
        <p:spPr>
          <a:xfrm>
            <a:off x="8924925" y="5133975"/>
            <a:ext cx="381000" cy="3810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5" name="">
            <a:extLst>
              <a:ext uri="{FF2B5EF4-FFF2-40B4-BE49-F238E27FC236}">
                <ns2:creationId id="{41CA8BE2-B9A6-40C8-8CD7-829EB0AC6B2C}"/>
              </a:ext>
            </a:extLst>
          </p:cNvPr>
          <p:cNvSpPr>
            <a:spLocks noGrp="1"/>
          </p:cNvSpPr>
          <p:nvPr/>
        </p:nvSpPr>
        <p:spPr>
          <a:xfrm>
            <a:off x="10248900" y="5924550"/>
            <a:ext cx="428625" cy="4286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36" name="">
            <a:extLst>
              <a:ext uri="{FF2B5EF4-FFF2-40B4-BE49-F238E27FC236}">
                <ns2:creationId id="{F955C104-BB41-4C7F-A8D5-9E7128C7663D}"/>
              </a:ext>
            </a:extLst>
          </p:cNvPr>
          <p:cNvSpPr>
            <a:spLocks noGrp="1"/>
          </p:cNvSpPr>
          <p:nvPr/>
        </p:nvSpPr>
        <p:spPr>
          <a:xfrm>
            <a:off x="11572875" y="6715125"/>
            <a:ext cx="238125" cy="2381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37" name="">
            <a:extLst>
              <a:ext uri="{FF2B5EF4-FFF2-40B4-BE49-F238E27FC236}">
                <ns2:creationId id="{E9119D8C-806D-4D25-AD46-19A053285EED}"/>
              </a:ext>
            </a:extLst>
          </p:cNvPr>
          <p:cNvSpPr>
            <a:spLocks noGrp="1"/>
          </p:cNvSpPr>
          <p:nvPr/>
        </p:nvSpPr>
        <p:spPr>
          <a:xfrm>
            <a:off x="12896850" y="3409950"/>
            <a:ext cx="285750" cy="28575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8" name="">
            <a:extLst>
              <a:ext uri="{FF2B5EF4-FFF2-40B4-BE49-F238E27FC236}">
                <ns2:creationId id="{BAB08C2D-8209-4F3B-B62C-E064D02A49EC}"/>
              </a:ext>
            </a:extLst>
          </p:cNvPr>
          <p:cNvSpPr>
            <a:spLocks noGrp="1"/>
          </p:cNvSpPr>
          <p:nvPr/>
        </p:nvSpPr>
        <p:spPr>
          <a:xfrm>
            <a:off x="14220825" y="4200525"/>
            <a:ext cx="333375" cy="33337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9" name="">
            <a:extLst>
              <a:ext uri="{FF2B5EF4-FFF2-40B4-BE49-F238E27FC236}">
                <ns2:creationId id="{23EB5B59-CD65-42E7-8C28-A5A1894ED127}"/>
              </a:ext>
            </a:extLst>
          </p:cNvPr>
          <p:cNvSpPr>
            <a:spLocks noGrp="1"/>
          </p:cNvSpPr>
          <p:nvPr/>
        </p:nvSpPr>
        <p:spPr>
          <a:xfrm>
            <a:off x="6305550" y="4991100"/>
            <a:ext cx="381000" cy="3810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40" name="">
            <a:extLst>
              <a:ext uri="{FF2B5EF4-FFF2-40B4-BE49-F238E27FC236}">
                <ns2:creationId id="{D2B0FE13-D82C-413E-8337-BD74791A1AC1}"/>
              </a:ext>
            </a:extLst>
          </p:cNvPr>
          <p:cNvSpPr>
            <a:spLocks noGrp="1"/>
          </p:cNvSpPr>
          <p:nvPr/>
        </p:nvSpPr>
        <p:spPr>
          <a:xfrm>
            <a:off x="7629525" y="5781675"/>
            <a:ext cx="428625" cy="4286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41" name="">
            <a:extLst>
              <a:ext uri="{FF2B5EF4-FFF2-40B4-BE49-F238E27FC236}">
                <ns2:creationId id="{47EB77F7-DD08-4895-A18F-E49C235A8AE9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E8E2D3"/>
                </a:solidFill>
                <a:latin typeface="Inter"/>
                <a:ea typeface="Inter"/>
                <a:cs typeface="Inter"/>
              </a:rPr>
              <a:t>Same pattern: private data stays local, but the interface is inspectable and agent-readable.</a:t>
            </a:r>
          </a:p>
        </p:txBody>
      </p:sp>
    </p:spTree>
    <p:extLst>
      <p:ext uri="{BB962C8B-B14F-4D97-AF65-F5344CB8AC3E}">
        <ns3:creationId val="121347047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E39BE2F-7E80-4548-9029-B053A9E3F2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F7B00A21-55C8-4BCC-BE3E-61411DEAD166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DC57D932-4272-4F35-A177-D801AB256809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A20F2101-EB7E-4C99-95A8-18DF44C9F3A3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13 / 21</a:t>
            </a:r>
          </a:p>
        </p:txBody>
      </p:sp>
      <p:sp>
        <p:nvSpPr>
          <p:cNvPr id="5" name="">
            <a:extLst>
              <a:ext uri="{FF2B5EF4-FFF2-40B4-BE49-F238E27FC236}">
                <ns2:creationId id="{0DDDC44C-B538-4902-B7B9-AB995B29EE7F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16192500" cy="7810500"/>
          </a:xfrm>
          <a:prstGeom prst="rect">
            <a:avLst/>
          </a:prstGeom>
          <a:solidFill>
            <a:srgbClr val="08090B"/>
          </a:solidFill>
          <a:ln w="28575">
            <a:solidFill>
              <a:srgbClr val="4A4D4A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83F66C16-82B0-43F9-9716-1FE4A26A3F2A}"/>
              </a:ext>
            </a:extLst>
          </p:cNvPr>
          <p:cNvSpPr txBox="1">
            <a:spLocks noGrp="1"/>
          </p:cNvSpPr>
          <p:nvPr/>
        </p:nvSpPr>
        <p:spPr>
          <a:xfrm>
            <a:off x="1524000" y="18573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PERSONAL OS</a:t>
            </a:r>
          </a:p>
        </p:txBody>
      </p:sp>
      <p:sp>
        <p:nvSpPr>
          <p:cNvPr id="7" name="">
            <a:extLst>
              <a:ext uri="{FF2B5EF4-FFF2-40B4-BE49-F238E27FC236}">
                <ns2:creationId id="{C1997B2A-CE63-4D29-BFDA-ED3B3F912DDB}"/>
              </a:ext>
            </a:extLst>
          </p:cNvPr>
          <p:cNvSpPr txBox="1">
            <a:spLocks noGrp="1"/>
          </p:cNvSpPr>
          <p:nvPr/>
        </p:nvSpPr>
        <p:spPr>
          <a:xfrm>
            <a:off x="1524000" y="230505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Folded knowledge graph</a:t>
            </a:r>
          </a:p>
        </p:txBody>
      </p:sp>
      <p:sp>
        <p:nvSpPr>
          <p:cNvPr id="8" name="">
            <a:extLst>
              <a:ext uri="{FF2B5EF4-FFF2-40B4-BE49-F238E27FC236}">
                <ns2:creationId id="{8AF5C41B-18BD-4038-B013-B0B656894986}"/>
              </a:ext>
            </a:extLst>
          </p:cNvPr>
          <p:cNvSpPr txBox="1">
            <a:spLocks noGrp="1"/>
          </p:cNvSpPr>
          <p:nvPr/>
        </p:nvSpPr>
        <p:spPr>
          <a:xfrm>
            <a:off x="1524000" y="3000375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A clean overview of the knowledge base before diving into individual notes.</a:t>
            </a:r>
          </a:p>
        </p:txBody>
      </p:sp>
      <p:sp>
        <p:nvSpPr>
          <p:cNvPr id="9" name="">
            <a:extLst>
              <a:ext uri="{FF2B5EF4-FFF2-40B4-BE49-F238E27FC236}">
                <ns2:creationId id="{811A7FC2-8111-4375-BA82-C3629E6B014F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10668000" cy="6572250"/>
          </a:xfrm>
          <a:prstGeom prst="rect">
            <a:avLst/>
          </a:prstGeom>
          <a:solidFill>
            <a:srgbClr val="17191D"/>
          </a:solidFill>
          <a:ln w="9525">
            <a:solidFill>
              <a:srgbClr val="3A3C3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56A4376-7E9B-42F0-B41B-E9B8CDA192E3}"/>
              </a:ext>
            </a:extLst>
          </p:cNvPr>
          <p:cNvSpPr txBox="1">
            <a:spLocks noGrp="1"/>
          </p:cNvSpPr>
          <p:nvPr/>
        </p:nvSpPr>
        <p:spPr>
          <a:xfrm>
            <a:off x="5905500" y="2428875"/>
            <a:ext cx="571500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Folder-level map</a:t>
            </a:r>
          </a:p>
        </p:txBody>
      </p:sp>
      <p:sp>
        <p:nvSpPr>
          <p:cNvPr id="11" name="">
            <a:extLst>
              <a:ext uri="{FF2B5EF4-FFF2-40B4-BE49-F238E27FC236}">
                <ns2:creationId id="{840B0263-AC21-4ACD-A3CA-6328C6D480E0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238125" cy="2381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2" name="">
            <a:extLst>
              <a:ext uri="{FF2B5EF4-FFF2-40B4-BE49-F238E27FC236}">
                <ns2:creationId id="{51DAE904-FB7C-4B21-8F1A-9F64E18561D3}"/>
              </a:ext>
            </a:extLst>
          </p:cNvPr>
          <p:cNvSpPr>
            <a:spLocks noGrp="1"/>
          </p:cNvSpPr>
          <p:nvPr/>
        </p:nvSpPr>
        <p:spPr>
          <a:xfrm>
            <a:off x="7515225" y="4124325"/>
            <a:ext cx="285750" cy="2857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3" name="">
            <a:extLst>
              <a:ext uri="{FF2B5EF4-FFF2-40B4-BE49-F238E27FC236}">
                <ns2:creationId id="{59B8C541-44DB-44B0-B568-0A53BB4C6B05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333375" cy="33337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4" name="">
            <a:extLst>
              <a:ext uri="{FF2B5EF4-FFF2-40B4-BE49-F238E27FC236}">
                <ns2:creationId id="{688A0DBA-189F-4828-B9DC-D37596824DEB}"/>
              </a:ext>
            </a:extLst>
          </p:cNvPr>
          <p:cNvSpPr>
            <a:spLocks noGrp="1"/>
          </p:cNvSpPr>
          <p:nvPr/>
        </p:nvSpPr>
        <p:spPr>
          <a:xfrm>
            <a:off x="10163175" y="5705475"/>
            <a:ext cx="381000" cy="3810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5" name="">
            <a:extLst>
              <a:ext uri="{FF2B5EF4-FFF2-40B4-BE49-F238E27FC236}">
                <ns2:creationId id="{9162A00F-F908-4C61-80A8-D9889C79423D}"/>
              </a:ext>
            </a:extLst>
          </p:cNvPr>
          <p:cNvSpPr>
            <a:spLocks noGrp="1"/>
          </p:cNvSpPr>
          <p:nvPr/>
        </p:nvSpPr>
        <p:spPr>
          <a:xfrm>
            <a:off x="11487150" y="6496050"/>
            <a:ext cx="428625" cy="42862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6" name="">
            <a:extLst>
              <a:ext uri="{FF2B5EF4-FFF2-40B4-BE49-F238E27FC236}">
                <ns2:creationId id="{095C61E1-A9AE-4918-90E1-3E22FA385849}"/>
              </a:ext>
            </a:extLst>
          </p:cNvPr>
          <p:cNvSpPr>
            <a:spLocks noGrp="1"/>
          </p:cNvSpPr>
          <p:nvPr/>
        </p:nvSpPr>
        <p:spPr>
          <a:xfrm>
            <a:off x="12811125" y="7286625"/>
            <a:ext cx="238125" cy="2381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7" name="">
            <a:extLst>
              <a:ext uri="{FF2B5EF4-FFF2-40B4-BE49-F238E27FC236}">
                <ns2:creationId id="{A1748275-FC37-4F57-A974-3159466A37EF}"/>
              </a:ext>
            </a:extLst>
          </p:cNvPr>
          <p:cNvSpPr>
            <a:spLocks noGrp="1"/>
          </p:cNvSpPr>
          <p:nvPr/>
        </p:nvSpPr>
        <p:spPr>
          <a:xfrm>
            <a:off x="14135100" y="3981450"/>
            <a:ext cx="285750" cy="28575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8" name="">
            <a:extLst>
              <a:ext uri="{FF2B5EF4-FFF2-40B4-BE49-F238E27FC236}">
                <ns2:creationId id="{9CBE22D2-DE88-47C9-8B97-4B51B9D054EA}"/>
              </a:ext>
            </a:extLst>
          </p:cNvPr>
          <p:cNvSpPr>
            <a:spLocks noGrp="1"/>
          </p:cNvSpPr>
          <p:nvPr/>
        </p:nvSpPr>
        <p:spPr>
          <a:xfrm>
            <a:off x="6219825" y="4772025"/>
            <a:ext cx="333375" cy="333375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9" name="">
            <a:extLst>
              <a:ext uri="{FF2B5EF4-FFF2-40B4-BE49-F238E27FC236}">
                <ns2:creationId id="{11261899-EB8B-47BC-A79C-00A31E42F3A9}"/>
              </a:ext>
            </a:extLst>
          </p:cNvPr>
          <p:cNvSpPr>
            <a:spLocks noGrp="1"/>
          </p:cNvSpPr>
          <p:nvPr/>
        </p:nvSpPr>
        <p:spPr>
          <a:xfrm>
            <a:off x="7543800" y="5562600"/>
            <a:ext cx="381000" cy="3810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0" name="">
            <a:extLst>
              <a:ext uri="{FF2B5EF4-FFF2-40B4-BE49-F238E27FC236}">
                <ns2:creationId id="{5A30D288-847F-4811-86C3-1DDF311C2026}"/>
              </a:ext>
            </a:extLst>
          </p:cNvPr>
          <p:cNvSpPr>
            <a:spLocks noGrp="1"/>
          </p:cNvSpPr>
          <p:nvPr/>
        </p:nvSpPr>
        <p:spPr>
          <a:xfrm>
            <a:off x="8867775" y="6353175"/>
            <a:ext cx="428625" cy="428625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1" name="">
            <a:extLst>
              <a:ext uri="{FF2B5EF4-FFF2-40B4-BE49-F238E27FC236}">
                <ns2:creationId id="{37350277-1E65-4329-B76C-AADFDB68F129}"/>
              </a:ext>
            </a:extLst>
          </p:cNvPr>
          <p:cNvSpPr>
            <a:spLocks noGrp="1"/>
          </p:cNvSpPr>
          <p:nvPr/>
        </p:nvSpPr>
        <p:spPr>
          <a:xfrm>
            <a:off x="10191750" y="7143750"/>
            <a:ext cx="238125" cy="238125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2" name="">
            <a:extLst>
              <a:ext uri="{FF2B5EF4-FFF2-40B4-BE49-F238E27FC236}">
                <ns2:creationId id="{D3FC75D2-CD4C-4250-8691-58F13CE2A69C}"/>
              </a:ext>
            </a:extLst>
          </p:cNvPr>
          <p:cNvSpPr>
            <a:spLocks noGrp="1"/>
          </p:cNvSpPr>
          <p:nvPr/>
        </p:nvSpPr>
        <p:spPr>
          <a:xfrm>
            <a:off x="11515725" y="3838575"/>
            <a:ext cx="285750" cy="28575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3" name="">
            <a:extLst>
              <a:ext uri="{FF2B5EF4-FFF2-40B4-BE49-F238E27FC236}">
                <ns2:creationId id="{01F745E4-17F3-489A-A0B9-DA858C13786E}"/>
              </a:ext>
            </a:extLst>
          </p:cNvPr>
          <p:cNvSpPr>
            <a:spLocks noGrp="1"/>
          </p:cNvSpPr>
          <p:nvPr/>
        </p:nvSpPr>
        <p:spPr>
          <a:xfrm>
            <a:off x="12839700" y="4629150"/>
            <a:ext cx="333375" cy="333375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4" name="">
            <a:extLst>
              <a:ext uri="{FF2B5EF4-FFF2-40B4-BE49-F238E27FC236}">
                <ns2:creationId id="{9B607C41-3698-49DE-9A6B-D40677F9CCED}"/>
              </a:ext>
            </a:extLst>
          </p:cNvPr>
          <p:cNvSpPr>
            <a:spLocks noGrp="1"/>
          </p:cNvSpPr>
          <p:nvPr/>
        </p:nvSpPr>
        <p:spPr>
          <a:xfrm>
            <a:off x="14163675" y="5419725"/>
            <a:ext cx="381000" cy="3810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5" name="">
            <a:extLst>
              <a:ext uri="{FF2B5EF4-FFF2-40B4-BE49-F238E27FC236}">
                <ns2:creationId id="{FFB2A610-56BF-43CB-A9F0-A8275A8F4613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E8E2D3"/>
                </a:solidFill>
                <a:latin typeface="Inter"/>
                <a:ea typeface="Inter"/>
                <a:cs typeface="Inter"/>
              </a:rPr>
              <a:t>Same pattern: private data stays local, but the interface is inspectable and agent-readable.</a:t>
            </a:r>
          </a:p>
        </p:txBody>
      </p:sp>
    </p:spTree>
    <p:extLst>
      <p:ext uri="{BB962C8B-B14F-4D97-AF65-F5344CB8AC3E}">
        <ns3:creationId val="39100616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DD8337B-272D-44F9-950F-2F1250B12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6EECD379-C019-4BA3-B669-5319C630CA0B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386A293B-EE8D-464B-916C-2CFFF9AF7F45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4D1156FA-73E3-4EB1-9EA2-03A3A9A82034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14 / 21</a:t>
            </a:r>
          </a:p>
        </p:txBody>
      </p:sp>
      <p:sp>
        <p:nvSpPr>
          <p:cNvPr id="5" name="">
            <a:extLst>
              <a:ext uri="{FF2B5EF4-FFF2-40B4-BE49-F238E27FC236}">
                <ns2:creationId id="{0BE7993D-5120-4837-8F79-6091C89E1875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16192500" cy="7810500"/>
          </a:xfrm>
          <a:prstGeom prst="rect">
            <a:avLst/>
          </a:prstGeom>
          <a:solidFill>
            <a:srgbClr val="08090B"/>
          </a:solidFill>
          <a:ln w="28575">
            <a:solidFill>
              <a:srgbClr val="4A4D4A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A686730D-874D-4879-883C-68682C19DA51}"/>
              </a:ext>
            </a:extLst>
          </p:cNvPr>
          <p:cNvSpPr txBox="1">
            <a:spLocks noGrp="1"/>
          </p:cNvSpPr>
          <p:nvPr/>
        </p:nvSpPr>
        <p:spPr>
          <a:xfrm>
            <a:off x="1524000" y="185737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PERSONAL OS</a:t>
            </a:r>
          </a:p>
        </p:txBody>
      </p:sp>
      <p:sp>
        <p:nvSpPr>
          <p:cNvPr id="7" name="">
            <a:extLst>
              <a:ext uri="{FF2B5EF4-FFF2-40B4-BE49-F238E27FC236}">
                <ns2:creationId id="{0B833C38-B720-4B51-BC0A-D3E336E86330}"/>
              </a:ext>
            </a:extLst>
          </p:cNvPr>
          <p:cNvSpPr txBox="1">
            <a:spLocks noGrp="1"/>
          </p:cNvSpPr>
          <p:nvPr/>
        </p:nvSpPr>
        <p:spPr>
          <a:xfrm>
            <a:off x="1524000" y="2305050"/>
            <a:ext cx="4572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33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Full knowledge graph</a:t>
            </a:r>
          </a:p>
        </p:txBody>
      </p:sp>
      <p:sp>
        <p:nvSpPr>
          <p:cNvPr id="8" name="">
            <a:extLst>
              <a:ext uri="{FF2B5EF4-FFF2-40B4-BE49-F238E27FC236}">
                <ns2:creationId id="{0BA4659D-4737-424A-A680-8ABF77C9C266}"/>
              </a:ext>
            </a:extLst>
          </p:cNvPr>
          <p:cNvSpPr txBox="1">
            <a:spLocks noGrp="1"/>
          </p:cNvSpPr>
          <p:nvPr/>
        </p:nvSpPr>
        <p:spPr>
          <a:xfrm>
            <a:off x="1524000" y="3000375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Dense clusters expose the real connections inside the personal operating system.</a:t>
            </a:r>
          </a:p>
        </p:txBody>
      </p:sp>
      <p:sp>
        <p:nvSpPr>
          <p:cNvPr id="9" name="">
            <a:extLst>
              <a:ext uri="{FF2B5EF4-FFF2-40B4-BE49-F238E27FC236}">
                <ns2:creationId id="{5A241D13-DCE3-4117-B66D-A4121F4034E8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10668000" cy="6572250"/>
          </a:xfrm>
          <a:prstGeom prst="rect">
            <a:avLst/>
          </a:prstGeom>
          <a:solidFill>
            <a:srgbClr val="17191D"/>
          </a:solidFill>
          <a:ln w="9525">
            <a:solidFill>
              <a:srgbClr val="3A3C3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CD006B6-66FF-4630-95FB-531BFF3D1BA6}"/>
              </a:ext>
            </a:extLst>
          </p:cNvPr>
          <p:cNvSpPr txBox="1">
            <a:spLocks noGrp="1"/>
          </p:cNvSpPr>
          <p:nvPr/>
        </p:nvSpPr>
        <p:spPr>
          <a:xfrm>
            <a:off x="5905500" y="2428875"/>
            <a:ext cx="571500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Note-level links</a:t>
            </a:r>
          </a:p>
        </p:txBody>
      </p:sp>
      <p:sp>
        <p:nvSpPr>
          <p:cNvPr id="11" name="">
            <a:extLst>
              <a:ext uri="{FF2B5EF4-FFF2-40B4-BE49-F238E27FC236}">
                <ns2:creationId id="{E68836A6-7D2C-478B-A9F7-1247C91967B6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2" name="">
            <a:extLst>
              <a:ext uri="{FF2B5EF4-FFF2-40B4-BE49-F238E27FC236}">
                <ns2:creationId id="{94586370-0663-424C-82E8-8BF066D20FC9}"/>
              </a:ext>
            </a:extLst>
          </p:cNvPr>
          <p:cNvSpPr>
            <a:spLocks noGrp="1"/>
          </p:cNvSpPr>
          <p:nvPr/>
        </p:nvSpPr>
        <p:spPr>
          <a:xfrm>
            <a:off x="7515225" y="41243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3" name="">
            <a:extLst>
              <a:ext uri="{FF2B5EF4-FFF2-40B4-BE49-F238E27FC236}">
                <ns2:creationId id="{283EBE8B-C0D9-495A-9812-421F1B8343C4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4" name="">
            <a:extLst>
              <a:ext uri="{FF2B5EF4-FFF2-40B4-BE49-F238E27FC236}">
                <ns2:creationId id="{3461E757-0565-42EE-949A-1F781D2D89F8}"/>
              </a:ext>
            </a:extLst>
          </p:cNvPr>
          <p:cNvSpPr>
            <a:spLocks noGrp="1"/>
          </p:cNvSpPr>
          <p:nvPr/>
        </p:nvSpPr>
        <p:spPr>
          <a:xfrm>
            <a:off x="10163175" y="570547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5" name="">
            <a:extLst>
              <a:ext uri="{FF2B5EF4-FFF2-40B4-BE49-F238E27FC236}">
                <ns2:creationId id="{6C1D8383-5659-404F-A92E-986CCA03CB6E}"/>
              </a:ext>
            </a:extLst>
          </p:cNvPr>
          <p:cNvSpPr>
            <a:spLocks noGrp="1"/>
          </p:cNvSpPr>
          <p:nvPr/>
        </p:nvSpPr>
        <p:spPr>
          <a:xfrm>
            <a:off x="11487150" y="64960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16" name="">
            <a:extLst>
              <a:ext uri="{FF2B5EF4-FFF2-40B4-BE49-F238E27FC236}">
                <ns2:creationId id="{34C1FCD4-95E5-4DD5-AB4B-DA0EBD8D2010}"/>
              </a:ext>
            </a:extLst>
          </p:cNvPr>
          <p:cNvSpPr>
            <a:spLocks noGrp="1"/>
          </p:cNvSpPr>
          <p:nvPr/>
        </p:nvSpPr>
        <p:spPr>
          <a:xfrm>
            <a:off x="12811125" y="72866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7" name="">
            <a:extLst>
              <a:ext uri="{FF2B5EF4-FFF2-40B4-BE49-F238E27FC236}">
                <ns2:creationId id="{B90128CC-EAE5-4C8B-A19C-C0C78D48FB22}"/>
              </a:ext>
            </a:extLst>
          </p:cNvPr>
          <p:cNvSpPr>
            <a:spLocks noGrp="1"/>
          </p:cNvSpPr>
          <p:nvPr/>
        </p:nvSpPr>
        <p:spPr>
          <a:xfrm>
            <a:off x="14135100" y="39814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18" name="">
            <a:extLst>
              <a:ext uri="{FF2B5EF4-FFF2-40B4-BE49-F238E27FC236}">
                <ns2:creationId id="{B0B28C36-A418-42F2-AC01-C19B78F810D9}"/>
              </a:ext>
            </a:extLst>
          </p:cNvPr>
          <p:cNvSpPr>
            <a:spLocks noGrp="1"/>
          </p:cNvSpPr>
          <p:nvPr/>
        </p:nvSpPr>
        <p:spPr>
          <a:xfrm>
            <a:off x="6219825" y="477202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19" name="">
            <a:extLst>
              <a:ext uri="{FF2B5EF4-FFF2-40B4-BE49-F238E27FC236}">
                <ns2:creationId id="{560034B5-BAEC-4398-B5B9-35010EABC44F}"/>
              </a:ext>
            </a:extLst>
          </p:cNvPr>
          <p:cNvSpPr>
            <a:spLocks noGrp="1"/>
          </p:cNvSpPr>
          <p:nvPr/>
        </p:nvSpPr>
        <p:spPr>
          <a:xfrm>
            <a:off x="7543800" y="556260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0" name="">
            <a:extLst>
              <a:ext uri="{FF2B5EF4-FFF2-40B4-BE49-F238E27FC236}">
                <ns2:creationId id="{4CCF865A-E49F-4D1F-921D-D2C7EF8E42CE}"/>
              </a:ext>
            </a:extLst>
          </p:cNvPr>
          <p:cNvSpPr>
            <a:spLocks noGrp="1"/>
          </p:cNvSpPr>
          <p:nvPr/>
        </p:nvSpPr>
        <p:spPr>
          <a:xfrm>
            <a:off x="8867775" y="635317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1" name="">
            <a:extLst>
              <a:ext uri="{FF2B5EF4-FFF2-40B4-BE49-F238E27FC236}">
                <ns2:creationId id="{055320BC-97F9-428F-A738-D2320B14A86F}"/>
              </a:ext>
            </a:extLst>
          </p:cNvPr>
          <p:cNvSpPr>
            <a:spLocks noGrp="1"/>
          </p:cNvSpPr>
          <p:nvPr/>
        </p:nvSpPr>
        <p:spPr>
          <a:xfrm>
            <a:off x="10191750" y="71437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2" name="">
            <a:extLst>
              <a:ext uri="{FF2B5EF4-FFF2-40B4-BE49-F238E27FC236}">
                <ns2:creationId id="{04F0E7A9-1207-4DF4-BFFE-1CE0AF8C61D0}"/>
              </a:ext>
            </a:extLst>
          </p:cNvPr>
          <p:cNvSpPr>
            <a:spLocks noGrp="1"/>
          </p:cNvSpPr>
          <p:nvPr/>
        </p:nvSpPr>
        <p:spPr>
          <a:xfrm>
            <a:off x="11515725" y="383857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3" name="">
            <a:extLst>
              <a:ext uri="{FF2B5EF4-FFF2-40B4-BE49-F238E27FC236}">
                <ns2:creationId id="{B730C608-A0B6-4541-8422-2E610EF333D7}"/>
              </a:ext>
            </a:extLst>
          </p:cNvPr>
          <p:cNvSpPr>
            <a:spLocks noGrp="1"/>
          </p:cNvSpPr>
          <p:nvPr/>
        </p:nvSpPr>
        <p:spPr>
          <a:xfrm>
            <a:off x="12839700" y="46291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4" name="">
            <a:extLst>
              <a:ext uri="{FF2B5EF4-FFF2-40B4-BE49-F238E27FC236}">
                <ns2:creationId id="{36A7B5E0-02A6-40F9-AA2D-6EDBD0964013}"/>
              </a:ext>
            </a:extLst>
          </p:cNvPr>
          <p:cNvSpPr>
            <a:spLocks noGrp="1"/>
          </p:cNvSpPr>
          <p:nvPr/>
        </p:nvSpPr>
        <p:spPr>
          <a:xfrm>
            <a:off x="14163675" y="54197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5" name="">
            <a:extLst>
              <a:ext uri="{FF2B5EF4-FFF2-40B4-BE49-F238E27FC236}">
                <ns2:creationId id="{FAD3FE56-BEE5-45D6-A1ED-52145203CFB6}"/>
              </a:ext>
            </a:extLst>
          </p:cNvPr>
          <p:cNvSpPr>
            <a:spLocks noGrp="1"/>
          </p:cNvSpPr>
          <p:nvPr/>
        </p:nvSpPr>
        <p:spPr>
          <a:xfrm>
            <a:off x="6248400" y="621030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26" name="">
            <a:extLst>
              <a:ext uri="{FF2B5EF4-FFF2-40B4-BE49-F238E27FC236}">
                <ns2:creationId id="{976C05FB-DC46-4992-8CF2-1908753AC99F}"/>
              </a:ext>
            </a:extLst>
          </p:cNvPr>
          <p:cNvSpPr>
            <a:spLocks noGrp="1"/>
          </p:cNvSpPr>
          <p:nvPr/>
        </p:nvSpPr>
        <p:spPr>
          <a:xfrm>
            <a:off x="7572375" y="700087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27" name="">
            <a:extLst>
              <a:ext uri="{FF2B5EF4-FFF2-40B4-BE49-F238E27FC236}">
                <ns2:creationId id="{9C7B7389-3E77-43DA-A0AB-D06BB6B074D3}"/>
              </a:ext>
            </a:extLst>
          </p:cNvPr>
          <p:cNvSpPr>
            <a:spLocks noGrp="1"/>
          </p:cNvSpPr>
          <p:nvPr/>
        </p:nvSpPr>
        <p:spPr>
          <a:xfrm>
            <a:off x="8896350" y="369570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28" name="">
            <a:extLst>
              <a:ext uri="{FF2B5EF4-FFF2-40B4-BE49-F238E27FC236}">
                <ns2:creationId id="{266CA67C-2718-45F9-9402-78A50122CD7F}"/>
              </a:ext>
            </a:extLst>
          </p:cNvPr>
          <p:cNvSpPr>
            <a:spLocks noGrp="1"/>
          </p:cNvSpPr>
          <p:nvPr/>
        </p:nvSpPr>
        <p:spPr>
          <a:xfrm>
            <a:off x="10220325" y="448627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29" name="">
            <a:extLst>
              <a:ext uri="{FF2B5EF4-FFF2-40B4-BE49-F238E27FC236}">
                <ns2:creationId id="{270ECE08-5A80-49B8-8645-5F0E48E18F05}"/>
              </a:ext>
            </a:extLst>
          </p:cNvPr>
          <p:cNvSpPr>
            <a:spLocks noGrp="1"/>
          </p:cNvSpPr>
          <p:nvPr/>
        </p:nvSpPr>
        <p:spPr>
          <a:xfrm>
            <a:off x="11544300" y="52768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0" name="">
            <a:extLst>
              <a:ext uri="{FF2B5EF4-FFF2-40B4-BE49-F238E27FC236}">
                <ns2:creationId id="{227064A2-0885-41CC-A8F1-D3DFF8C10030}"/>
              </a:ext>
            </a:extLst>
          </p:cNvPr>
          <p:cNvSpPr>
            <a:spLocks noGrp="1"/>
          </p:cNvSpPr>
          <p:nvPr/>
        </p:nvSpPr>
        <p:spPr>
          <a:xfrm>
            <a:off x="12868275" y="606742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1" name="">
            <a:extLst>
              <a:ext uri="{FF2B5EF4-FFF2-40B4-BE49-F238E27FC236}">
                <ns2:creationId id="{EE1F77AF-4344-41AC-8947-AA2AE0F878DA}"/>
              </a:ext>
            </a:extLst>
          </p:cNvPr>
          <p:cNvSpPr>
            <a:spLocks noGrp="1"/>
          </p:cNvSpPr>
          <p:nvPr/>
        </p:nvSpPr>
        <p:spPr>
          <a:xfrm>
            <a:off x="14192250" y="685800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32" name="">
            <a:extLst>
              <a:ext uri="{FF2B5EF4-FFF2-40B4-BE49-F238E27FC236}">
                <ns2:creationId id="{54EE0A7E-E98D-41B5-BEDA-F3EB6D3FEC5D}"/>
              </a:ext>
            </a:extLst>
          </p:cNvPr>
          <p:cNvSpPr>
            <a:spLocks noGrp="1"/>
          </p:cNvSpPr>
          <p:nvPr/>
        </p:nvSpPr>
        <p:spPr>
          <a:xfrm>
            <a:off x="6276975" y="35528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33" name="">
            <a:extLst>
              <a:ext uri="{FF2B5EF4-FFF2-40B4-BE49-F238E27FC236}">
                <ns2:creationId id="{021BF2BE-944A-4F4E-9D88-0068BD679C0C}"/>
              </a:ext>
            </a:extLst>
          </p:cNvPr>
          <p:cNvSpPr>
            <a:spLocks noGrp="1"/>
          </p:cNvSpPr>
          <p:nvPr/>
        </p:nvSpPr>
        <p:spPr>
          <a:xfrm>
            <a:off x="7600950" y="434340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4" name="">
            <a:extLst>
              <a:ext uri="{FF2B5EF4-FFF2-40B4-BE49-F238E27FC236}">
                <ns2:creationId id="{1FBC4C9D-3581-45BC-ACB1-37AC186057C7}"/>
              </a:ext>
            </a:extLst>
          </p:cNvPr>
          <p:cNvSpPr>
            <a:spLocks noGrp="1"/>
          </p:cNvSpPr>
          <p:nvPr/>
        </p:nvSpPr>
        <p:spPr>
          <a:xfrm>
            <a:off x="8924925" y="513397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5" name="">
            <a:extLst>
              <a:ext uri="{FF2B5EF4-FFF2-40B4-BE49-F238E27FC236}">
                <ns2:creationId id="{0AF5CCF4-9908-4D29-B3CB-7F469B233432}"/>
              </a:ext>
            </a:extLst>
          </p:cNvPr>
          <p:cNvSpPr>
            <a:spLocks noGrp="1"/>
          </p:cNvSpPr>
          <p:nvPr/>
        </p:nvSpPr>
        <p:spPr>
          <a:xfrm>
            <a:off x="10248900" y="59245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36" name="">
            <a:extLst>
              <a:ext uri="{FF2B5EF4-FFF2-40B4-BE49-F238E27FC236}">
                <ns2:creationId id="{68770BB7-38CC-4EAE-86C5-304F2C9FFD5F}"/>
              </a:ext>
            </a:extLst>
          </p:cNvPr>
          <p:cNvSpPr>
            <a:spLocks noGrp="1"/>
          </p:cNvSpPr>
          <p:nvPr/>
        </p:nvSpPr>
        <p:spPr>
          <a:xfrm>
            <a:off x="11572875" y="67151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37" name="">
            <a:extLst>
              <a:ext uri="{FF2B5EF4-FFF2-40B4-BE49-F238E27FC236}">
                <ns2:creationId id="{9311AA99-5719-4EC9-A863-CBDF37B2A688}"/>
              </a:ext>
            </a:extLst>
          </p:cNvPr>
          <p:cNvSpPr>
            <a:spLocks noGrp="1"/>
          </p:cNvSpPr>
          <p:nvPr/>
        </p:nvSpPr>
        <p:spPr>
          <a:xfrm>
            <a:off x="12896850" y="34099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38" name="">
            <a:extLst>
              <a:ext uri="{FF2B5EF4-FFF2-40B4-BE49-F238E27FC236}">
                <ns2:creationId id="{BBE15B5B-1AE9-4DCF-91D5-7EC362BBB21A}"/>
              </a:ext>
            </a:extLst>
          </p:cNvPr>
          <p:cNvSpPr>
            <a:spLocks noGrp="1"/>
          </p:cNvSpPr>
          <p:nvPr/>
        </p:nvSpPr>
        <p:spPr>
          <a:xfrm>
            <a:off x="14220825" y="420052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39" name="">
            <a:extLst>
              <a:ext uri="{FF2B5EF4-FFF2-40B4-BE49-F238E27FC236}">
                <ns2:creationId id="{6752F899-C871-41DC-A749-24BCC26714F9}"/>
              </a:ext>
            </a:extLst>
          </p:cNvPr>
          <p:cNvSpPr>
            <a:spLocks noGrp="1"/>
          </p:cNvSpPr>
          <p:nvPr/>
        </p:nvSpPr>
        <p:spPr>
          <a:xfrm>
            <a:off x="6305550" y="499110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40" name="">
            <a:extLst>
              <a:ext uri="{FF2B5EF4-FFF2-40B4-BE49-F238E27FC236}">
                <ns2:creationId id="{24EFE644-B235-4E8E-9236-14015A1DA199}"/>
              </a:ext>
            </a:extLst>
          </p:cNvPr>
          <p:cNvSpPr>
            <a:spLocks noGrp="1"/>
          </p:cNvSpPr>
          <p:nvPr/>
        </p:nvSpPr>
        <p:spPr>
          <a:xfrm>
            <a:off x="7629525" y="578167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41" name="">
            <a:extLst>
              <a:ext uri="{FF2B5EF4-FFF2-40B4-BE49-F238E27FC236}">
                <ns2:creationId id="{A15518DD-9906-46D4-B6D3-5BF37F5FCBFA}"/>
              </a:ext>
            </a:extLst>
          </p:cNvPr>
          <p:cNvSpPr>
            <a:spLocks noGrp="1"/>
          </p:cNvSpPr>
          <p:nvPr/>
        </p:nvSpPr>
        <p:spPr>
          <a:xfrm>
            <a:off x="8953500" y="65722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42" name="">
            <a:extLst>
              <a:ext uri="{FF2B5EF4-FFF2-40B4-BE49-F238E27FC236}">
                <ns2:creationId id="{7DF02D19-C865-41D8-A104-A5F72B1A2867}"/>
              </a:ext>
            </a:extLst>
          </p:cNvPr>
          <p:cNvSpPr>
            <a:spLocks noGrp="1"/>
          </p:cNvSpPr>
          <p:nvPr/>
        </p:nvSpPr>
        <p:spPr>
          <a:xfrm>
            <a:off x="10277475" y="736282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43" name="">
            <a:extLst>
              <a:ext uri="{FF2B5EF4-FFF2-40B4-BE49-F238E27FC236}">
                <ns2:creationId id="{3F25DE3F-1E8A-4C27-A651-51846ACC6C0D}"/>
              </a:ext>
            </a:extLst>
          </p:cNvPr>
          <p:cNvSpPr>
            <a:spLocks noGrp="1"/>
          </p:cNvSpPr>
          <p:nvPr/>
        </p:nvSpPr>
        <p:spPr>
          <a:xfrm>
            <a:off x="11601450" y="40576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44" name="">
            <a:extLst>
              <a:ext uri="{FF2B5EF4-FFF2-40B4-BE49-F238E27FC236}">
                <ns2:creationId id="{923849A6-A39E-4545-9669-686B342943DF}"/>
              </a:ext>
            </a:extLst>
          </p:cNvPr>
          <p:cNvSpPr>
            <a:spLocks noGrp="1"/>
          </p:cNvSpPr>
          <p:nvPr/>
        </p:nvSpPr>
        <p:spPr>
          <a:xfrm>
            <a:off x="12925425" y="484822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45" name="">
            <a:extLst>
              <a:ext uri="{FF2B5EF4-FFF2-40B4-BE49-F238E27FC236}">
                <ns2:creationId id="{6BF11102-EB8A-4A55-8D93-E397A5AFC79A}"/>
              </a:ext>
            </a:extLst>
          </p:cNvPr>
          <p:cNvSpPr>
            <a:spLocks noGrp="1"/>
          </p:cNvSpPr>
          <p:nvPr/>
        </p:nvSpPr>
        <p:spPr>
          <a:xfrm>
            <a:off x="14249400" y="563880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46" name="">
            <a:extLst>
              <a:ext uri="{FF2B5EF4-FFF2-40B4-BE49-F238E27FC236}">
                <ns2:creationId id="{F61DDFDE-312C-480F-AD7C-27CFEB070F48}"/>
              </a:ext>
            </a:extLst>
          </p:cNvPr>
          <p:cNvSpPr>
            <a:spLocks noGrp="1"/>
          </p:cNvSpPr>
          <p:nvPr/>
        </p:nvSpPr>
        <p:spPr>
          <a:xfrm>
            <a:off x="6334125" y="642937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47" name="">
            <a:extLst>
              <a:ext uri="{FF2B5EF4-FFF2-40B4-BE49-F238E27FC236}">
                <ns2:creationId id="{466517F7-1DD0-45B3-808A-7AE72C2BE04C}"/>
              </a:ext>
            </a:extLst>
          </p:cNvPr>
          <p:cNvSpPr>
            <a:spLocks noGrp="1"/>
          </p:cNvSpPr>
          <p:nvPr/>
        </p:nvSpPr>
        <p:spPr>
          <a:xfrm>
            <a:off x="7658100" y="721995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48" name="">
            <a:extLst>
              <a:ext uri="{FF2B5EF4-FFF2-40B4-BE49-F238E27FC236}">
                <ns2:creationId id="{3E55AA7A-518A-470D-92A4-D4C4B13AC13F}"/>
              </a:ext>
            </a:extLst>
          </p:cNvPr>
          <p:cNvSpPr>
            <a:spLocks noGrp="1"/>
          </p:cNvSpPr>
          <p:nvPr/>
        </p:nvSpPr>
        <p:spPr>
          <a:xfrm>
            <a:off x="8982075" y="391477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49" name="">
            <a:extLst>
              <a:ext uri="{FF2B5EF4-FFF2-40B4-BE49-F238E27FC236}">
                <ns2:creationId id="{5FDBD1EB-ABD8-4458-95FB-FE771A6CA0C2}"/>
              </a:ext>
            </a:extLst>
          </p:cNvPr>
          <p:cNvSpPr>
            <a:spLocks noGrp="1"/>
          </p:cNvSpPr>
          <p:nvPr/>
        </p:nvSpPr>
        <p:spPr>
          <a:xfrm>
            <a:off x="10306050" y="4705350"/>
            <a:ext cx="228600" cy="228600"/>
          </a:xfrm>
          <a:prstGeom prst="rect">
            <a:avLst/>
          </a:prstGeom>
          <a:solidFill>
            <a:srgbClr val="E8E2D3"/>
          </a:solidFill>
        </p:spPr>
      </p:sp>
      <p:sp>
        <p:nvSpPr>
          <p:cNvPr id="50" name="">
            <a:extLst>
              <a:ext uri="{FF2B5EF4-FFF2-40B4-BE49-F238E27FC236}">
                <ns2:creationId id="{1F449525-8C1C-43F6-A10E-0E494291F6F3}"/>
              </a:ext>
            </a:extLst>
          </p:cNvPr>
          <p:cNvSpPr>
            <a:spLocks noGrp="1"/>
          </p:cNvSpPr>
          <p:nvPr/>
        </p:nvSpPr>
        <p:spPr>
          <a:xfrm>
            <a:off x="11630025" y="5495925"/>
            <a:ext cx="266700" cy="266700"/>
          </a:xfrm>
          <a:prstGeom prst="rect">
            <a:avLst/>
          </a:prstGeom>
          <a:solidFill>
            <a:srgbClr val="6BA6FF"/>
          </a:solidFill>
        </p:spPr>
      </p:sp>
      <p:sp>
        <p:nvSpPr>
          <p:cNvPr id="51" name="">
            <a:extLst>
              <a:ext uri="{FF2B5EF4-FFF2-40B4-BE49-F238E27FC236}">
                <ns2:creationId id="{F8F78710-64F4-4E51-A7CD-D0E983E2111C}"/>
              </a:ext>
            </a:extLst>
          </p:cNvPr>
          <p:cNvSpPr>
            <a:spLocks noGrp="1"/>
          </p:cNvSpPr>
          <p:nvPr/>
        </p:nvSpPr>
        <p:spPr>
          <a:xfrm>
            <a:off x="12954000" y="6286500"/>
            <a:ext cx="152400" cy="152400"/>
          </a:xfrm>
          <a:prstGeom prst="rect">
            <a:avLst/>
          </a:prstGeom>
          <a:solidFill>
            <a:srgbClr val="3DA8A0"/>
          </a:solidFill>
        </p:spPr>
      </p:sp>
      <p:sp>
        <p:nvSpPr>
          <p:cNvPr id="52" name="">
            <a:extLst>
              <a:ext uri="{FF2B5EF4-FFF2-40B4-BE49-F238E27FC236}">
                <ns2:creationId id="{7D1CF1C8-6AE9-4D3C-84BE-D221F04948B2}"/>
              </a:ext>
            </a:extLst>
          </p:cNvPr>
          <p:cNvSpPr>
            <a:spLocks noGrp="1"/>
          </p:cNvSpPr>
          <p:nvPr/>
        </p:nvSpPr>
        <p:spPr>
          <a:xfrm>
            <a:off x="14277975" y="7077075"/>
            <a:ext cx="190500" cy="19050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53" name="">
            <a:extLst>
              <a:ext uri="{FF2B5EF4-FFF2-40B4-BE49-F238E27FC236}">
                <ns2:creationId id="{5A3EE131-10ED-42C7-90FA-C5E364D83E30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E8E2D3"/>
                </a:solidFill>
                <a:latin typeface="Inter"/>
                <a:ea typeface="Inter"/>
                <a:cs typeface="Inter"/>
              </a:rPr>
              <a:t>Same pattern: private data stays local, but the interface is inspectable and agent-readable.</a:t>
            </a:r>
          </a:p>
        </p:txBody>
      </p:sp>
    </p:spTree>
    <p:extLst>
      <p:ext uri="{BB962C8B-B14F-4D97-AF65-F5344CB8AC3E}">
        <ns3:creationId val="174259211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B2BD394-C1C7-4DD7-B7C7-C38ED32B95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7615EFC8-AFB7-4514-AC22-A82BE4670B3F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ECFEE734-3F2E-43B2-9795-F4C355A185B6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5CA72809-701C-4660-8DF4-9DD02817A3D7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15 / 21</a:t>
            </a:r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ns3:embed="R44dca28c1da54cfd"/>
          <a:stretch/>
        </p:blipFill>
        <p:spPr>
          <a:xfrm>
            <a:off x="762000" y="1638300"/>
            <a:ext cx="1295400" cy="12954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3FF4499B-E736-43B9-83D9-495E8FA15567}"/>
              </a:ext>
            </a:extLst>
          </p:cNvPr>
          <p:cNvSpPr txBox="1">
            <a:spLocks noGrp="1"/>
          </p:cNvSpPr>
          <p:nvPr/>
        </p:nvSpPr>
        <p:spPr>
          <a:xfrm>
            <a:off x="2381250" y="1638300"/>
            <a:ext cx="133350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Co-typist</a:t>
            </a:r>
          </a:p>
        </p:txBody>
      </p:sp>
      <p:sp>
        <p:nvSpPr>
          <p:cNvPr id="7" name="">
            <a:extLst>
              <a:ext uri="{FF2B5EF4-FFF2-40B4-BE49-F238E27FC236}">
                <ns2:creationId id="{73294E42-EE96-4D21-9965-67F82E6B40FC}"/>
              </a:ext>
            </a:extLst>
          </p:cNvPr>
          <p:cNvSpPr txBox="1">
            <a:spLocks noGrp="1"/>
          </p:cNvSpPr>
          <p:nvPr/>
        </p:nvSpPr>
        <p:spPr>
          <a:xfrm>
            <a:off x="2400300" y="2809875"/>
            <a:ext cx="14668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on-device predictive text for every macOS text field, sitting at the input layer</a:t>
            </a:r>
          </a:p>
        </p:txBody>
      </p:sp>
      <p:sp>
        <p:nvSpPr>
          <p:cNvPr id="8" name="">
            <a:extLst>
              <a:ext uri="{FF2B5EF4-FFF2-40B4-BE49-F238E27FC236}">
                <ns2:creationId id="{214C7D50-A8B9-47D1-A74D-FB7900922F47}"/>
              </a:ext>
            </a:extLst>
          </p:cNvPr>
          <p:cNvSpPr txBox="1">
            <a:spLocks noGrp="1"/>
          </p:cNvSpPr>
          <p:nvPr/>
        </p:nvSpPr>
        <p:spPr>
          <a:xfrm>
            <a:off x="762000" y="3714750"/>
            <a:ext cx="5715000" cy="266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defRPr sz="18750" b="1">
                <a:solidFill>
                  <a:srgbClr val="E97862"/>
                </a:solidFill>
                <a:latin typeface="Inter Tight"/>
                <a:ea typeface="Inter Tight"/>
                <a:cs typeface="Inter Tight"/>
              </a:defRPr>
            </a:pPr>
            <a:r>
              <a:rPr sz="18750" b="1">
                <a:solidFill>
                  <a:srgbClr val="E97862"/>
                </a:solidFill>
                <a:latin typeface="Inter Tight"/>
                <a:ea typeface="Inter Tight"/>
                <a:cs typeface="Inter Tight"/>
              </a:rPr>
              <a:t>0</a:t>
            </a:r>
          </a:p>
        </p:txBody>
      </p:sp>
      <p:sp>
        <p:nvSpPr>
          <p:cNvPr id="9" name="">
            <a:extLst>
              <a:ext uri="{FF2B5EF4-FFF2-40B4-BE49-F238E27FC236}">
                <ns2:creationId id="{24B738CF-B421-41BB-B4B9-2B513FB808F3}"/>
              </a:ext>
            </a:extLst>
          </p:cNvPr>
          <p:cNvSpPr txBox="1">
            <a:spLocks noGrp="1"/>
          </p:cNvSpPr>
          <p:nvPr/>
        </p:nvSpPr>
        <p:spPr>
          <a:xfrm>
            <a:off x="1143000" y="619125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 i="1">
                <a:solidFill>
                  <a:srgbClr val="6E6E6E"/>
                </a:solidFill>
                <a:latin typeface="Inter"/>
                <a:ea typeface="Inter"/>
                <a:cs typeface="Inter"/>
              </a:rPr>
              <a:t>bytes leave the machine</a:t>
            </a:r>
          </a:p>
        </p:txBody>
      </p:sp>
      <p:sp>
        <p:nvSpPr>
          <p:cNvPr id="10" name="">
            <a:extLst>
              <a:ext uri="{FF2B5EF4-FFF2-40B4-BE49-F238E27FC236}">
                <ns2:creationId id="{2CDF4873-C0DE-4706-973C-BEE46A77353F}"/>
              </a:ext>
            </a:extLst>
          </p:cNvPr>
          <p:cNvSpPr>
            <a:spLocks noGrp="1"/>
          </p:cNvSpPr>
          <p:nvPr/>
        </p:nvSpPr>
        <p:spPr>
          <a:xfrm>
            <a:off x="7810500" y="435292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1" name="">
            <a:extLst>
              <a:ext uri="{FF2B5EF4-FFF2-40B4-BE49-F238E27FC236}">
                <ns2:creationId id="{CA313E21-15BB-4F6F-8BE5-6A94B7A338E7}"/>
              </a:ext>
            </a:extLst>
          </p:cNvPr>
          <p:cNvSpPr txBox="1">
            <a:spLocks noGrp="1"/>
          </p:cNvSpPr>
          <p:nvPr/>
        </p:nvSpPr>
        <p:spPr>
          <a:xfrm>
            <a:off x="8115300" y="4238625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System-wide ghost-text: Mail, Notes, Messages, Slack, Obsidian, editors.</a:t>
            </a:r>
          </a:p>
        </p:txBody>
      </p:sp>
      <p:sp>
        <p:nvSpPr>
          <p:cNvPr id="12" name="">
            <a:extLst>
              <a:ext uri="{FF2B5EF4-FFF2-40B4-BE49-F238E27FC236}">
                <ns2:creationId id="{50056FF0-3291-4E90-A818-0BB0A9DB6873}"/>
              </a:ext>
            </a:extLst>
          </p:cNvPr>
          <p:cNvSpPr>
            <a:spLocks noGrp="1"/>
          </p:cNvSpPr>
          <p:nvPr/>
        </p:nvSpPr>
        <p:spPr>
          <a:xfrm>
            <a:off x="7810500" y="5257800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3" name="">
            <a:extLst>
              <a:ext uri="{FF2B5EF4-FFF2-40B4-BE49-F238E27FC236}">
                <ns2:creationId id="{F4747276-CAC0-471C-BB1F-821E52945AB3}"/>
              </a:ext>
            </a:extLst>
          </p:cNvPr>
          <p:cNvSpPr txBox="1">
            <a:spLocks noGrp="1"/>
          </p:cNvSpPr>
          <p:nvPr/>
        </p:nvSpPr>
        <p:spPr>
          <a:xfrm>
            <a:off x="8115300" y="5143500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Apple Foundation Models: runs locally; safe to leave on during sensitive typing.</a:t>
            </a:r>
          </a:p>
        </p:txBody>
      </p:sp>
      <p:sp>
        <p:nvSpPr>
          <p:cNvPr id="14" name="">
            <a:extLst>
              <a:ext uri="{FF2B5EF4-FFF2-40B4-BE49-F238E27FC236}">
                <ns2:creationId id="{6254219D-6F15-4744-82F5-4B21B8B08743}"/>
              </a:ext>
            </a:extLst>
          </p:cNvPr>
          <p:cNvSpPr>
            <a:spLocks noGrp="1"/>
          </p:cNvSpPr>
          <p:nvPr/>
        </p:nvSpPr>
        <p:spPr>
          <a:xfrm>
            <a:off x="7810500" y="6162675"/>
            <a:ext cx="133350" cy="133350"/>
          </a:xfrm>
          <a:prstGeom prst="rect">
            <a:avLst/>
          </a:prstGeom>
          <a:solidFill>
            <a:srgbClr val="E97862"/>
          </a:solidFill>
        </p:spPr>
      </p:sp>
      <p:sp>
        <p:nvSpPr>
          <p:cNvPr id="15" name="">
            <a:extLst>
              <a:ext uri="{FF2B5EF4-FFF2-40B4-BE49-F238E27FC236}">
                <ns2:creationId id="{BDB7E614-E378-4968-8769-A352B4B8DAD7}"/>
              </a:ext>
            </a:extLst>
          </p:cNvPr>
          <p:cNvSpPr txBox="1">
            <a:spLocks noGrp="1"/>
          </p:cNvSpPr>
          <p:nvPr/>
        </p:nvSpPr>
        <p:spPr>
          <a:xfrm>
            <a:off x="8115300" y="6048375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Complements Runner + Codex by speeding up the raw keystroke step everywhere else.</a:t>
            </a:r>
          </a:p>
        </p:txBody>
      </p:sp>
      <p:sp>
        <p:nvSpPr>
          <p:cNvPr id="16" name="">
            <a:extLst>
              <a:ext uri="{FF2B5EF4-FFF2-40B4-BE49-F238E27FC236}">
                <ns2:creationId id="{E1EA7C92-B12D-47E0-A4B9-B694464F0E88}"/>
              </a:ext>
            </a:extLst>
          </p:cNvPr>
          <p:cNvSpPr txBox="1">
            <a:spLocks noGrp="1"/>
          </p:cNvSpPr>
          <p:nvPr/>
        </p:nvSpPr>
        <p:spPr>
          <a:xfrm>
            <a:off x="7810500" y="914400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E6E6E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1">
                <a:solidFill>
                  <a:srgbClr val="6E6E6E"/>
                </a:solidFill>
                <a:latin typeface="JetBrains Mono"/>
                <a:ea typeface="JetBrains Mono"/>
                <a:cs typeface="JetBrains Mono"/>
              </a:rPr>
              <a:t>cotypist.app</a:t>
            </a:r>
          </a:p>
        </p:txBody>
      </p:sp>
    </p:spTree>
    <p:extLst>
      <p:ext uri="{BB962C8B-B14F-4D97-AF65-F5344CB8AC3E}">
        <ns4:creationId val="31970272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D1E9E3E-F250-43E6-9F82-F1DA1A06AF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318CC117-E0B6-4624-8308-2EF4ACE409D4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47D86989-6ACE-4724-B959-06E7DB0A1042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43EBD05D-7CD7-4649-93ED-FBF0E58E30F2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16 / 21</a:t>
            </a:r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ns3:embed="R8e9e3f3c6d2a4911"/>
          <a:stretch/>
        </p:blipFill>
        <p:spPr>
          <a:xfrm>
            <a:off x="762000" y="1638300"/>
            <a:ext cx="1295400" cy="12954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D2D1957E-1CA4-488E-B3E4-42CC3AC836D3}"/>
              </a:ext>
            </a:extLst>
          </p:cNvPr>
          <p:cNvSpPr txBox="1">
            <a:spLocks noGrp="1"/>
          </p:cNvSpPr>
          <p:nvPr/>
        </p:nvSpPr>
        <p:spPr>
          <a:xfrm>
            <a:off x="2381250" y="1638300"/>
            <a:ext cx="13335000" cy="110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72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Codex</a:t>
            </a:r>
          </a:p>
        </p:txBody>
      </p:sp>
      <p:sp>
        <p:nvSpPr>
          <p:cNvPr id="7" name="">
            <a:extLst>
              <a:ext uri="{FF2B5EF4-FFF2-40B4-BE49-F238E27FC236}">
                <ns2:creationId id="{B68D08EF-75C6-4720-83C2-76D9E7E22555}"/>
              </a:ext>
            </a:extLst>
          </p:cNvPr>
          <p:cNvSpPr txBox="1">
            <a:spLocks noGrp="1"/>
          </p:cNvSpPr>
          <p:nvPr/>
        </p:nvSpPr>
        <p:spPr>
          <a:xfrm>
            <a:off x="2400300" y="2809875"/>
            <a:ext cx="1466850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the agentic coding harness I run for every project, built on OpenAI Codex Pro</a:t>
            </a:r>
          </a:p>
        </p:txBody>
      </p:sp>
      <p:sp>
        <p:nvSpPr>
          <p:cNvPr id="8" name="">
            <a:extLst>
              <a:ext uri="{FF2B5EF4-FFF2-40B4-BE49-F238E27FC236}">
                <ns2:creationId id="{9A231237-7DBE-47CA-ADF3-12600382B01F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7905750" cy="4095750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95A7AA47-70BC-423C-9EEB-28DB3082ACF3}"/>
              </a:ext>
            </a:extLst>
          </p:cNvPr>
          <p:cNvSpPr txBox="1">
            <a:spLocks noGrp="1"/>
          </p:cNvSpPr>
          <p:nvPr/>
        </p:nvSpPr>
        <p:spPr>
          <a:xfrm>
            <a:off x="990600" y="4267200"/>
            <a:ext cx="7448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Where it shows up</a:t>
            </a:r>
          </a:p>
        </p:txBody>
      </p:sp>
      <p:sp>
        <p:nvSpPr>
          <p:cNvPr id="10" name="">
            <a:extLst>
              <a:ext uri="{FF2B5EF4-FFF2-40B4-BE49-F238E27FC236}">
                <ns2:creationId id="{13557186-810D-4D61-A9CA-AAFBC14B49F7}"/>
              </a:ext>
            </a:extLst>
          </p:cNvPr>
          <p:cNvSpPr txBox="1">
            <a:spLocks noGrp="1"/>
          </p:cNvSpPr>
          <p:nvPr/>
        </p:nvSpPr>
        <p:spPr>
          <a:xfrm>
            <a:off x="990600" y="4819650"/>
            <a:ext cx="7448550" cy="2952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Personal site frontend + APIs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Personal dashboard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Runner skills + local tooling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Work projects: PRs, scripts, infra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Cross-checked vs. Claude Code locally</a:t>
            </a:r>
          </a:p>
        </p:txBody>
      </p:sp>
      <p:sp>
        <p:nvSpPr>
          <p:cNvPr id="11" name="">
            <a:extLst>
              <a:ext uri="{FF2B5EF4-FFF2-40B4-BE49-F238E27FC236}">
                <ns2:creationId id="{B1305EB4-9D03-4048-8BE5-9DAC7A5ADAF9}"/>
              </a:ext>
            </a:extLst>
          </p:cNvPr>
          <p:cNvSpPr>
            <a:spLocks noGrp="1"/>
          </p:cNvSpPr>
          <p:nvPr/>
        </p:nvSpPr>
        <p:spPr>
          <a:xfrm>
            <a:off x="9239250" y="4000500"/>
            <a:ext cx="7905750" cy="4095750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82A940B-9645-46CF-8662-AA899844BC67}"/>
              </a:ext>
            </a:extLst>
          </p:cNvPr>
          <p:cNvSpPr txBox="1">
            <a:spLocks noGrp="1"/>
          </p:cNvSpPr>
          <p:nvPr/>
        </p:nvSpPr>
        <p:spPr>
          <a:xfrm>
            <a:off x="9467850" y="4267200"/>
            <a:ext cx="74485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The pattern I prefer</a:t>
            </a:r>
          </a:p>
        </p:txBody>
      </p:sp>
      <p:sp>
        <p:nvSpPr>
          <p:cNvPr id="13" name="">
            <a:extLst>
              <a:ext uri="{FF2B5EF4-FFF2-40B4-BE49-F238E27FC236}">
                <ns2:creationId id="{AA26ACF5-BF92-4636-A563-62C9E6BFBE36}"/>
              </a:ext>
            </a:extLst>
          </p:cNvPr>
          <p:cNvSpPr txBox="1">
            <a:spLocks noGrp="1"/>
          </p:cNvSpPr>
          <p:nvPr/>
        </p:nvSpPr>
        <p:spPr>
          <a:xfrm>
            <a:off x="9467850" y="4819650"/>
            <a:ext cx="7448550" cy="2952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1. Deterministic Python orchestrator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2. LLMs only at the leaves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3. Short-lived agents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4. Worktree isolation</a:t>
            </a:r>
          </a:p>
          <a:p>
            <a:pPr algn="l">
              <a:defRPr sz="19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5. File-based state</a:t>
            </a:r>
          </a:p>
        </p:txBody>
      </p:sp>
    </p:spTree>
    <p:extLst>
      <p:ext uri="{BB962C8B-B14F-4D97-AF65-F5344CB8AC3E}">
        <ns4:creationId val="1868053083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38574C9-BAC3-47AE-B2D0-CC277A7E65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ED6DECC9-6844-4907-AA5A-16FF586A8978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8DC666D4-7940-4068-8B83-CB5FD2A7E9D7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2CFA7234-E347-4513-A35C-420D98693D6B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17 / 21</a:t>
            </a:r>
          </a:p>
        </p:txBody>
      </p:sp>
      <p:sp>
        <p:nvSpPr>
          <p:cNvPr id="5" name="">
            <a:extLst>
              <a:ext uri="{FF2B5EF4-FFF2-40B4-BE49-F238E27FC236}">
                <ns2:creationId id="{D0A5292C-B791-4025-AEE7-079BC996838C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How it fits together</a:t>
            </a:r>
          </a:p>
        </p:txBody>
      </p:sp>
      <p:sp>
        <p:nvSpPr>
          <p:cNvPr id="6" name="">
            <a:extLst>
              <a:ext uri="{FF2B5EF4-FFF2-40B4-BE49-F238E27FC236}">
                <ns2:creationId id="{E4AB3611-3FF4-476F-B252-3EA92BFCE4FA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Personal context feeds personal agents which act on a public + built surface.</a:t>
            </a:r>
          </a:p>
        </p:txBody>
      </p:sp>
      <p:sp>
        <p:nvSpPr>
          <p:cNvPr id="7" name="">
            <a:extLst>
              <a:ext uri="{FF2B5EF4-FFF2-40B4-BE49-F238E27FC236}">
                <ns2:creationId id="{7C3FEE30-7074-44A7-BA48-45924B1DEDCC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16764000" cy="1428750"/>
          </a:xfrm>
          <a:prstGeom prst="rect">
            <a:avLst/>
          </a:prstGeom>
          <a:solidFill>
            <a:srgbClr val="E8E2D3"/>
          </a:solidFill>
          <a:ln w="28575">
            <a:solidFill>
              <a:srgbClr val="1F2A4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E86AE773-1079-44FF-8F22-7FC3F4ABEE5C}"/>
              </a:ext>
            </a:extLst>
          </p:cNvPr>
          <p:cNvSpPr txBox="1">
            <a:spLocks noGrp="1"/>
          </p:cNvSpPr>
          <p:nvPr/>
        </p:nvSpPr>
        <p:spPr>
          <a:xfrm>
            <a:off x="1066800" y="40386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A4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F2A4E"/>
                </a:solidFill>
                <a:latin typeface="Inter"/>
                <a:ea typeface="Inter"/>
                <a:cs typeface="Inter"/>
              </a:rPr>
              <a:t>Personal context</a:t>
            </a:r>
          </a:p>
        </p:txBody>
      </p:sp>
      <p:sp>
        <p:nvSpPr>
          <p:cNvPr id="9" name="">
            <a:extLst>
              <a:ext uri="{FF2B5EF4-FFF2-40B4-BE49-F238E27FC236}">
                <ns2:creationId id="{90204A36-50E5-48F7-A78D-8DCCF90B1EEA}"/>
              </a:ext>
            </a:extLst>
          </p:cNvPr>
          <p:cNvSpPr txBox="1">
            <a:spLocks noGrp="1"/>
          </p:cNvSpPr>
          <p:nvPr/>
        </p:nvSpPr>
        <p:spPr>
          <a:xfrm>
            <a:off x="1066800" y="4476750"/>
            <a:ext cx="15240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Obsidian vault  ·  Runner memory  ·  1Password</a:t>
            </a:r>
          </a:p>
        </p:txBody>
      </p:sp>
      <p:sp>
        <p:nvSpPr>
          <p:cNvPr id="10" name="">
            <a:extLst>
              <a:ext uri="{FF2B5EF4-FFF2-40B4-BE49-F238E27FC236}">
                <ns2:creationId id="{D76316FE-E6D5-4668-B32E-F3996312FF37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6764000" cy="1428750"/>
          </a:xfrm>
          <a:prstGeom prst="rect">
            <a:avLst/>
          </a:prstGeom>
          <a:solidFill>
            <a:srgbClr val="121316"/>
          </a:solidFill>
          <a:ln w="28575">
            <a:solidFill>
              <a:srgbClr val="3DA8A0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46562144-D36A-460D-8808-18689F1A2EB1}"/>
              </a:ext>
            </a:extLst>
          </p:cNvPr>
          <p:cNvSpPr txBox="1">
            <a:spLocks noGrp="1"/>
          </p:cNvSpPr>
          <p:nvPr/>
        </p:nvSpPr>
        <p:spPr>
          <a:xfrm>
            <a:off x="1066800" y="565785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Personal agents</a:t>
            </a:r>
          </a:p>
        </p:txBody>
      </p:sp>
      <p:sp>
        <p:nvSpPr>
          <p:cNvPr id="12" name="">
            <a:extLst>
              <a:ext uri="{FF2B5EF4-FFF2-40B4-BE49-F238E27FC236}">
                <ns2:creationId id="{72AAF154-1DC2-46D5-A3F5-55E96DB9810D}"/>
              </a:ext>
            </a:extLst>
          </p:cNvPr>
          <p:cNvSpPr txBox="1">
            <a:spLocks noGrp="1"/>
          </p:cNvSpPr>
          <p:nvPr/>
        </p:nvSpPr>
        <p:spPr>
          <a:xfrm>
            <a:off x="1066800" y="6096000"/>
            <a:ext cx="15240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Runner     Codex     Co-typist</a:t>
            </a:r>
          </a:p>
        </p:txBody>
      </p:sp>
      <p:sp>
        <p:nvSpPr>
          <p:cNvPr id="13" name="">
            <a:extLst>
              <a:ext uri="{FF2B5EF4-FFF2-40B4-BE49-F238E27FC236}">
                <ns2:creationId id="{FBFB6691-EDC7-40B0-99D2-5840D6D54C42}"/>
              </a:ext>
            </a:extLst>
          </p:cNvPr>
          <p:cNvSpPr>
            <a:spLocks noGrp="1"/>
          </p:cNvSpPr>
          <p:nvPr/>
        </p:nvSpPr>
        <p:spPr>
          <a:xfrm>
            <a:off x="762000" y="7048500"/>
            <a:ext cx="16764000" cy="1428750"/>
          </a:xfrm>
          <a:prstGeom prst="rect">
            <a:avLst/>
          </a:prstGeom>
          <a:solidFill>
            <a:srgbClr val="E8E2D3"/>
          </a:solidFill>
          <a:ln w="28575">
            <a:solidFill>
              <a:srgbClr val="E97862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A2732523-745B-4833-AAFF-05896AC31C4A}"/>
              </a:ext>
            </a:extLst>
          </p:cNvPr>
          <p:cNvSpPr txBox="1">
            <a:spLocks noGrp="1"/>
          </p:cNvSpPr>
          <p:nvPr/>
        </p:nvSpPr>
        <p:spPr>
          <a:xfrm>
            <a:off x="1066800" y="72771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97862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E97862"/>
                </a:solidFill>
                <a:latin typeface="Inter"/>
                <a:ea typeface="Inter"/>
                <a:cs typeface="Inter"/>
              </a:rPr>
              <a:t>Built surface</a:t>
            </a:r>
          </a:p>
        </p:txBody>
      </p:sp>
      <p:sp>
        <p:nvSpPr>
          <p:cNvPr id="15" name="">
            <a:extLst>
              <a:ext uri="{FF2B5EF4-FFF2-40B4-BE49-F238E27FC236}">
                <ns2:creationId id="{516138A6-D302-4CD4-8B8D-E713903528BB}"/>
              </a:ext>
            </a:extLst>
          </p:cNvPr>
          <p:cNvSpPr txBox="1">
            <a:spLocks noGrp="1"/>
          </p:cNvSpPr>
          <p:nvPr/>
        </p:nvSpPr>
        <p:spPr>
          <a:xfrm>
            <a:off x="1066800" y="7715250"/>
            <a:ext cx="15240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site     Personal dashboard     APIs</a:t>
            </a:r>
          </a:p>
        </p:txBody>
      </p:sp>
    </p:spTree>
    <p:extLst>
      <p:ext uri="{BB962C8B-B14F-4D97-AF65-F5344CB8AC3E}">
        <ns3:creationId val="1032834523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264A651-221D-405A-8939-F29034B9B1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FD2B045B-566F-4C64-A541-3E6C3D1762E4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57204AEF-0104-46A8-9D70-9EF8DC444FA1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51D20003-9BEE-4B2C-A2D0-13DD26D25500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18 / 21</a:t>
            </a:r>
          </a:p>
        </p:txBody>
      </p:sp>
      <p:sp>
        <p:nvSpPr>
          <p:cNvPr id="5" name="">
            <a:extLst>
              <a:ext uri="{FF2B5EF4-FFF2-40B4-BE49-F238E27FC236}">
                <ns2:creationId id="{373CA00A-274A-46AA-A0F3-1F1438ACC234}"/>
              </a:ext>
            </a:extLst>
          </p:cNvPr>
          <p:cNvSpPr txBox="1">
            <a:spLocks noGrp="1"/>
          </p:cNvSpPr>
          <p:nvPr/>
        </p:nvSpPr>
        <p:spPr>
          <a:xfrm>
            <a:off x="762000" y="1571625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 request becomes a graph of work</a:t>
            </a:r>
          </a:p>
        </p:txBody>
      </p:sp>
      <p:sp>
        <p:nvSpPr>
          <p:cNvPr id="6" name="">
            <a:extLst>
              <a:ext uri="{FF2B5EF4-FFF2-40B4-BE49-F238E27FC236}">
                <ns2:creationId id="{CFE044CA-8663-4A57-9415-34A4ABB2B047}"/>
              </a:ext>
            </a:extLst>
          </p:cNvPr>
          <p:cNvSpPr txBox="1">
            <a:spLocks noGrp="1"/>
          </p:cNvSpPr>
          <p:nvPr/>
        </p:nvSpPr>
        <p:spPr>
          <a:xfrm>
            <a:off x="781050" y="2486025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Pull context, act through tools, write learnings back.</a:t>
            </a:r>
          </a:p>
        </p:txBody>
      </p:sp>
      <p:sp>
        <p:nvSpPr>
          <p:cNvPr id="7" name="">
            <a:extLst>
              <a:ext uri="{FF2B5EF4-FFF2-40B4-BE49-F238E27FC236}">
                <ns2:creationId id="{607265E0-1864-4B89-9AC9-CB1BFFCA12BB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333625" cy="2238375"/>
          </a:xfrm>
          <a:prstGeom prst="rect">
            <a:avLst/>
          </a:prstGeom>
          <a:solidFill>
            <a:srgbClr val="121316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6ECAC47-50C2-4597-A6E1-30CC283F2EBE}"/>
              </a:ext>
            </a:extLst>
          </p:cNvPr>
          <p:cNvSpPr txBox="1">
            <a:spLocks noGrp="1"/>
          </p:cNvSpPr>
          <p:nvPr/>
        </p:nvSpPr>
        <p:spPr>
          <a:xfrm>
            <a:off x="9715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ns2:creationId id="{A9633236-DC03-4F90-8BB9-A0FC5584F56A}"/>
              </a:ext>
            </a:extLst>
          </p:cNvPr>
          <p:cNvSpPr txBox="1">
            <a:spLocks noGrp="1"/>
          </p:cNvSpPr>
          <p:nvPr/>
        </p:nvSpPr>
        <p:spPr>
          <a:xfrm>
            <a:off x="9715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Ask</a:t>
            </a:r>
          </a:p>
        </p:txBody>
      </p:sp>
      <p:sp>
        <p:nvSpPr>
          <p:cNvPr id="10" name="">
            <a:extLst>
              <a:ext uri="{FF2B5EF4-FFF2-40B4-BE49-F238E27FC236}">
                <ns2:creationId id="{34D7B751-25C8-4D3E-BA6C-86B526A2F322}"/>
              </a:ext>
            </a:extLst>
          </p:cNvPr>
          <p:cNvSpPr txBox="1">
            <a:spLocks noGrp="1"/>
          </p:cNvSpPr>
          <p:nvPr/>
        </p:nvSpPr>
        <p:spPr>
          <a:xfrm>
            <a:off x="9715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Draft follow-ups</a:t>
            </a:r>
          </a:p>
        </p:txBody>
      </p:sp>
      <p:sp>
        <p:nvSpPr>
          <p:cNvPr id="11" name="">
            <a:extLst>
              <a:ext uri="{FF2B5EF4-FFF2-40B4-BE49-F238E27FC236}">
                <ns2:creationId id="{D7D1AC18-590C-4B5C-9E7A-2CD2E688FE02}"/>
              </a:ext>
            </a:extLst>
          </p:cNvPr>
          <p:cNvSpPr txBox="1">
            <a:spLocks noGrp="1"/>
          </p:cNvSpPr>
          <p:nvPr/>
        </p:nvSpPr>
        <p:spPr>
          <a:xfrm>
            <a:off x="3190875" y="476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12" name="">
            <a:extLst>
              <a:ext uri="{FF2B5EF4-FFF2-40B4-BE49-F238E27FC236}">
                <ns2:creationId id="{76C7D071-D7F0-4CA0-98C1-95708F95B6F3}"/>
              </a:ext>
            </a:extLst>
          </p:cNvPr>
          <p:cNvSpPr>
            <a:spLocks noGrp="1"/>
          </p:cNvSpPr>
          <p:nvPr/>
        </p:nvSpPr>
        <p:spPr>
          <a:xfrm>
            <a:off x="3619500" y="4000500"/>
            <a:ext cx="2333625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1F2A4E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7D3D1698-9995-4F54-AFE0-0C0CDF57BF25}"/>
              </a:ext>
            </a:extLst>
          </p:cNvPr>
          <p:cNvSpPr txBox="1">
            <a:spLocks noGrp="1"/>
          </p:cNvSpPr>
          <p:nvPr/>
        </p:nvSpPr>
        <p:spPr>
          <a:xfrm>
            <a:off x="38290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F2A4E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1F2A4E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sp>
        <p:nvSpPr>
          <p:cNvPr id="14" name="">
            <a:extLst>
              <a:ext uri="{FF2B5EF4-FFF2-40B4-BE49-F238E27FC236}">
                <ns2:creationId id="{D539E59E-6EB1-4D38-8DB3-4865A17EACDB}"/>
              </a:ext>
            </a:extLst>
          </p:cNvPr>
          <p:cNvSpPr txBox="1">
            <a:spLocks noGrp="1"/>
          </p:cNvSpPr>
          <p:nvPr/>
        </p:nvSpPr>
        <p:spPr>
          <a:xfrm>
            <a:off x="38290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Context pull</a:t>
            </a:r>
          </a:p>
        </p:txBody>
      </p:sp>
      <p:sp>
        <p:nvSpPr>
          <p:cNvPr id="15" name="">
            <a:extLst>
              <a:ext uri="{FF2B5EF4-FFF2-40B4-BE49-F238E27FC236}">
                <ns2:creationId id="{4DE83581-832C-468E-8D01-AB4BDD5B6FD5}"/>
              </a:ext>
            </a:extLst>
          </p:cNvPr>
          <p:cNvSpPr txBox="1">
            <a:spLocks noGrp="1"/>
          </p:cNvSpPr>
          <p:nvPr/>
        </p:nvSpPr>
        <p:spPr>
          <a:xfrm>
            <a:off x="38290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memory · contacts</a:t>
            </a:r>
          </a:p>
        </p:txBody>
      </p:sp>
      <p:sp>
        <p:nvSpPr>
          <p:cNvPr id="16" name="">
            <a:extLst>
              <a:ext uri="{FF2B5EF4-FFF2-40B4-BE49-F238E27FC236}">
                <ns2:creationId id="{332DD299-F3FF-4BF1-842C-2279C533EF4D}"/>
              </a:ext>
            </a:extLst>
          </p:cNvPr>
          <p:cNvSpPr txBox="1">
            <a:spLocks noGrp="1"/>
          </p:cNvSpPr>
          <p:nvPr/>
        </p:nvSpPr>
        <p:spPr>
          <a:xfrm>
            <a:off x="6048375" y="476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17" name="">
            <a:extLst>
              <a:ext uri="{FF2B5EF4-FFF2-40B4-BE49-F238E27FC236}">
                <ns2:creationId id="{73DF17A4-835E-4553-B1DA-E5890623246C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2333625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A980FC9F-2995-4AB6-8BA8-4AA88F8FF46A}"/>
              </a:ext>
            </a:extLst>
          </p:cNvPr>
          <p:cNvSpPr txBox="1">
            <a:spLocks noGrp="1"/>
          </p:cNvSpPr>
          <p:nvPr/>
        </p:nvSpPr>
        <p:spPr>
          <a:xfrm>
            <a:off x="66865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3</a:t>
            </a:r>
          </a:p>
        </p:txBody>
      </p:sp>
      <p:sp>
        <p:nvSpPr>
          <p:cNvPr id="19" name="">
            <a:extLst>
              <a:ext uri="{FF2B5EF4-FFF2-40B4-BE49-F238E27FC236}">
                <ns2:creationId id="{B9990E0F-00F4-452A-8D22-20D32FAEE74A}"/>
              </a:ext>
            </a:extLst>
          </p:cNvPr>
          <p:cNvSpPr txBox="1">
            <a:spLocks noGrp="1"/>
          </p:cNvSpPr>
          <p:nvPr/>
        </p:nvSpPr>
        <p:spPr>
          <a:xfrm>
            <a:off x="66865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Tools</a:t>
            </a:r>
          </a:p>
        </p:txBody>
      </p:sp>
      <p:sp>
        <p:nvSpPr>
          <p:cNvPr id="20" name="">
            <a:extLst>
              <a:ext uri="{FF2B5EF4-FFF2-40B4-BE49-F238E27FC236}">
                <ns2:creationId id="{5830BAF4-95D0-4E73-B904-E916F5D6FEFD}"/>
              </a:ext>
            </a:extLst>
          </p:cNvPr>
          <p:cNvSpPr txBox="1">
            <a:spLocks noGrp="1"/>
          </p:cNvSpPr>
          <p:nvPr/>
        </p:nvSpPr>
        <p:spPr>
          <a:xfrm>
            <a:off x="66865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calendar · inbox</a:t>
            </a:r>
          </a:p>
        </p:txBody>
      </p:sp>
      <p:sp>
        <p:nvSpPr>
          <p:cNvPr id="21" name="">
            <a:extLst>
              <a:ext uri="{FF2B5EF4-FFF2-40B4-BE49-F238E27FC236}">
                <ns2:creationId id="{895F01F3-DBE3-4CF3-A51C-A93EAA9A112D}"/>
              </a:ext>
            </a:extLst>
          </p:cNvPr>
          <p:cNvSpPr txBox="1">
            <a:spLocks noGrp="1"/>
          </p:cNvSpPr>
          <p:nvPr/>
        </p:nvSpPr>
        <p:spPr>
          <a:xfrm>
            <a:off x="8905875" y="476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22" name="">
            <a:extLst>
              <a:ext uri="{FF2B5EF4-FFF2-40B4-BE49-F238E27FC236}">
                <ns2:creationId id="{664C43CB-B57F-4725-9278-7B08BA75CE93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333625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E97862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0C9F9D5-D35F-4E59-B527-D74DDE98E29E}"/>
              </a:ext>
            </a:extLst>
          </p:cNvPr>
          <p:cNvSpPr txBox="1">
            <a:spLocks noGrp="1"/>
          </p:cNvSpPr>
          <p:nvPr/>
        </p:nvSpPr>
        <p:spPr>
          <a:xfrm>
            <a:off x="95440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E97862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E97862"/>
                </a:solidFill>
                <a:latin typeface="Inter Tight"/>
                <a:ea typeface="Inter Tight"/>
                <a:cs typeface="Inter Tight"/>
              </a:rPr>
              <a:t>4</a:t>
            </a:r>
          </a:p>
        </p:txBody>
      </p:sp>
      <p:sp>
        <p:nvSpPr>
          <p:cNvPr id="24" name="">
            <a:extLst>
              <a:ext uri="{FF2B5EF4-FFF2-40B4-BE49-F238E27FC236}">
                <ns2:creationId id="{FEA0568B-3F41-4F62-80A7-E055F41B7783}"/>
              </a:ext>
            </a:extLst>
          </p:cNvPr>
          <p:cNvSpPr txBox="1">
            <a:spLocks noGrp="1"/>
          </p:cNvSpPr>
          <p:nvPr/>
        </p:nvSpPr>
        <p:spPr>
          <a:xfrm>
            <a:off x="95440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Voice</a:t>
            </a:r>
          </a:p>
        </p:txBody>
      </p:sp>
      <p:sp>
        <p:nvSpPr>
          <p:cNvPr id="25" name="">
            <a:extLst>
              <a:ext uri="{FF2B5EF4-FFF2-40B4-BE49-F238E27FC236}">
                <ns2:creationId id="{D16E205E-AD29-4FB4-9926-8E27E433B00E}"/>
              </a:ext>
            </a:extLst>
          </p:cNvPr>
          <p:cNvSpPr txBox="1">
            <a:spLocks noGrp="1"/>
          </p:cNvSpPr>
          <p:nvPr/>
        </p:nvSpPr>
        <p:spPr>
          <a:xfrm>
            <a:off x="95440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style profile</a:t>
            </a:r>
          </a:p>
        </p:txBody>
      </p:sp>
      <p:sp>
        <p:nvSpPr>
          <p:cNvPr id="26" name="">
            <a:extLst>
              <a:ext uri="{FF2B5EF4-FFF2-40B4-BE49-F238E27FC236}">
                <ns2:creationId id="{DE11163F-4205-4203-B221-E50CD4FFC4B1}"/>
              </a:ext>
            </a:extLst>
          </p:cNvPr>
          <p:cNvSpPr txBox="1">
            <a:spLocks noGrp="1"/>
          </p:cNvSpPr>
          <p:nvPr/>
        </p:nvSpPr>
        <p:spPr>
          <a:xfrm>
            <a:off x="11763375" y="476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27" name="">
            <a:extLst>
              <a:ext uri="{FF2B5EF4-FFF2-40B4-BE49-F238E27FC236}">
                <ns2:creationId id="{D4F6B35B-C8B1-4682-A495-97F866985DC7}"/>
              </a:ext>
            </a:extLst>
          </p:cNvPr>
          <p:cNvSpPr>
            <a:spLocks noGrp="1"/>
          </p:cNvSpPr>
          <p:nvPr/>
        </p:nvSpPr>
        <p:spPr>
          <a:xfrm>
            <a:off x="12192000" y="4000500"/>
            <a:ext cx="2333625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1F2A4E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122EC8CF-6C8B-476B-A647-30E8ED1ACE22}"/>
              </a:ext>
            </a:extLst>
          </p:cNvPr>
          <p:cNvSpPr txBox="1">
            <a:spLocks noGrp="1"/>
          </p:cNvSpPr>
          <p:nvPr/>
        </p:nvSpPr>
        <p:spPr>
          <a:xfrm>
            <a:off x="124015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F2A4E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1F2A4E"/>
                </a:solidFill>
                <a:latin typeface="Inter Tight"/>
                <a:ea typeface="Inter Tight"/>
                <a:cs typeface="Inter Tight"/>
              </a:rPr>
              <a:t>5</a:t>
            </a:r>
          </a:p>
        </p:txBody>
      </p:sp>
      <p:sp>
        <p:nvSpPr>
          <p:cNvPr id="29" name="">
            <a:extLst>
              <a:ext uri="{FF2B5EF4-FFF2-40B4-BE49-F238E27FC236}">
                <ns2:creationId id="{76640B8D-EF11-4344-9F17-384F80599234}"/>
              </a:ext>
            </a:extLst>
          </p:cNvPr>
          <p:cNvSpPr txBox="1">
            <a:spLocks noGrp="1"/>
          </p:cNvSpPr>
          <p:nvPr/>
        </p:nvSpPr>
        <p:spPr>
          <a:xfrm>
            <a:off x="124015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Action cards</a:t>
            </a:r>
          </a:p>
        </p:txBody>
      </p:sp>
      <p:sp>
        <p:nvSpPr>
          <p:cNvPr id="30" name="">
            <a:extLst>
              <a:ext uri="{FF2B5EF4-FFF2-40B4-BE49-F238E27FC236}">
                <ns2:creationId id="{4D3D18B0-7B93-46D0-8093-3337CFD24F1D}"/>
              </a:ext>
            </a:extLst>
          </p:cNvPr>
          <p:cNvSpPr txBox="1">
            <a:spLocks noGrp="1"/>
          </p:cNvSpPr>
          <p:nvPr/>
        </p:nvSpPr>
        <p:spPr>
          <a:xfrm>
            <a:off x="124015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editable drafts</a:t>
            </a:r>
          </a:p>
        </p:txBody>
      </p:sp>
      <p:sp>
        <p:nvSpPr>
          <p:cNvPr id="31" name="">
            <a:extLst>
              <a:ext uri="{FF2B5EF4-FFF2-40B4-BE49-F238E27FC236}">
                <ns2:creationId id="{F29B9AED-437A-4731-91FD-34D0C54DDC84}"/>
              </a:ext>
            </a:extLst>
          </p:cNvPr>
          <p:cNvSpPr txBox="1">
            <a:spLocks noGrp="1"/>
          </p:cNvSpPr>
          <p:nvPr/>
        </p:nvSpPr>
        <p:spPr>
          <a:xfrm>
            <a:off x="14620875" y="4762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defRPr>
            </a:pPr>
            <a:r>
              <a:rPr sz="3150" b="0">
                <a:solidFill>
                  <a:srgbClr val="6E6E6E"/>
                </a:solidFill>
                <a:latin typeface="Inter Tight"/>
                <a:ea typeface="Inter Tight"/>
                <a:cs typeface="Inter Tight"/>
              </a:rPr>
              <a:t>→</a:t>
            </a:r>
          </a:p>
        </p:txBody>
      </p:sp>
      <p:sp>
        <p:nvSpPr>
          <p:cNvPr id="32" name="">
            <a:extLst>
              <a:ext uri="{FF2B5EF4-FFF2-40B4-BE49-F238E27FC236}">
                <ns2:creationId id="{B359EC25-2D7F-48B1-B490-1F0201D699A3}"/>
              </a:ext>
            </a:extLst>
          </p:cNvPr>
          <p:cNvSpPr>
            <a:spLocks noGrp="1"/>
          </p:cNvSpPr>
          <p:nvPr/>
        </p:nvSpPr>
        <p:spPr>
          <a:xfrm>
            <a:off x="15049500" y="4000500"/>
            <a:ext cx="2333625" cy="2238375"/>
          </a:xfrm>
          <a:prstGeom prst="rect">
            <a:avLst/>
          </a:prstGeom>
          <a:solidFill>
            <a:srgbClr val="E8E2D3"/>
          </a:solidFill>
          <a:ln w="19050">
            <a:solidFill>
              <a:srgbClr val="3DA8A0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14C6463F-811E-46B9-A42C-6D546B9FAFD4}"/>
              </a:ext>
            </a:extLst>
          </p:cNvPr>
          <p:cNvSpPr txBox="1">
            <a:spLocks noGrp="1"/>
          </p:cNvSpPr>
          <p:nvPr/>
        </p:nvSpPr>
        <p:spPr>
          <a:xfrm>
            <a:off x="15259050" y="42291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defRPr>
            </a:pPr>
            <a:r>
              <a:rPr sz="2400" b="1">
                <a:solidFill>
                  <a:srgbClr val="3DA8A0"/>
                </a:solidFill>
                <a:latin typeface="Inter Tight"/>
                <a:ea typeface="Inter Tight"/>
                <a:cs typeface="Inter Tight"/>
              </a:rPr>
              <a:t>6</a:t>
            </a:r>
          </a:p>
        </p:txBody>
      </p:sp>
      <p:sp>
        <p:nvSpPr>
          <p:cNvPr id="34" name="">
            <a:extLst>
              <a:ext uri="{FF2B5EF4-FFF2-40B4-BE49-F238E27FC236}">
                <ns2:creationId id="{50D8F322-410F-4A73-9B2E-8DE3BD1C57D7}"/>
              </a:ext>
            </a:extLst>
          </p:cNvPr>
          <p:cNvSpPr txBox="1">
            <a:spLocks noGrp="1"/>
          </p:cNvSpPr>
          <p:nvPr/>
        </p:nvSpPr>
        <p:spPr>
          <a:xfrm>
            <a:off x="15259050" y="47625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19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File back</a:t>
            </a:r>
          </a:p>
        </p:txBody>
      </p:sp>
      <p:sp>
        <p:nvSpPr>
          <p:cNvPr id="35" name="">
            <a:extLst>
              <a:ext uri="{FF2B5EF4-FFF2-40B4-BE49-F238E27FC236}">
                <ns2:creationId id="{93C34DDA-33FD-4D57-9437-8845148536FD}"/>
              </a:ext>
            </a:extLst>
          </p:cNvPr>
          <p:cNvSpPr txBox="1">
            <a:spLocks noGrp="1"/>
          </p:cNvSpPr>
          <p:nvPr/>
        </p:nvSpPr>
        <p:spPr>
          <a:xfrm>
            <a:off x="15259050" y="5257800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wiki · log</a:t>
            </a:r>
          </a:p>
        </p:txBody>
      </p:sp>
      <p:sp>
        <p:nvSpPr>
          <p:cNvPr id="36" name="">
            <a:extLst>
              <a:ext uri="{FF2B5EF4-FFF2-40B4-BE49-F238E27FC236}">
                <ns2:creationId id="{C44A79B9-8C81-4F6E-8473-651655EDC4D7}"/>
              </a:ext>
            </a:extLst>
          </p:cNvPr>
          <p:cNvSpPr>
            <a:spLocks noGrp="1"/>
          </p:cNvSpPr>
          <p:nvPr/>
        </p:nvSpPr>
        <p:spPr>
          <a:xfrm>
            <a:off x="762000" y="6905625"/>
            <a:ext cx="5381625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F69DDCA6-6CFA-43A5-9A54-4407F65D9CB7}"/>
              </a:ext>
            </a:extLst>
          </p:cNvPr>
          <p:cNvSpPr txBox="1">
            <a:spLocks noGrp="1"/>
          </p:cNvSpPr>
          <p:nvPr/>
        </p:nvSpPr>
        <p:spPr>
          <a:xfrm>
            <a:off x="990600" y="717232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Reads are broad</a:t>
            </a:r>
          </a:p>
        </p:txBody>
      </p:sp>
      <p:sp>
        <p:nvSpPr>
          <p:cNvPr id="38" name="">
            <a:extLst>
              <a:ext uri="{FF2B5EF4-FFF2-40B4-BE49-F238E27FC236}">
                <ns2:creationId id="{7465E440-05C1-4665-9BAF-A6D8C8D35B6F}"/>
              </a:ext>
            </a:extLst>
          </p:cNvPr>
          <p:cNvSpPr txBox="1">
            <a:spLocks noGrp="1"/>
          </p:cNvSpPr>
          <p:nvPr/>
        </p:nvSpPr>
        <p:spPr>
          <a:xfrm>
            <a:off x="990600" y="7724775"/>
            <a:ext cx="4924425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The agent can search vault, calendar, inbox, docs, browser and project systems.</a:t>
            </a:r>
          </a:p>
        </p:txBody>
      </p:sp>
      <p:sp>
        <p:nvSpPr>
          <p:cNvPr id="39" name="">
            <a:extLst>
              <a:ext uri="{FF2B5EF4-FFF2-40B4-BE49-F238E27FC236}">
                <ns2:creationId id="{0624A56E-7CFF-4EB1-BAA8-33D0997BA6C4}"/>
              </a:ext>
            </a:extLst>
          </p:cNvPr>
          <p:cNvSpPr>
            <a:spLocks noGrp="1"/>
          </p:cNvSpPr>
          <p:nvPr/>
        </p:nvSpPr>
        <p:spPr>
          <a:xfrm>
            <a:off x="6429375" y="6905625"/>
            <a:ext cx="5381625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4E6E21D1-96CC-402E-AFFC-FD15A28D7546}"/>
              </a:ext>
            </a:extLst>
          </p:cNvPr>
          <p:cNvSpPr txBox="1">
            <a:spLocks noGrp="1"/>
          </p:cNvSpPr>
          <p:nvPr/>
        </p:nvSpPr>
        <p:spPr>
          <a:xfrm>
            <a:off x="6657975" y="717232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Writes are bounded</a:t>
            </a:r>
          </a:p>
        </p:txBody>
      </p:sp>
      <p:sp>
        <p:nvSpPr>
          <p:cNvPr id="41" name="">
            <a:extLst>
              <a:ext uri="{FF2B5EF4-FFF2-40B4-BE49-F238E27FC236}">
                <ns2:creationId id="{E1F2E2CD-C46D-4A41-B2D4-75B1BB6456E7}"/>
              </a:ext>
            </a:extLst>
          </p:cNvPr>
          <p:cNvSpPr txBox="1">
            <a:spLocks noGrp="1"/>
          </p:cNvSpPr>
          <p:nvPr/>
        </p:nvSpPr>
        <p:spPr>
          <a:xfrm>
            <a:off x="6657975" y="7724775"/>
            <a:ext cx="4924425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Drafts, files, issues and code can be prepared; irreversible actions stay approval-gated.</a:t>
            </a:r>
          </a:p>
        </p:txBody>
      </p:sp>
      <p:sp>
        <p:nvSpPr>
          <p:cNvPr id="42" name="">
            <a:extLst>
              <a:ext uri="{FF2B5EF4-FFF2-40B4-BE49-F238E27FC236}">
                <ns2:creationId id="{ADFD130A-1C50-4DA6-803F-A25363D6F569}"/>
              </a:ext>
            </a:extLst>
          </p:cNvPr>
          <p:cNvSpPr>
            <a:spLocks noGrp="1"/>
          </p:cNvSpPr>
          <p:nvPr/>
        </p:nvSpPr>
        <p:spPr>
          <a:xfrm>
            <a:off x="12096750" y="6905625"/>
            <a:ext cx="5381625" cy="16192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2971C907-9BE2-4254-84EB-DE792F1924B0}"/>
              </a:ext>
            </a:extLst>
          </p:cNvPr>
          <p:cNvSpPr txBox="1">
            <a:spLocks noGrp="1"/>
          </p:cNvSpPr>
          <p:nvPr/>
        </p:nvSpPr>
        <p:spPr>
          <a:xfrm>
            <a:off x="12325350" y="717232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The vault learns</a:t>
            </a:r>
          </a:p>
        </p:txBody>
      </p:sp>
      <p:sp>
        <p:nvSpPr>
          <p:cNvPr id="44" name="">
            <a:extLst>
              <a:ext uri="{FF2B5EF4-FFF2-40B4-BE49-F238E27FC236}">
                <ns2:creationId id="{850DD123-F34F-493B-A5BF-371D120D555B}"/>
              </a:ext>
            </a:extLst>
          </p:cNvPr>
          <p:cNvSpPr txBox="1">
            <a:spLocks noGrp="1"/>
          </p:cNvSpPr>
          <p:nvPr/>
        </p:nvSpPr>
        <p:spPr>
          <a:xfrm>
            <a:off x="12325350" y="7724775"/>
            <a:ext cx="4924425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Useful outcomes become linked markdown, not transient chat transcript.</a:t>
            </a:r>
          </a:p>
        </p:txBody>
      </p:sp>
    </p:spTree>
    <p:extLst>
      <p:ext uri="{BB962C8B-B14F-4D97-AF65-F5344CB8AC3E}">
        <ns3:creationId val="110839504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8D3040A5-A971-4AA0-84D5-D43A97786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A414A1C0-6789-45AD-AAE7-7877C647FA6C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3D8E5275-B07A-4777-9613-2B5112206DBE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67EBF75C-44B0-4C1F-AB42-4243A90D05F9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19 / 21</a:t>
            </a:r>
          </a:p>
        </p:txBody>
      </p:sp>
      <p:sp>
        <p:nvSpPr>
          <p:cNvPr id="5" name="">
            <a:extLst>
              <a:ext uri="{FF2B5EF4-FFF2-40B4-BE49-F238E27FC236}">
                <ns2:creationId id="{58270634-4236-490D-A7EB-650E1D46F673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The operating rails</a:t>
            </a:r>
          </a:p>
        </p:txBody>
      </p:sp>
      <p:sp>
        <p:nvSpPr>
          <p:cNvPr id="6" name="">
            <a:extLst>
              <a:ext uri="{FF2B5EF4-FFF2-40B4-BE49-F238E27FC236}">
                <ns2:creationId id="{6155D9C7-EB30-49B4-9DF5-478A4B7FDBA8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What keeps the workflow reliable when the tool surface gets large.</a:t>
            </a:r>
          </a:p>
        </p:txBody>
      </p:sp>
      <p:sp>
        <p:nvSpPr>
          <p:cNvPr id="7" name="">
            <a:extLst>
              <a:ext uri="{FF2B5EF4-FFF2-40B4-BE49-F238E27FC236}">
                <ns2:creationId id="{34048916-B8DA-4294-B16D-A6A1DDBF214A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5429250" cy="18097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AB2D53B-9D9A-4B0D-B454-C995F9DF2B86}"/>
              </a:ext>
            </a:extLst>
          </p:cNvPr>
          <p:cNvSpPr txBox="1">
            <a:spLocks noGrp="1"/>
          </p:cNvSpPr>
          <p:nvPr/>
        </p:nvSpPr>
        <p:spPr>
          <a:xfrm>
            <a:off x="990600" y="40195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BRAIN</a:t>
            </a:r>
          </a:p>
        </p:txBody>
      </p:sp>
      <p:sp>
        <p:nvSpPr>
          <p:cNvPr id="9" name="">
            <a:extLst>
              <a:ext uri="{FF2B5EF4-FFF2-40B4-BE49-F238E27FC236}">
                <ns2:creationId id="{383A2DBF-C79D-4041-A77D-5D610025F25E}"/>
              </a:ext>
            </a:extLst>
          </p:cNvPr>
          <p:cNvSpPr txBox="1">
            <a:spLocks noGrp="1"/>
          </p:cNvSpPr>
          <p:nvPr/>
        </p:nvSpPr>
        <p:spPr>
          <a:xfrm>
            <a:off x="990600" y="4381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Vault contract</a:t>
            </a:r>
          </a:p>
        </p:txBody>
      </p:sp>
      <p:sp>
        <p:nvSpPr>
          <p:cNvPr id="10" name="">
            <a:extLst>
              <a:ext uri="{FF2B5EF4-FFF2-40B4-BE49-F238E27FC236}">
                <ns2:creationId id="{35797543-C9AC-4146-BE94-9FF8E2682776}"/>
              </a:ext>
            </a:extLst>
          </p:cNvPr>
          <p:cNvSpPr txBox="1">
            <a:spLocks noGrp="1"/>
          </p:cNvSpPr>
          <p:nvPr/>
        </p:nvSpPr>
        <p:spPr>
          <a:xfrm>
            <a:off x="990600" y="487680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CLAUDE.md defines schema; wiki/raw/explorations make knowledge navigable.</a:t>
            </a:r>
          </a:p>
        </p:txBody>
      </p:sp>
      <p:sp>
        <p:nvSpPr>
          <p:cNvPr id="11" name="">
            <a:extLst>
              <a:ext uri="{FF2B5EF4-FFF2-40B4-BE49-F238E27FC236}">
                <ns2:creationId id="{7A7271A3-118A-4E72-8A47-88FB248E41B1}"/>
              </a:ext>
            </a:extLst>
          </p:cNvPr>
          <p:cNvSpPr>
            <a:spLocks noGrp="1"/>
          </p:cNvSpPr>
          <p:nvPr/>
        </p:nvSpPr>
        <p:spPr>
          <a:xfrm>
            <a:off x="6419850" y="3810000"/>
            <a:ext cx="5429250" cy="1809750"/>
          </a:xfrm>
          <a:prstGeom prst="rect">
            <a:avLst/>
          </a:prstGeom>
          <a:solidFill>
            <a:srgbClr val="121316"/>
          </a:solidFill>
          <a:ln w="19050">
            <a:solidFill>
              <a:srgbClr val="121316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41CC0A6-53D5-47A8-80BE-24EFA8580D3B}"/>
              </a:ext>
            </a:extLst>
          </p:cNvPr>
          <p:cNvSpPr txBox="1">
            <a:spLocks noGrp="1"/>
          </p:cNvSpPr>
          <p:nvPr/>
        </p:nvSpPr>
        <p:spPr>
          <a:xfrm>
            <a:off x="6648450" y="40195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MUSCLE</a:t>
            </a:r>
          </a:p>
        </p:txBody>
      </p:sp>
      <p:sp>
        <p:nvSpPr>
          <p:cNvPr id="13" name="">
            <a:extLst>
              <a:ext uri="{FF2B5EF4-FFF2-40B4-BE49-F238E27FC236}">
                <ns2:creationId id="{B3C2D2F0-1843-4D0C-BF93-D5DD09E0448A}"/>
              </a:ext>
            </a:extLst>
          </p:cNvPr>
          <p:cNvSpPr txBox="1">
            <a:spLocks noGrp="1"/>
          </p:cNvSpPr>
          <p:nvPr/>
        </p:nvSpPr>
        <p:spPr>
          <a:xfrm>
            <a:off x="6648450" y="4381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Memory with reasons</a:t>
            </a:r>
          </a:p>
        </p:txBody>
      </p:sp>
      <p:sp>
        <p:nvSpPr>
          <p:cNvPr id="14" name="">
            <a:extLst>
              <a:ext uri="{FF2B5EF4-FFF2-40B4-BE49-F238E27FC236}">
                <ns2:creationId id="{ABDA2E37-CC53-49AF-A11B-44BF24A4FE91}"/>
              </a:ext>
            </a:extLst>
          </p:cNvPr>
          <p:cNvSpPr txBox="1">
            <a:spLocks noGrp="1"/>
          </p:cNvSpPr>
          <p:nvPr/>
        </p:nvSpPr>
        <p:spPr>
          <a:xfrm>
            <a:off x="6648450" y="487680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Feedback and project rules include why + how to apply.</a:t>
            </a:r>
          </a:p>
        </p:txBody>
      </p:sp>
      <p:sp>
        <p:nvSpPr>
          <p:cNvPr id="15" name="">
            <a:extLst>
              <a:ext uri="{FF2B5EF4-FFF2-40B4-BE49-F238E27FC236}">
                <ns2:creationId id="{9BFBBD1F-D493-460A-9AB9-BF69AFE16E05}"/>
              </a:ext>
            </a:extLst>
          </p:cNvPr>
          <p:cNvSpPr>
            <a:spLocks noGrp="1"/>
          </p:cNvSpPr>
          <p:nvPr/>
        </p:nvSpPr>
        <p:spPr>
          <a:xfrm>
            <a:off x="12077700" y="3810000"/>
            <a:ext cx="5429250" cy="18097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1D5490DC-D3A2-4BE1-B636-EBCD12EB183B}"/>
              </a:ext>
            </a:extLst>
          </p:cNvPr>
          <p:cNvSpPr txBox="1">
            <a:spLocks noGrp="1"/>
          </p:cNvSpPr>
          <p:nvPr/>
        </p:nvSpPr>
        <p:spPr>
          <a:xfrm>
            <a:off x="12306300" y="401955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SENSES</a:t>
            </a:r>
          </a:p>
        </p:txBody>
      </p:sp>
      <p:sp>
        <p:nvSpPr>
          <p:cNvPr id="17" name="">
            <a:extLst>
              <a:ext uri="{FF2B5EF4-FFF2-40B4-BE49-F238E27FC236}">
                <ns2:creationId id="{883EDEFD-D5FB-4F0F-8C5B-7A748A7D5827}"/>
              </a:ext>
            </a:extLst>
          </p:cNvPr>
          <p:cNvSpPr txBox="1">
            <a:spLocks noGrp="1"/>
          </p:cNvSpPr>
          <p:nvPr/>
        </p:nvSpPr>
        <p:spPr>
          <a:xfrm>
            <a:off x="12306300" y="438150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Deferred connectors</a:t>
            </a:r>
          </a:p>
        </p:txBody>
      </p:sp>
      <p:sp>
        <p:nvSpPr>
          <p:cNvPr id="18" name="">
            <a:extLst>
              <a:ext uri="{FF2B5EF4-FFF2-40B4-BE49-F238E27FC236}">
                <ns2:creationId id="{AE097740-9D33-4B17-BE8F-DEFB4B5BAB28}"/>
              </a:ext>
            </a:extLst>
          </p:cNvPr>
          <p:cNvSpPr txBox="1">
            <a:spLocks noGrp="1"/>
          </p:cNvSpPr>
          <p:nvPr/>
        </p:nvSpPr>
        <p:spPr>
          <a:xfrm>
            <a:off x="12306300" y="487680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~1,500 tools stay out of context until ToolSearch loads the needed schema.</a:t>
            </a:r>
          </a:p>
        </p:txBody>
      </p:sp>
      <p:sp>
        <p:nvSpPr>
          <p:cNvPr id="19" name="">
            <a:extLst>
              <a:ext uri="{FF2B5EF4-FFF2-40B4-BE49-F238E27FC236}">
                <ns2:creationId id="{71D48883-897A-4A37-9B13-7108E6DEA4F2}"/>
              </a:ext>
            </a:extLst>
          </p:cNvPr>
          <p:cNvSpPr>
            <a:spLocks noGrp="1"/>
          </p:cNvSpPr>
          <p:nvPr/>
        </p:nvSpPr>
        <p:spPr>
          <a:xfrm>
            <a:off x="762000" y="5848350"/>
            <a:ext cx="5429250" cy="18097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958954E-3645-443A-856D-915AC73CE976}"/>
              </a:ext>
            </a:extLst>
          </p:cNvPr>
          <p:cNvSpPr txBox="1">
            <a:spLocks noGrp="1"/>
          </p:cNvSpPr>
          <p:nvPr/>
        </p:nvSpPr>
        <p:spPr>
          <a:xfrm>
            <a:off x="990600" y="605790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REFLEX</a:t>
            </a:r>
          </a:p>
        </p:txBody>
      </p:sp>
      <p:sp>
        <p:nvSpPr>
          <p:cNvPr id="21" name="">
            <a:extLst>
              <a:ext uri="{FF2B5EF4-FFF2-40B4-BE49-F238E27FC236}">
                <ns2:creationId id="{B0D77B30-6167-415E-A389-56A8DD8F656E}"/>
              </a:ext>
            </a:extLst>
          </p:cNvPr>
          <p:cNvSpPr txBox="1">
            <a:spLocks noGrp="1"/>
          </p:cNvSpPr>
          <p:nvPr/>
        </p:nvSpPr>
        <p:spPr>
          <a:xfrm>
            <a:off x="990600" y="641985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Skills as reflexes</a:t>
            </a:r>
          </a:p>
        </p:txBody>
      </p:sp>
      <p:sp>
        <p:nvSpPr>
          <p:cNvPr id="22" name="">
            <a:extLst>
              <a:ext uri="{FF2B5EF4-FFF2-40B4-BE49-F238E27FC236}">
                <ns2:creationId id="{216A6189-F8C3-4CB2-BD35-14C9EA0A8188}"/>
              </a:ext>
            </a:extLst>
          </p:cNvPr>
          <p:cNvSpPr txBox="1">
            <a:spLocks noGrp="1"/>
          </p:cNvSpPr>
          <p:nvPr/>
        </p:nvSpPr>
        <p:spPr>
          <a:xfrm>
            <a:off x="990600" y="691515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Morning briefing, meeting prep, inbox triage and research pipelines.</a:t>
            </a:r>
          </a:p>
        </p:txBody>
      </p:sp>
      <p:sp>
        <p:nvSpPr>
          <p:cNvPr id="23" name="">
            <a:extLst>
              <a:ext uri="{FF2B5EF4-FFF2-40B4-BE49-F238E27FC236}">
                <ns2:creationId id="{68CE84A2-EB5C-42A9-B3F6-28B39533F646}"/>
              </a:ext>
            </a:extLst>
          </p:cNvPr>
          <p:cNvSpPr>
            <a:spLocks noGrp="1"/>
          </p:cNvSpPr>
          <p:nvPr/>
        </p:nvSpPr>
        <p:spPr>
          <a:xfrm>
            <a:off x="6419850" y="5848350"/>
            <a:ext cx="5429250" cy="1809750"/>
          </a:xfrm>
          <a:prstGeom prst="rect">
            <a:avLst/>
          </a:prstGeom>
          <a:solidFill>
            <a:srgbClr val="121316"/>
          </a:solidFill>
          <a:ln w="19050">
            <a:solidFill>
              <a:srgbClr val="121316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003C24C8-A97B-40EE-8DA4-16EB07098F60}"/>
              </a:ext>
            </a:extLst>
          </p:cNvPr>
          <p:cNvSpPr txBox="1">
            <a:spLocks noGrp="1"/>
          </p:cNvSpPr>
          <p:nvPr/>
        </p:nvSpPr>
        <p:spPr>
          <a:xfrm>
            <a:off x="6648450" y="605790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DA8A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DA8A0"/>
                </a:solidFill>
                <a:latin typeface="Inter"/>
                <a:ea typeface="Inter"/>
                <a:cs typeface="Inter"/>
              </a:rPr>
              <a:t>VOICE</a:t>
            </a:r>
          </a:p>
        </p:txBody>
      </p:sp>
      <p:sp>
        <p:nvSpPr>
          <p:cNvPr id="25" name="">
            <a:extLst>
              <a:ext uri="{FF2B5EF4-FFF2-40B4-BE49-F238E27FC236}">
                <ns2:creationId id="{780A5121-3328-4C21-9082-45464AB6389C}"/>
              </a:ext>
            </a:extLst>
          </p:cNvPr>
          <p:cNvSpPr txBox="1">
            <a:spLocks noGrp="1"/>
          </p:cNvSpPr>
          <p:nvPr/>
        </p:nvSpPr>
        <p:spPr>
          <a:xfrm>
            <a:off x="6648450" y="641985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Style profiles</a:t>
            </a:r>
          </a:p>
        </p:txBody>
      </p:sp>
      <p:sp>
        <p:nvSpPr>
          <p:cNvPr id="26" name="">
            <a:extLst>
              <a:ext uri="{FF2B5EF4-FFF2-40B4-BE49-F238E27FC236}">
                <ns2:creationId id="{7719A3ED-A522-4B68-86F6-AC4CB5FA468F}"/>
              </a:ext>
            </a:extLst>
          </p:cNvPr>
          <p:cNvSpPr txBox="1">
            <a:spLocks noGrp="1"/>
          </p:cNvSpPr>
          <p:nvPr/>
        </p:nvSpPr>
        <p:spPr>
          <a:xfrm>
            <a:off x="6648450" y="691515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Platform-specific voice profiles shape drafts without steering every time.</a:t>
            </a:r>
          </a:p>
        </p:txBody>
      </p:sp>
      <p:sp>
        <p:nvSpPr>
          <p:cNvPr id="27" name="">
            <a:extLst>
              <a:ext uri="{FF2B5EF4-FFF2-40B4-BE49-F238E27FC236}">
                <ns2:creationId id="{806F74A6-5B0D-45A7-860D-A1BBD84B4FE7}"/>
              </a:ext>
            </a:extLst>
          </p:cNvPr>
          <p:cNvSpPr>
            <a:spLocks noGrp="1"/>
          </p:cNvSpPr>
          <p:nvPr/>
        </p:nvSpPr>
        <p:spPr>
          <a:xfrm>
            <a:off x="12077700" y="5848350"/>
            <a:ext cx="5429250" cy="1809750"/>
          </a:xfrm>
          <a:prstGeom prst="rect">
            <a:avLst/>
          </a:prstGeom>
          <a:solidFill>
            <a:srgbClr val="E8E2D3"/>
          </a:solidFill>
          <a:ln w="19050">
            <a:solidFill>
              <a:srgbClr val="D9D6CE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71E0DF5C-9191-45C0-A9EF-E6067A3BBDFD}"/>
              </a:ext>
            </a:extLst>
          </p:cNvPr>
          <p:cNvSpPr txBox="1">
            <a:spLocks noGrp="1"/>
          </p:cNvSpPr>
          <p:nvPr/>
        </p:nvSpPr>
        <p:spPr>
          <a:xfrm>
            <a:off x="12306300" y="6057900"/>
            <a:ext cx="4972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6E6E"/>
                </a:solidFill>
                <a:latin typeface="Inter"/>
                <a:ea typeface="Inter"/>
                <a:cs typeface="Inter"/>
              </a:rPr>
              <a:t>SAFETY</a:t>
            </a:r>
          </a:p>
        </p:txBody>
      </p:sp>
      <p:sp>
        <p:nvSpPr>
          <p:cNvPr id="29" name="">
            <a:extLst>
              <a:ext uri="{FF2B5EF4-FFF2-40B4-BE49-F238E27FC236}">
                <ns2:creationId id="{2A782D76-0CE4-4DDB-8BD2-D85C05BD4B7B}"/>
              </a:ext>
            </a:extLst>
          </p:cNvPr>
          <p:cNvSpPr txBox="1">
            <a:spLocks noGrp="1"/>
          </p:cNvSpPr>
          <p:nvPr/>
        </p:nvSpPr>
        <p:spPr>
          <a:xfrm>
            <a:off x="12306300" y="6419850"/>
            <a:ext cx="49720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2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Verification guardrails</a:t>
            </a:r>
          </a:p>
        </p:txBody>
      </p:sp>
      <p:sp>
        <p:nvSpPr>
          <p:cNvPr id="30" name="">
            <a:extLst>
              <a:ext uri="{FF2B5EF4-FFF2-40B4-BE49-F238E27FC236}">
                <ns2:creationId id="{97CB4156-D6C9-40B5-B17C-E55AF45A0BDA}"/>
              </a:ext>
            </a:extLst>
          </p:cNvPr>
          <p:cNvSpPr txBox="1">
            <a:spLocks noGrp="1"/>
          </p:cNvSpPr>
          <p:nvPr/>
        </p:nvSpPr>
        <p:spPr>
          <a:xfrm>
            <a:off x="12306300" y="6915150"/>
            <a:ext cx="497205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F2F2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F2F2F"/>
                </a:solidFill>
                <a:latin typeface="Inter"/>
                <a:ea typeface="Inter"/>
                <a:cs typeface="Inter"/>
              </a:rPr>
              <a:t>Browser proof for visual changes; no destructive writes without explicit approval.</a:t>
            </a:r>
          </a:p>
        </p:txBody>
      </p:sp>
      <p:sp>
        <p:nvSpPr>
          <p:cNvPr id="31" name="">
            <a:extLst>
              <a:ext uri="{FF2B5EF4-FFF2-40B4-BE49-F238E27FC236}">
                <ns2:creationId id="{40BA516C-F5B2-4EC3-936A-E57755AE8E02}"/>
              </a:ext>
            </a:extLst>
          </p:cNvPr>
          <p:cNvSpPr txBox="1">
            <a:spLocks noGrp="1"/>
          </p:cNvSpPr>
          <p:nvPr/>
        </p:nvSpPr>
        <p:spPr>
          <a:xfrm>
            <a:off x="762000" y="9620250"/>
            <a:ext cx="14287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 i="1">
                <a:solidFill>
                  <a:srgbClr val="6E6E6E"/>
                </a:solidFill>
                <a:latin typeface="Inter"/>
                <a:ea typeface="Inter"/>
                <a:cs typeface="Inter"/>
              </a:rPr>
              <a:t>Mental model: Obsidian is the brain; Runner is the hands; connectors are the senses; skills are the reflexes.</a:t>
            </a:r>
          </a:p>
        </p:txBody>
      </p:sp>
    </p:spTree>
    <p:extLst>
      <p:ext uri="{BB962C8B-B14F-4D97-AF65-F5344CB8AC3E}">
        <ns3:creationId val="698683564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0B667F5-F3C6-45D6-8B73-3F97A3F1B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2EC"/>
          </a:solidFill>
        </p:spPr>
      </p:sp>
      <p:sp>
        <p:nvSpPr>
          <p:cNvPr id="2" name="">
            <a:extLst>
              <a:ext uri="{FF2B5EF4-FFF2-40B4-BE49-F238E27FC236}">
                <ns2:creationId id="{33CF7264-6EA6-4C4F-98DC-4C7900AA83A8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B92FC92A-2DED-4619-A2AA-37FAA867B665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1A1A1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DB748E57-0FC2-4C09-BBA6-FDF53BABDBA3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20 / 21</a:t>
            </a:r>
          </a:p>
        </p:txBody>
      </p:sp>
      <p:sp>
        <p:nvSpPr>
          <p:cNvPr id="5" name="">
            <a:extLst>
              <a:ext uri="{FF2B5EF4-FFF2-40B4-BE49-F238E27FC236}">
                <ns2:creationId id="{AD411DF6-A733-41A4-9AA1-DE0314D640BB}"/>
              </a:ext>
            </a:extLst>
          </p:cNvPr>
          <p:cNvSpPr txBox="1">
            <a:spLocks noGrp="1"/>
          </p:cNvSpPr>
          <p:nvPr/>
        </p:nvSpPr>
        <p:spPr>
          <a:xfrm>
            <a:off x="762000" y="1524000"/>
            <a:ext cx="167640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570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Demo plan: Part 1 of the sync</a:t>
            </a:r>
          </a:p>
        </p:txBody>
      </p:sp>
      <p:sp>
        <p:nvSpPr>
          <p:cNvPr id="6" name="">
            <a:extLst>
              <a:ext uri="{FF2B5EF4-FFF2-40B4-BE49-F238E27FC236}">
                <ns2:creationId id="{57F594A8-2606-4364-B318-A9B98E11F962}"/>
              </a:ext>
            </a:extLst>
          </p:cNvPr>
          <p:cNvSpPr txBox="1">
            <a:spLocks noGrp="1"/>
          </p:cNvSpPr>
          <p:nvPr/>
        </p:nvSpPr>
        <p:spPr>
          <a:xfrm>
            <a:off x="781050" y="2438400"/>
            <a:ext cx="1571625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~5 minutes: here's what AI can do for you day-to-day.</a:t>
            </a:r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ns3:embed="R7158fa03b7a84e08"/>
          <a:stretch/>
        </p:blipFill>
        <p:spPr>
          <a:xfrm>
            <a:off x="952500" y="3743325"/>
            <a:ext cx="590550" cy="590550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D4E647EE-3CE0-4F49-8A18-B59BA65E27D0}"/>
              </a:ext>
            </a:extLst>
          </p:cNvPr>
          <p:cNvSpPr txBox="1">
            <a:spLocks noGrp="1"/>
          </p:cNvSpPr>
          <p:nvPr/>
        </p:nvSpPr>
        <p:spPr>
          <a:xfrm>
            <a:off x="1952625" y="3667125"/>
            <a:ext cx="13811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Inbox triage + a calendar booking</a:t>
            </a:r>
          </a:p>
        </p:txBody>
      </p:sp>
      <p:sp>
        <p:nvSpPr>
          <p:cNvPr id="9" name="">
            <a:extLst>
              <a:ext uri="{FF2B5EF4-FFF2-40B4-BE49-F238E27FC236}">
                <ns2:creationId id="{C294E471-FDCD-4E83-A19C-CF267A389703}"/>
              </a:ext>
            </a:extLst>
          </p:cNvPr>
          <p:cNvSpPr txBox="1">
            <a:spLocks noGrp="1"/>
          </p:cNvSpPr>
          <p:nvPr/>
        </p:nvSpPr>
        <p:spPr>
          <a:xfrm>
            <a:off x="1952625" y="4162425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End-to-end workflow with drafts and explicit approvals.</a:t>
            </a: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ns3:embed="R2368f7378dc24bf7"/>
          <a:stretch/>
        </p:blipFill>
        <p:spPr>
          <a:xfrm>
            <a:off x="952500" y="4933950"/>
            <a:ext cx="590550" cy="590550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7DCAD2E6-733C-438A-A55D-40D3671A9504}"/>
              </a:ext>
            </a:extLst>
          </p:cNvPr>
          <p:cNvSpPr txBox="1">
            <a:spLocks noGrp="1"/>
          </p:cNvSpPr>
          <p:nvPr/>
        </p:nvSpPr>
        <p:spPr>
          <a:xfrm>
            <a:off x="1952625" y="4857750"/>
            <a:ext cx="13811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Personal dashboard: finance + health + content</a:t>
            </a:r>
          </a:p>
        </p:txBody>
      </p:sp>
      <p:sp>
        <p:nvSpPr>
          <p:cNvPr id="12" name="">
            <a:extLst>
              <a:ext uri="{FF2B5EF4-FFF2-40B4-BE49-F238E27FC236}">
                <ns2:creationId id="{C645B3C1-636D-492B-872C-5A6DB82D70E1}"/>
              </a:ext>
            </a:extLst>
          </p:cNvPr>
          <p:cNvSpPr txBox="1">
            <a:spLocks noGrp="1"/>
          </p:cNvSpPr>
          <p:nvPr/>
        </p:nvSpPr>
        <p:spPr>
          <a:xfrm>
            <a:off x="1952625" y="5353050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Dashboards over a local vault, regenerated by skills.</a:t>
            </a:r>
          </a:p>
        </p:txBody>
      </p:sp>
      <p:sp>
        <p:nvSpPr>
          <p:cNvPr id="13" name="">
            <a:extLst>
              <a:ext uri="{FF2B5EF4-FFF2-40B4-BE49-F238E27FC236}">
                <ns2:creationId id="{214E5FA3-B0DE-40E0-AD03-207512EE2578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16764000" cy="19050"/>
          </a:xfrm>
          <a:prstGeom prst="rect">
            <a:avLst/>
          </a:prstGeom>
          <a:solidFill>
            <a:srgbClr val="D9D6CE"/>
          </a:solidFill>
        </p:spPr>
      </p:sp>
      <p:pic>
        <p:nvPicPr>
          <p:cNvPr id="14" name=""/>
          <p:cNvPicPr>
            <a:picLocks noChangeAspect="1"/>
          </p:cNvPicPr>
          <p:nvPr/>
        </p:nvPicPr>
        <p:blipFill>
          <a:blip ns3:embed="R4c97971ad72a4118"/>
          <a:stretch/>
        </p:blipFill>
        <p:spPr>
          <a:xfrm>
            <a:off x="952500" y="6124575"/>
            <a:ext cx="590550" cy="590550"/>
          </a:xfrm>
          <a:prstGeom prst="rect">
            <a:avLst/>
          </a:prstGeom>
        </p:spPr>
      </p:pic>
      <p:sp>
        <p:nvSpPr>
          <p:cNvPr id="15" name="">
            <a:extLst>
              <a:ext uri="{FF2B5EF4-FFF2-40B4-BE49-F238E27FC236}">
                <ns2:creationId id="{0B1CB6B9-94A9-4A26-93F0-C3DC26C0CD9D}"/>
              </a:ext>
            </a:extLst>
          </p:cNvPr>
          <p:cNvSpPr txBox="1">
            <a:spLocks noGrp="1"/>
          </p:cNvSpPr>
          <p:nvPr/>
        </p:nvSpPr>
        <p:spPr>
          <a:xfrm>
            <a:off x="1952625" y="6048375"/>
            <a:ext cx="13811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Public site updated by an agent</a:t>
            </a:r>
          </a:p>
        </p:txBody>
      </p:sp>
      <p:sp>
        <p:nvSpPr>
          <p:cNvPr id="16" name="">
            <a:extLst>
              <a:ext uri="{FF2B5EF4-FFF2-40B4-BE49-F238E27FC236}">
                <ns2:creationId id="{53804303-D55A-4936-82C4-7B266DD4EABA}"/>
              </a:ext>
            </a:extLst>
          </p:cNvPr>
          <p:cNvSpPr txBox="1">
            <a:spLocks noGrp="1"/>
          </p:cNvSpPr>
          <p:nvPr/>
        </p:nvSpPr>
        <p:spPr>
          <a:xfrm>
            <a:off x="1952625" y="6543675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An agent writes structured data, visible in seconds.</a:t>
            </a:r>
          </a:p>
        </p:txBody>
      </p:sp>
      <p:sp>
        <p:nvSpPr>
          <p:cNvPr id="17" name="">
            <a:extLst>
              <a:ext uri="{FF2B5EF4-FFF2-40B4-BE49-F238E27FC236}">
                <ns2:creationId id="{5E842B66-9B40-432B-9B49-4BC611389903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6764000" cy="19050"/>
          </a:xfrm>
          <a:prstGeom prst="rect">
            <a:avLst/>
          </a:prstGeom>
          <a:solidFill>
            <a:srgbClr val="D9D6CE"/>
          </a:solidFill>
        </p:spPr>
      </p:sp>
      <p:pic>
        <p:nvPicPr>
          <p:cNvPr id="18" name=""/>
          <p:cNvPicPr>
            <a:picLocks noChangeAspect="1"/>
          </p:cNvPicPr>
          <p:nvPr/>
        </p:nvPicPr>
        <p:blipFill>
          <a:blip ns3:embed="R712fd32e53104b9e"/>
          <a:stretch/>
        </p:blipFill>
        <p:spPr>
          <a:xfrm>
            <a:off x="952500" y="7315200"/>
            <a:ext cx="590550" cy="590550"/>
          </a:xfrm>
          <a:prstGeom prst="rect">
            <a:avLst/>
          </a:prstGeom>
        </p:spPr>
      </p:pic>
      <p:sp>
        <p:nvSpPr>
          <p:cNvPr id="19" name="">
            <a:extLst>
              <a:ext uri="{FF2B5EF4-FFF2-40B4-BE49-F238E27FC236}">
                <ns2:creationId id="{0411825E-5349-480F-BEE2-012C718449AC}"/>
              </a:ext>
            </a:extLst>
          </p:cNvPr>
          <p:cNvSpPr txBox="1">
            <a:spLocks noGrp="1"/>
          </p:cNvSpPr>
          <p:nvPr/>
        </p:nvSpPr>
        <p:spPr>
          <a:xfrm>
            <a:off x="1952625" y="7239000"/>
            <a:ext cx="13811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defRPr>
            </a:pPr>
            <a:r>
              <a:rPr sz="2550" b="1">
                <a:solidFill>
                  <a:srgbClr val="1A1A1A"/>
                </a:solidFill>
                <a:latin typeface="Inter Tight"/>
                <a:ea typeface="Inter Tight"/>
                <a:cs typeface="Inter Tight"/>
              </a:rPr>
              <a:t>One Codex run on the dashboard frontend</a:t>
            </a:r>
          </a:p>
        </p:txBody>
      </p:sp>
      <p:sp>
        <p:nvSpPr>
          <p:cNvPr id="20" name="">
            <a:extLst>
              <a:ext uri="{FF2B5EF4-FFF2-40B4-BE49-F238E27FC236}">
                <ns2:creationId id="{18397F57-C8B4-440B-8886-A1AD81454463}"/>
              </a:ext>
            </a:extLst>
          </p:cNvPr>
          <p:cNvSpPr txBox="1">
            <a:spLocks noGrp="1"/>
          </p:cNvSpPr>
          <p:nvPr/>
        </p:nvSpPr>
        <p:spPr>
          <a:xfrm>
            <a:off x="1952625" y="7734300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E6E6E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E6E6E"/>
                </a:solidFill>
                <a:latin typeface="Inter"/>
                <a:ea typeface="Inter"/>
                <a:cs typeface="Inter"/>
              </a:rPr>
              <a:t>Issue → branch → preview, in the time of the demo.</a:t>
            </a:r>
          </a:p>
        </p:txBody>
      </p:sp>
      <p:sp>
        <p:nvSpPr>
          <p:cNvPr id="21" name="">
            <a:extLst>
              <a:ext uri="{FF2B5EF4-FFF2-40B4-BE49-F238E27FC236}">
                <ns2:creationId id="{F5468DB2-C548-4E51-98FD-659DD44DEDD5}"/>
              </a:ext>
            </a:extLst>
          </p:cNvPr>
          <p:cNvSpPr>
            <a:spLocks noGrp="1"/>
          </p:cNvSpPr>
          <p:nvPr/>
        </p:nvSpPr>
        <p:spPr>
          <a:xfrm>
            <a:off x="762000" y="6953250"/>
            <a:ext cx="16764000" cy="19050"/>
          </a:xfrm>
          <a:prstGeom prst="rect">
            <a:avLst/>
          </a:prstGeom>
          <a:solidFill>
            <a:srgbClr val="D9D6CE"/>
          </a:solidFill>
        </p:spPr>
      </p:sp>
    </p:spTree>
    <p:extLst>
      <p:ext uri="{BB962C8B-B14F-4D97-AF65-F5344CB8AC3E}">
        <ns4:creationId val="1182492763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E7D7316-B37F-47B4-B087-C274B62F8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1316"/>
          </a:solidFill>
        </p:spPr>
      </p:sp>
      <p:sp>
        <p:nvSpPr>
          <p:cNvPr id="2" name="">
            <a:extLst>
              <a:ext uri="{FF2B5EF4-FFF2-40B4-BE49-F238E27FC236}">
                <ns2:creationId id="{12815E89-89E4-4D40-A662-839CCBE9EA74}"/>
              </a:ext>
            </a:extLst>
          </p:cNvPr>
          <p:cNvSpPr txBox="1">
            <a:spLocks noGrp="1"/>
          </p:cNvSpPr>
          <p:nvPr/>
        </p:nvSpPr>
        <p:spPr>
          <a:xfrm>
            <a:off x="685800" y="5715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AI OS</a:t>
            </a:r>
          </a:p>
        </p:txBody>
      </p:sp>
      <p:sp>
        <p:nvSpPr>
          <p:cNvPr id="3" name="">
            <a:extLst>
              <a:ext uri="{FF2B5EF4-FFF2-40B4-BE49-F238E27FC236}">
                <ns2:creationId id="{43A3D973-746C-40CA-9736-4A712EFC7079}"/>
              </a:ext>
            </a:extLst>
          </p:cNvPr>
          <p:cNvSpPr txBox="1">
            <a:spLocks noGrp="1"/>
          </p:cNvSpPr>
          <p:nvPr/>
        </p:nvSpPr>
        <p:spPr>
          <a:xfrm>
            <a:off x="12001500" y="685800"/>
            <a:ext cx="5619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PUBLIC DEMO  ·  2026</a:t>
            </a:r>
          </a:p>
        </p:txBody>
      </p:sp>
      <p:sp>
        <p:nvSpPr>
          <p:cNvPr id="4" name="">
            <a:extLst>
              <a:ext uri="{FF2B5EF4-FFF2-40B4-BE49-F238E27FC236}">
                <ns2:creationId id="{3DD3B069-99A9-4496-8AB7-A216FEBEEC69}"/>
              </a:ext>
            </a:extLst>
          </p:cNvPr>
          <p:cNvSpPr txBox="1">
            <a:spLocks noGrp="1"/>
          </p:cNvSpPr>
          <p:nvPr/>
        </p:nvSpPr>
        <p:spPr>
          <a:xfrm>
            <a:off x="16192500" y="95726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1650" b="0">
                <a:solidFill>
                  <a:srgbClr val="E8E2D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E8E2D3"/>
                </a:solidFill>
                <a:latin typeface="Inter"/>
                <a:ea typeface="Inter"/>
                <a:cs typeface="Inter"/>
              </a:rPr>
              <a:t>21 / 21</a:t>
            </a:r>
          </a:p>
        </p:txBody>
      </p:sp>
      <p:sp>
        <p:nvSpPr>
          <p:cNvPr id="5" name="">
            <a:extLst>
              <a:ext uri="{FF2B5EF4-FFF2-40B4-BE49-F238E27FC236}">
                <ns2:creationId id="{77B776C2-E1AB-4F25-8C1A-77364AD2213E}"/>
              </a:ext>
            </a:extLst>
          </p:cNvPr>
          <p:cNvSpPr txBox="1">
            <a:spLocks noGrp="1"/>
          </p:cNvSpPr>
          <p:nvPr/>
        </p:nvSpPr>
        <p:spPr>
          <a:xfrm>
            <a:off x="12477750" y="85725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7500" b="1">
                <a:solidFill>
                  <a:srgbClr val="2A2C32"/>
                </a:solidFill>
                <a:latin typeface="Inter Tight"/>
                <a:ea typeface="Inter Tight"/>
                <a:cs typeface="Inter Tight"/>
              </a:defRPr>
            </a:pPr>
            <a:r>
              <a:rPr sz="7500" b="1">
                <a:solidFill>
                  <a:srgbClr val="2A2C32"/>
                </a:solidFill>
                <a:latin typeface="Inter Tight"/>
                <a:ea typeface="Inter Tight"/>
                <a:cs typeface="Inter Tight"/>
              </a:rPr>
              <a:t>AI OS</a:t>
            </a:r>
          </a:p>
        </p:txBody>
      </p:sp>
      <p:sp>
        <p:nvSpPr>
          <p:cNvPr id="6" name="">
            <a:extLst>
              <a:ext uri="{FF2B5EF4-FFF2-40B4-BE49-F238E27FC236}">
                <ns2:creationId id="{6D9ADB18-38B4-4EF1-B282-DEE090067290}"/>
              </a:ext>
            </a:extLst>
          </p:cNvPr>
          <p:cNvSpPr txBox="1">
            <a:spLocks noGrp="1"/>
          </p:cNvSpPr>
          <p:nvPr/>
        </p:nvSpPr>
        <p:spPr>
          <a:xfrm>
            <a:off x="762000" y="3238500"/>
            <a:ext cx="10096500" cy="1047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7200" b="1">
                <a:solidFill>
                  <a:srgbClr val="F5F2EC"/>
                </a:solidFill>
                <a:latin typeface="Inter Tight"/>
                <a:ea typeface="Inter Tight"/>
                <a:cs typeface="Inter Tight"/>
              </a:defRPr>
            </a:pPr>
            <a:r>
              <a:rPr sz="7200" b="1">
                <a:solidFill>
                  <a:srgbClr val="F5F2EC"/>
                </a:solidFill>
                <a:latin typeface="Inter Tight"/>
                <a:ea typeface="Inter Tight"/>
                <a:cs typeface="Inter Tight"/>
              </a:rPr>
              <a:t>Now: the team version.</a:t>
            </a:r>
          </a:p>
        </p:txBody>
      </p:sp>
      <p:sp>
        <p:nvSpPr>
          <p:cNvPr id="7" name="">
            <a:extLst>
              <a:ext uri="{FF2B5EF4-FFF2-40B4-BE49-F238E27FC236}">
                <ns2:creationId id="{3DC492A1-C360-49FA-9043-4256C0889647}"/>
              </a:ext>
            </a:extLst>
          </p:cNvPr>
          <p:cNvSpPr txBox="1">
            <a:spLocks noGrp="1"/>
          </p:cNvSpPr>
          <p:nvPr/>
        </p:nvSpPr>
        <p:spPr>
          <a:xfrm>
            <a:off x="762000" y="4619625"/>
            <a:ext cx="10477500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400" b="0">
                <a:solidFill>
                  <a:srgbClr val="F5F2EC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F5F2EC"/>
                </a:solidFill>
                <a:latin typeface="Inter"/>
                <a:ea typeface="Inter"/>
                <a:cs typeface="Inter"/>
              </a:rPr>
              <a:t>Same primitives, scoped + permissioned for a team.</a:t>
            </a:r>
          </a:p>
        </p:txBody>
      </p:sp>
      <p:sp>
        <p:nvSpPr>
          <p:cNvPr id="8" name="">
            <a:extLst>
              <a:ext uri="{FF2B5EF4-FFF2-40B4-BE49-F238E27FC236}">
                <ns2:creationId id="{C344B69C-65A2-4A38-B45C-CB2F012C69E5}"/>
              </a:ext>
            </a:extLst>
          </p:cNvPr>
          <p:cNvSpPr txBox="1">
            <a:spLocks noGrp="1"/>
          </p:cNvSpPr>
          <p:nvPr/>
        </p:nvSpPr>
        <p:spPr>
          <a:xfrm>
            <a:off x="762000" y="9144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PUBLIC TEMPLATE</a:t>
            </a:r>
          </a:p>
        </p:txBody>
      </p:sp>
    </p:spTree>
    <p:extLst>
      <p:ext uri="{BB962C8B-B14F-4D97-AF65-F5344CB8AC3E}">
        <ns3:creationId val="14553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2026-06-01T12:27:41.9210000Z</dcterms:created>
  <dcterms:modified xsi:type="dcterms:W3CDTF">2026-06-01T12:27:41.9210000Z</dcterms:modified>
</coreProperties>
</file>