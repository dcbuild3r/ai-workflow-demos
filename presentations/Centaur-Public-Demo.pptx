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ada52632504324" /><Relationship Type="http://schemas.openxmlformats.org/officeDocument/2006/relationships/extended-properties" Target="/docProps/app.xml" Id="Rb165f56e5b7c46a0" /><Relationship Type="http://schemas.openxmlformats.org/officeDocument/2006/relationships/officeDocument" Target="/ppt/presentation.xml" Id="R80c1d6fa528d48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e64ac6f2d74e58"/>
  </p:sldMasterIdLst>
  <p:notesMasterIdLst>
    <p:notesMasterId xmlns:r="http://schemas.openxmlformats.org/officeDocument/2006/relationships" r:id="Radcfc6c0425c4800"/>
  </p:notesMasterIdLst>
  <p:sldIdLst>
    <p:sldId xmlns:r="http://schemas.openxmlformats.org/officeDocument/2006/relationships" id="256" r:id="Ra9063c2f843e489a"/>
    <p:sldId xmlns:r="http://schemas.openxmlformats.org/officeDocument/2006/relationships" id="257" r:id="R4e067ab773ef4434"/>
    <p:sldId xmlns:r="http://schemas.openxmlformats.org/officeDocument/2006/relationships" id="258" r:id="R5236effb688948ea"/>
    <p:sldId xmlns:r="http://schemas.openxmlformats.org/officeDocument/2006/relationships" id="259" r:id="R3d8e6e36786e42e6"/>
    <p:sldId xmlns:r="http://schemas.openxmlformats.org/officeDocument/2006/relationships" id="260" r:id="Re891a3d7615b490a"/>
    <p:sldId xmlns:r="http://schemas.openxmlformats.org/officeDocument/2006/relationships" id="261" r:id="R7eb0ec540ba44720"/>
    <p:sldId xmlns:r="http://schemas.openxmlformats.org/officeDocument/2006/relationships" id="262" r:id="Ra1f23c6c976f4d63"/>
    <p:sldId xmlns:r="http://schemas.openxmlformats.org/officeDocument/2006/relationships" id="263" r:id="Re2b1c04b6f5648b9"/>
    <p:sldId xmlns:r="http://schemas.openxmlformats.org/officeDocument/2006/relationships" id="264" r:id="Re82be302124e47ad"/>
    <p:sldId xmlns:r="http://schemas.openxmlformats.org/officeDocument/2006/relationships" id="265" r:id="Ra3fe0637ca2a4fff"/>
    <p:sldId xmlns:r="http://schemas.openxmlformats.org/officeDocument/2006/relationships" id="266" r:id="Rca9f455e0c74421d"/>
    <p:sldId xmlns:r="http://schemas.openxmlformats.org/officeDocument/2006/relationships" id="267" r:id="R3ddcbfa53fbb48be"/>
    <p:sldId xmlns:r="http://schemas.openxmlformats.org/officeDocument/2006/relationships" id="268" r:id="R3226f5cfb850416b"/>
    <p:sldId xmlns:r="http://schemas.openxmlformats.org/officeDocument/2006/relationships" id="269" r:id="R67006730084e4741"/>
    <p:sldId xmlns:r="http://schemas.openxmlformats.org/officeDocument/2006/relationships" id="270" r:id="Rece2fc86aec84a6b"/>
    <p:sldId xmlns:r="http://schemas.openxmlformats.org/officeDocument/2006/relationships" id="271" r:id="R859a22e0a501466a"/>
    <p:sldId xmlns:r="http://schemas.openxmlformats.org/officeDocument/2006/relationships" id="272" r:id="R678cfd4674a946be"/>
    <p:sldId xmlns:r="http://schemas.openxmlformats.org/officeDocument/2006/relationships" id="273" r:id="Rc3b5871e493a4e64"/>
    <p:sldId xmlns:r="http://schemas.openxmlformats.org/officeDocument/2006/relationships" id="274" r:id="R1a5a69d5edb046ec"/>
    <p:sldId xmlns:r="http://schemas.openxmlformats.org/officeDocument/2006/relationships" id="275" r:id="Ra4e804aa39394ed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64ac6f2d74e58" /><Relationship Type="http://schemas.openxmlformats.org/officeDocument/2006/relationships/theme" Target="/ppt/theme/theme1.xml" Id="Re03e73f717794d62" /><Relationship Type="http://schemas.openxmlformats.org/officeDocument/2006/relationships/notesMaster" Target="/ppt/notesMasters/notesMaster1.xml" Id="Radcfc6c0425c4800" /><Relationship Type="http://schemas.openxmlformats.org/officeDocument/2006/relationships/presProps" Target="/ppt/presProps.xml" Id="R6f95280ddde64368" /><Relationship Type="http://schemas.openxmlformats.org/officeDocument/2006/relationships/viewProps" Target="/ppt/viewProps.xml" Id="Reda2652ecdf84509" /><Relationship Type="http://schemas.openxmlformats.org/officeDocument/2006/relationships/tableStyles" Target="/ppt/tableStyles.xml" Id="R012e689f5e73444b" /><Relationship Type="http://schemas.openxmlformats.org/officeDocument/2006/relationships/slide" Target="/ppt/slides/slide1.xml" Id="Ra9063c2f843e489a" /><Relationship Type="http://schemas.openxmlformats.org/officeDocument/2006/relationships/slide" Target="/ppt/slides/slide2.xml" Id="R4e067ab773ef4434" /><Relationship Type="http://schemas.openxmlformats.org/officeDocument/2006/relationships/slide" Target="/ppt/slides/slide3.xml" Id="R5236effb688948ea" /><Relationship Type="http://schemas.openxmlformats.org/officeDocument/2006/relationships/slide" Target="/ppt/slides/slide4.xml" Id="R3d8e6e36786e42e6" /><Relationship Type="http://schemas.openxmlformats.org/officeDocument/2006/relationships/slide" Target="/ppt/slides/slide5.xml" Id="Re891a3d7615b490a" /><Relationship Type="http://schemas.openxmlformats.org/officeDocument/2006/relationships/slide" Target="/ppt/slides/slide6.xml" Id="R7eb0ec540ba44720" /><Relationship Type="http://schemas.openxmlformats.org/officeDocument/2006/relationships/slide" Target="/ppt/slides/slide7.xml" Id="Ra1f23c6c976f4d63" /><Relationship Type="http://schemas.openxmlformats.org/officeDocument/2006/relationships/slide" Target="/ppt/slides/slide8.xml" Id="Re2b1c04b6f5648b9" /><Relationship Type="http://schemas.openxmlformats.org/officeDocument/2006/relationships/slide" Target="/ppt/slides/slide9.xml" Id="Re82be302124e47ad" /><Relationship Type="http://schemas.openxmlformats.org/officeDocument/2006/relationships/slide" Target="/ppt/slides/slide10.xml" Id="Ra3fe0637ca2a4fff" /><Relationship Type="http://schemas.openxmlformats.org/officeDocument/2006/relationships/slide" Target="/ppt/slides/slide11.xml" Id="Rca9f455e0c74421d" /><Relationship Type="http://schemas.openxmlformats.org/officeDocument/2006/relationships/slide" Target="/ppt/slides/slide12.xml" Id="R3ddcbfa53fbb48be" /><Relationship Type="http://schemas.openxmlformats.org/officeDocument/2006/relationships/slide" Target="/ppt/slides/slide13.xml" Id="R3226f5cfb850416b" /><Relationship Type="http://schemas.openxmlformats.org/officeDocument/2006/relationships/slide" Target="/ppt/slides/slide14.xml" Id="R67006730084e4741" /><Relationship Type="http://schemas.openxmlformats.org/officeDocument/2006/relationships/slide" Target="/ppt/slides/slide15.xml" Id="Rece2fc86aec84a6b" /><Relationship Type="http://schemas.openxmlformats.org/officeDocument/2006/relationships/slide" Target="/ppt/slides/slide16.xml" Id="R859a22e0a501466a" /><Relationship Type="http://schemas.openxmlformats.org/officeDocument/2006/relationships/slide" Target="/ppt/slides/slide17.xml" Id="R678cfd4674a946be" /><Relationship Type="http://schemas.openxmlformats.org/officeDocument/2006/relationships/slide" Target="/ppt/slides/slide18.xml" Id="Rc3b5871e493a4e64" /><Relationship Type="http://schemas.openxmlformats.org/officeDocument/2006/relationships/slide" Target="/ppt/slides/slide19.xml" Id="R1a5a69d5edb046ec" /><Relationship Type="http://schemas.openxmlformats.org/officeDocument/2006/relationships/slide" Target="/ppt/slides/slide20.xml" Id="Ra4e804aa39394e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da8b9e6886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e7fd92ebf42e1" /><Relationship Type="http://schemas.openxmlformats.org/officeDocument/2006/relationships/notesMaster" Target="/ppt/notesMasters/notesMaster1.xml" Id="R1695715a7ee64c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f0e6cb4fa94541" /><Relationship Type="http://schemas.openxmlformats.org/officeDocument/2006/relationships/notesMaster" Target="/ppt/notesMasters/notesMaster1.xml" Id="R7741d8e381804e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5388aaa9104306" /><Relationship Type="http://schemas.openxmlformats.org/officeDocument/2006/relationships/notesMaster" Target="/ppt/notesMasters/notesMaster1.xml" Id="R2eb0f4b00f17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c4ab6e55eb43a5" /><Relationship Type="http://schemas.openxmlformats.org/officeDocument/2006/relationships/notesMaster" Target="/ppt/notesMasters/notesMaster1.xml" Id="Re2253eb948634e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00897505f24613" /><Relationship Type="http://schemas.openxmlformats.org/officeDocument/2006/relationships/notesMaster" Target="/ppt/notesMasters/notesMaster1.xml" Id="Rdbeee30dc40448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360c91b8bd4cf7" /><Relationship Type="http://schemas.openxmlformats.org/officeDocument/2006/relationships/notesMaster" Target="/ppt/notesMasters/notesMaster1.xml" Id="R51bcab2e19a4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fec2db6e13472c" /><Relationship Type="http://schemas.openxmlformats.org/officeDocument/2006/relationships/notesMaster" Target="/ppt/notesMasters/notesMaster1.xml" Id="R606fa4b0815145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063c4265a49c7" /><Relationship Type="http://schemas.openxmlformats.org/officeDocument/2006/relationships/notesMaster" Target="/ppt/notesMasters/notesMaster1.xml" Id="R125dac9df1f94e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d47be5c38c499e" /><Relationship Type="http://schemas.openxmlformats.org/officeDocument/2006/relationships/notesMaster" Target="/ppt/notesMasters/notesMaster1.xml" Id="Rb56cb6502b3547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cd0e182b44993" /><Relationship Type="http://schemas.openxmlformats.org/officeDocument/2006/relationships/notesMaster" Target="/ppt/notesMasters/notesMaster1.xml" Id="R05402e04d65440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515aedb525463a" /><Relationship Type="http://schemas.openxmlformats.org/officeDocument/2006/relationships/notesMaster" Target="/ppt/notesMasters/notesMaster1.xml" Id="Ra949322b11c642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5dfbbdc03747ae" /><Relationship Type="http://schemas.openxmlformats.org/officeDocument/2006/relationships/notesMaster" Target="/ppt/notesMasters/notesMaster1.xml" Id="Re206f0b6006e43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a1576effab4e33" /><Relationship Type="http://schemas.openxmlformats.org/officeDocument/2006/relationships/notesMaster" Target="/ppt/notesMasters/notesMaster1.xml" Id="Rcc47f9a6820146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1c5f02446a42b6" /><Relationship Type="http://schemas.openxmlformats.org/officeDocument/2006/relationships/notesMaster" Target="/ppt/notesMasters/notesMaster1.xml" Id="R136c9ee7848343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a06ac25097469e" /><Relationship Type="http://schemas.openxmlformats.org/officeDocument/2006/relationships/notesMaster" Target="/ppt/notesMasters/notesMaster1.xml" Id="Raea166e231ee49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6775dd5b5d44a7" /><Relationship Type="http://schemas.openxmlformats.org/officeDocument/2006/relationships/notesMaster" Target="/ppt/notesMasters/notesMaster1.xml" Id="Rdc5c71c2695d47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ce11894cdb4e13" /><Relationship Type="http://schemas.openxmlformats.org/officeDocument/2006/relationships/notesMaster" Target="/ppt/notesMasters/notesMaster1.xml" Id="Rdcb040f73f1541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6fee9419254616" /><Relationship Type="http://schemas.openxmlformats.org/officeDocument/2006/relationships/notesMaster" Target="/ppt/notesMasters/notesMaster1.xml" Id="Rb7ea9131bc394d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35d9313a3f4b86" /><Relationship Type="http://schemas.openxmlformats.org/officeDocument/2006/relationships/notesMaster" Target="/ppt/notesMasters/notesMaster1.xml" Id="R79e3233ed41d4a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3ad5c427de43dd" /><Relationship Type="http://schemas.openxmlformats.org/officeDocument/2006/relationships/notesMaster" Target="/ppt/notesMasters/notesMaster1.xml" Id="R108908be325746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9572da9374c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4b5f3df9494b5e" /><Relationship Type="http://schemas.openxmlformats.org/officeDocument/2006/relationships/slideLayout" Target="/ppt/slideLayouts/slideLayout2.xml" Id="R838255b36bf24f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255b36bf24f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225d941724af3" /><Relationship Type="http://schemas.openxmlformats.org/officeDocument/2006/relationships/image" Target="/ppt/media/image.png" Id="R65f6707325e14301" /><Relationship Type="http://schemas.openxmlformats.org/officeDocument/2006/relationships/notesSlide" Target="/ppt/notesSlides/notesSlide1.xml" Id="R91ec0718401445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3437d3dd848aa" /><Relationship Type="http://schemas.openxmlformats.org/officeDocument/2006/relationships/notesSlide" Target="/ppt/notesSlides/notesSlide2.xml" Id="R460a1ffccb994b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d4fc5888140cb" /><Relationship Type="http://schemas.openxmlformats.org/officeDocument/2006/relationships/notesSlide" Target="/ppt/notesSlides/notesSlide3.xml" Id="R636e81080e2e4c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a664c8b344484" /><Relationship Type="http://schemas.openxmlformats.org/officeDocument/2006/relationships/image" Target="/ppt/media/image2.png" Id="R770c3e77b64349d4" /><Relationship Type="http://schemas.openxmlformats.org/officeDocument/2006/relationships/image" Target="/ppt/media/image3.png" Id="R483551197a9546b5" /><Relationship Type="http://schemas.openxmlformats.org/officeDocument/2006/relationships/notesSlide" Target="/ppt/notesSlides/notesSlide4.xml" Id="R002342f896694e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b65a67c8264fa5" /><Relationship Type="http://schemas.openxmlformats.org/officeDocument/2006/relationships/notesSlide" Target="/ppt/notesSlides/notesSlide5.xml" Id="R2c3ec921594e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2cdf841f54b40" /><Relationship Type="http://schemas.openxmlformats.org/officeDocument/2006/relationships/notesSlide" Target="/ppt/notesSlides/notesSlide6.xml" Id="R815cd6da6b1946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f70d95da664add" /><Relationship Type="http://schemas.openxmlformats.org/officeDocument/2006/relationships/image" Target="/ppt/media/image4.png" Id="Rd408b478ecec4a69" /><Relationship Type="http://schemas.openxmlformats.org/officeDocument/2006/relationships/image" Target="/ppt/media/image5.png" Id="Ra14b35c55bbd4450" /><Relationship Type="http://schemas.openxmlformats.org/officeDocument/2006/relationships/notesSlide" Target="/ppt/notesSlides/notesSlide7.xml" Id="R7e38e18d296d45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e023f01504887" /><Relationship Type="http://schemas.openxmlformats.org/officeDocument/2006/relationships/notesSlide" Target="/ppt/notesSlides/notesSlide8.xml" Id="R08e2f97ef9ea45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b752fcf2e04346" /><Relationship Type="http://schemas.openxmlformats.org/officeDocument/2006/relationships/notesSlide" Target="/ppt/notesSlides/notesSlide9.xml" Id="R102bcdec78824a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e73f40d93487b" /><Relationship Type="http://schemas.openxmlformats.org/officeDocument/2006/relationships/notesSlide" Target="/ppt/notesSlides/notesSlide10.xml" Id="R1f04850823dc44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9e3c2a56754f85" /><Relationship Type="http://schemas.openxmlformats.org/officeDocument/2006/relationships/notesSlide" Target="/ppt/notesSlides/notesSlide11.xml" Id="Reaf0e85c296e4d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6ef4fe963e4608" /><Relationship Type="http://schemas.openxmlformats.org/officeDocument/2006/relationships/notesSlide" Target="/ppt/notesSlides/notesSlide12.xml" Id="Ra05e1e2494aa49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86de75aae48b2" /><Relationship Type="http://schemas.openxmlformats.org/officeDocument/2006/relationships/image" Target="/ppt/media/image6.png" Id="R1e3d9d18c9104617" /><Relationship Type="http://schemas.openxmlformats.org/officeDocument/2006/relationships/image" Target="/ppt/media/image7.png" Id="R5e1fa52077ae4501" /><Relationship Type="http://schemas.openxmlformats.org/officeDocument/2006/relationships/image" Target="/ppt/media/image8.png" Id="R570dd629e5ef4c8e" /><Relationship Type="http://schemas.openxmlformats.org/officeDocument/2006/relationships/image" Target="/ppt/media/image9.png" Id="Rec0fe49e0b234477" /><Relationship Type="http://schemas.openxmlformats.org/officeDocument/2006/relationships/image" Target="/ppt/media/image10.png" Id="R05b0894202264262" /><Relationship Type="http://schemas.openxmlformats.org/officeDocument/2006/relationships/image" Target="/ppt/media/image11.png" Id="R8991324396d14c27" /><Relationship Type="http://schemas.openxmlformats.org/officeDocument/2006/relationships/image" Target="/ppt/media/image12.png" Id="R373558b2a22d4134" /><Relationship Type="http://schemas.openxmlformats.org/officeDocument/2006/relationships/image" Target="/ppt/media/image13.png" Id="R0b9fc2015cb6448f" /><Relationship Type="http://schemas.openxmlformats.org/officeDocument/2006/relationships/image" Target="/ppt/media/image14.png" Id="Re7d1d4030d8f4ca3" /><Relationship Type="http://schemas.openxmlformats.org/officeDocument/2006/relationships/image" Target="/ppt/media/image15.png" Id="R4059c9b8add348a9" /><Relationship Type="http://schemas.openxmlformats.org/officeDocument/2006/relationships/image" Target="/ppt/media/image16.png" Id="Rc6ce4768ed184d90" /><Relationship Type="http://schemas.openxmlformats.org/officeDocument/2006/relationships/image" Target="/ppt/media/image17.png" Id="Rd3a7d197d3d94f41" /><Relationship Type="http://schemas.openxmlformats.org/officeDocument/2006/relationships/image" Target="/ppt/media/image18.png" Id="Rc39de9c7451e4c89" /><Relationship Type="http://schemas.openxmlformats.org/officeDocument/2006/relationships/notesSlide" Target="/ppt/notesSlides/notesSlide13.xml" Id="R45ec5bc7c56d42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61b78453b43b5" /><Relationship Type="http://schemas.openxmlformats.org/officeDocument/2006/relationships/notesSlide" Target="/ppt/notesSlides/notesSlide14.xml" Id="Rc8db86ee6e2143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2616042c8a4771" /><Relationship Type="http://schemas.openxmlformats.org/officeDocument/2006/relationships/notesSlide" Target="/ppt/notesSlides/notesSlide15.xml" Id="R96d1db767e8c47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6ade946e084c8c" /><Relationship Type="http://schemas.openxmlformats.org/officeDocument/2006/relationships/notesSlide" Target="/ppt/notesSlides/notesSlide16.xml" Id="R900fd4eea03d46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0c2c5ad424583" /><Relationship Type="http://schemas.openxmlformats.org/officeDocument/2006/relationships/notesSlide" Target="/ppt/notesSlides/notesSlide17.xml" Id="Rc3ff24685d4740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cb8384915c45f4" /><Relationship Type="http://schemas.openxmlformats.org/officeDocument/2006/relationships/image" Target="/ppt/media/image19.png" Id="Rf0e4fc0c11c84e8e" /><Relationship Type="http://schemas.openxmlformats.org/officeDocument/2006/relationships/image" Target="/ppt/media/image20.png" Id="R317284b62c504b5c" /><Relationship Type="http://schemas.openxmlformats.org/officeDocument/2006/relationships/image" Target="/ppt/media/image21.png" Id="R86bba0542c9d4d88" /><Relationship Type="http://schemas.openxmlformats.org/officeDocument/2006/relationships/image" Target="/ppt/media/image22.png" Id="R094536255fcf40c5" /><Relationship Type="http://schemas.openxmlformats.org/officeDocument/2006/relationships/notesSlide" Target="/ppt/notesSlides/notesSlide18.xml" Id="R990500219b2c40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73e657c564687" /><Relationship Type="http://schemas.openxmlformats.org/officeDocument/2006/relationships/notesSlide" Target="/ppt/notesSlides/notesSlide19.xml" Id="R2af58293026c4c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e59f8a4bd54edb" /><Relationship Type="http://schemas.openxmlformats.org/officeDocument/2006/relationships/notesSlide" Target="/ppt/notesSlides/notesSlide20.xml" Id="Re79032000b824f55" 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989D680-3284-46F7-AA96-C52D4646E0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67C56BBC-F7CE-4674-8173-D21ABC276808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A301B7A0-9B26-4D76-8C9C-F720E592AA46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17235EF6-402E-4072-84D7-B77EB70D77A4}"/>
              </a:ext>
            </a:extLst>
          </p:cNvPr>
          <p:cNvSpPr txBox="1">
            <a:spLocks noGrp="1"/>
          </p:cNvSpPr>
          <p:nvPr/>
        </p:nvSpPr>
        <p:spPr>
          <a:xfrm>
            <a:off x="762000" y="2143125"/>
            <a:ext cx="16192500" cy="2190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7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Centaur</a:t>
            </a:r>
          </a:p>
        </p:txBody>
      </p:sp>
      <p:sp>
        <p:nvSpPr>
          <p:cNvPr id="5" name="">
            <a:extLst>
              <a:ext uri="{FF2B5EF4-FFF2-40B4-BE49-F238E27FC236}">
                <ns2:creationId id="{22B0651D-F72B-4EB3-B505-D090E2B8D8EA}"/>
              </a:ext>
            </a:extLst>
          </p:cNvPr>
          <p:cNvSpPr txBox="1">
            <a:spLocks noGrp="1"/>
          </p:cNvSpPr>
          <p:nvPr/>
        </p:nvSpPr>
        <p:spPr>
          <a:xfrm>
            <a:off x="800100" y="4762500"/>
            <a:ext cx="11430000" cy="552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2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32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Multiplayer agents for modern teams</a:t>
            </a:r>
          </a:p>
        </p:txBody>
      </p:sp>
      <p:sp>
        <p:nvSpPr>
          <p:cNvPr id="6" name="">
            <a:extLst>
              <a:ext uri="{FF2B5EF4-FFF2-40B4-BE49-F238E27FC236}">
                <ns2:creationId id="{812C28F6-2D91-4F53-B05A-AAE98508FAD6}"/>
              </a:ext>
            </a:extLst>
          </p:cNvPr>
          <p:cNvSpPr txBox="1">
            <a:spLocks noGrp="1"/>
          </p:cNvSpPr>
          <p:nvPr/>
        </p:nvSpPr>
        <p:spPr>
          <a:xfrm>
            <a:off x="800100" y="55245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Self-hosted  ·  Slack-native  ·  Channel-scoped permissions</a:t>
            </a:r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ns3:embed="R65f6707325e14301"/>
          <a:stretch/>
        </p:blipFill>
        <p:spPr>
          <a:xfrm>
            <a:off x="762000" y="9334500"/>
            <a:ext cx="342900" cy="342900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C77B0132-D582-4468-ACD7-530B5D9A33F8}"/>
              </a:ext>
            </a:extLst>
          </p:cNvPr>
          <p:cNvSpPr txBox="1">
            <a:spLocks noGrp="1"/>
          </p:cNvSpPr>
          <p:nvPr/>
        </p:nvSpPr>
        <p:spPr>
          <a:xfrm>
            <a:off x="1285875" y="9353550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Built by Paradigm + Tempo</a:t>
            </a:r>
          </a:p>
        </p:txBody>
      </p:sp>
      <p:sp>
        <p:nvSpPr>
          <p:cNvPr id="9" name="">
            <a:extLst>
              <a:ext uri="{FF2B5EF4-FFF2-40B4-BE49-F238E27FC236}">
                <ns2:creationId id="{09E769A6-928C-4C93-B6F8-2ED7B84BC335}"/>
              </a:ext>
            </a:extLst>
          </p:cNvPr>
          <p:cNvSpPr txBox="1">
            <a:spLocks noGrp="1"/>
          </p:cNvSpPr>
          <p:nvPr/>
        </p:nvSpPr>
        <p:spPr>
          <a:xfrm>
            <a:off x="13906500" y="952500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240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template</a:t>
            </a:r>
          </a:p>
        </p:txBody>
      </p:sp>
    </p:spTree>
    <p:extLst>
      <p:ext uri="{BB962C8B-B14F-4D97-AF65-F5344CB8AC3E}">
        <ns4:creationId val="149481708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01F14B3-166B-4148-B857-D13322EBDC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12AF816C-8D43-44F9-97E4-5367535EB08E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406ED796-2313-472D-949B-16D28E40409C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6428B929-1BFB-41C9-8795-D60905FD3E67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2 / 20</a:t>
            </a:r>
          </a:p>
        </p:txBody>
      </p:sp>
      <p:sp>
        <p:nvSpPr>
          <p:cNvPr id="5" name="">
            <a:extLst>
              <a:ext uri="{FF2B5EF4-FFF2-40B4-BE49-F238E27FC236}">
                <ns2:creationId id="{79E07638-5142-4591-B243-5BF1E999182A}"/>
              </a:ext>
            </a:extLst>
          </p:cNvPr>
          <p:cNvSpPr txBox="1">
            <a:spLocks noGrp="1"/>
          </p:cNvSpPr>
          <p:nvPr/>
        </p:nvSpPr>
        <p:spPr>
          <a:xfrm>
            <a:off x="762000" y="17145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Agenda</a:t>
            </a:r>
          </a:p>
        </p:txBody>
      </p:sp>
      <p:sp>
        <p:nvSpPr>
          <p:cNvPr id="6" name="">
            <a:extLst>
              <a:ext uri="{FF2B5EF4-FFF2-40B4-BE49-F238E27FC236}">
                <ns2:creationId id="{B8453F21-DF19-4023-9A59-858620E0D1A8}"/>
              </a:ext>
            </a:extLst>
          </p:cNvPr>
          <p:cNvSpPr txBox="1">
            <a:spLocks noGrp="1"/>
          </p:cNvSpPr>
          <p:nvPr/>
        </p:nvSpPr>
        <p:spPr>
          <a:xfrm>
            <a:off x="762000" y="33337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1.</a:t>
            </a:r>
          </a:p>
        </p:txBody>
      </p:sp>
      <p:sp>
        <p:nvSpPr>
          <p:cNvPr id="7" name="">
            <a:extLst>
              <a:ext uri="{FF2B5EF4-FFF2-40B4-BE49-F238E27FC236}">
                <ns2:creationId id="{DD4ACA25-E436-4CD4-8332-25C6E0FA7EA3}"/>
              </a:ext>
            </a:extLst>
          </p:cNvPr>
          <p:cNvSpPr txBox="1">
            <a:spLocks noGrp="1"/>
          </p:cNvSpPr>
          <p:nvPr/>
        </p:nvSpPr>
        <p:spPr>
          <a:xfrm>
            <a:off x="1619250" y="33337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Why now</a:t>
            </a:r>
          </a:p>
        </p:txBody>
      </p:sp>
      <p:sp>
        <p:nvSpPr>
          <p:cNvPr id="8" name="">
            <a:extLst>
              <a:ext uri="{FF2B5EF4-FFF2-40B4-BE49-F238E27FC236}">
                <ns2:creationId id="{08D7A988-174B-4587-81B2-137BA4F916A6}"/>
              </a:ext>
            </a:extLst>
          </p:cNvPr>
          <p:cNvSpPr txBox="1">
            <a:spLocks noGrp="1"/>
          </p:cNvSpPr>
          <p:nvPr/>
        </p:nvSpPr>
        <p:spPr>
          <a:xfrm>
            <a:off x="762000" y="39814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2.</a:t>
            </a:r>
          </a:p>
        </p:txBody>
      </p:sp>
      <p:sp>
        <p:nvSpPr>
          <p:cNvPr id="9" name="">
            <a:extLst>
              <a:ext uri="{FF2B5EF4-FFF2-40B4-BE49-F238E27FC236}">
                <ns2:creationId id="{4719DE59-149E-48A4-8C5D-BCBE6584C488}"/>
              </a:ext>
            </a:extLst>
          </p:cNvPr>
          <p:cNvSpPr txBox="1">
            <a:spLocks noGrp="1"/>
          </p:cNvSpPr>
          <p:nvPr/>
        </p:nvSpPr>
        <p:spPr>
          <a:xfrm>
            <a:off x="1619250" y="39814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Architecture</a:t>
            </a:r>
          </a:p>
        </p:txBody>
      </p:sp>
      <p:sp>
        <p:nvSpPr>
          <p:cNvPr id="10" name="">
            <a:extLst>
              <a:ext uri="{FF2B5EF4-FFF2-40B4-BE49-F238E27FC236}">
                <ns2:creationId id="{66F03D0D-6746-4E52-80FC-EFD44344E94E}"/>
              </a:ext>
            </a:extLst>
          </p:cNvPr>
          <p:cNvSpPr txBox="1">
            <a:spLocks noGrp="1"/>
          </p:cNvSpPr>
          <p:nvPr/>
        </p:nvSpPr>
        <p:spPr>
          <a:xfrm>
            <a:off x="762000" y="46291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17A56487-CD28-4123-8F58-1A8C9AAB19AE}"/>
              </a:ext>
            </a:extLst>
          </p:cNvPr>
          <p:cNvSpPr txBox="1">
            <a:spLocks noGrp="1"/>
          </p:cNvSpPr>
          <p:nvPr/>
        </p:nvSpPr>
        <p:spPr>
          <a:xfrm>
            <a:off x="1619250" y="46291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Data sources</a:t>
            </a:r>
          </a:p>
        </p:txBody>
      </p:sp>
      <p:sp>
        <p:nvSpPr>
          <p:cNvPr id="12" name="">
            <a:extLst>
              <a:ext uri="{FF2B5EF4-FFF2-40B4-BE49-F238E27FC236}">
                <ns2:creationId id="{F489B774-0BC7-4A90-B7AA-9DA49CAA05CD}"/>
              </a:ext>
            </a:extLst>
          </p:cNvPr>
          <p:cNvSpPr txBox="1">
            <a:spLocks noGrp="1"/>
          </p:cNvSpPr>
          <p:nvPr/>
        </p:nvSpPr>
        <p:spPr>
          <a:xfrm>
            <a:off x="762000" y="52768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4.</a:t>
            </a:r>
          </a:p>
        </p:txBody>
      </p:sp>
      <p:sp>
        <p:nvSpPr>
          <p:cNvPr id="13" name="">
            <a:extLst>
              <a:ext uri="{FF2B5EF4-FFF2-40B4-BE49-F238E27FC236}">
                <ns2:creationId id="{035813C4-B03C-4C6B-B3F8-02E2BC87BA91}"/>
              </a:ext>
            </a:extLst>
          </p:cNvPr>
          <p:cNvSpPr txBox="1">
            <a:spLocks noGrp="1"/>
          </p:cNvSpPr>
          <p:nvPr/>
        </p:nvSpPr>
        <p:spPr>
          <a:xfrm>
            <a:off x="1619250" y="52768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Code-collab surface</a:t>
            </a:r>
          </a:p>
        </p:txBody>
      </p:sp>
      <p:sp>
        <p:nvSpPr>
          <p:cNvPr id="14" name="">
            <a:extLst>
              <a:ext uri="{FF2B5EF4-FFF2-40B4-BE49-F238E27FC236}">
                <ns2:creationId id="{CE84C8D4-6FA4-4193-80DF-F9CBE20D18A0}"/>
              </a:ext>
            </a:extLst>
          </p:cNvPr>
          <p:cNvSpPr txBox="1">
            <a:spLocks noGrp="1"/>
          </p:cNvSpPr>
          <p:nvPr/>
        </p:nvSpPr>
        <p:spPr>
          <a:xfrm>
            <a:off x="762000" y="59245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5.</a:t>
            </a:r>
          </a:p>
        </p:txBody>
      </p:sp>
      <p:sp>
        <p:nvSpPr>
          <p:cNvPr id="15" name="">
            <a:extLst>
              <a:ext uri="{FF2B5EF4-FFF2-40B4-BE49-F238E27FC236}">
                <ns2:creationId id="{1952CA46-6393-4526-9E1E-1EB79129D368}"/>
              </a:ext>
            </a:extLst>
          </p:cNvPr>
          <p:cNvSpPr txBox="1">
            <a:spLocks noGrp="1"/>
          </p:cNvSpPr>
          <p:nvPr/>
        </p:nvSpPr>
        <p:spPr>
          <a:xfrm>
            <a:off x="1619250" y="59245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Permissioning</a:t>
            </a:r>
          </a:p>
        </p:txBody>
      </p:sp>
      <p:sp>
        <p:nvSpPr>
          <p:cNvPr id="16" name="">
            <a:extLst>
              <a:ext uri="{FF2B5EF4-FFF2-40B4-BE49-F238E27FC236}">
                <ns2:creationId id="{53971EDD-A903-438C-A2EC-12E883951DA8}"/>
              </a:ext>
            </a:extLst>
          </p:cNvPr>
          <p:cNvSpPr txBox="1">
            <a:spLocks noGrp="1"/>
          </p:cNvSpPr>
          <p:nvPr/>
        </p:nvSpPr>
        <p:spPr>
          <a:xfrm>
            <a:off x="762000" y="65722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6.</a:t>
            </a:r>
          </a:p>
        </p:txBody>
      </p:sp>
      <p:sp>
        <p:nvSpPr>
          <p:cNvPr id="17" name="">
            <a:extLst>
              <a:ext uri="{FF2B5EF4-FFF2-40B4-BE49-F238E27FC236}">
                <ns2:creationId id="{95FFCFF4-647C-4771-8BFB-A0821230B4FE}"/>
              </a:ext>
            </a:extLst>
          </p:cNvPr>
          <p:cNvSpPr txBox="1">
            <a:spLocks noGrp="1"/>
          </p:cNvSpPr>
          <p:nvPr/>
        </p:nvSpPr>
        <p:spPr>
          <a:xfrm>
            <a:off x="1619250" y="65722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Use cases</a:t>
            </a:r>
          </a:p>
        </p:txBody>
      </p:sp>
      <p:sp>
        <p:nvSpPr>
          <p:cNvPr id="18" name="">
            <a:extLst>
              <a:ext uri="{FF2B5EF4-FFF2-40B4-BE49-F238E27FC236}">
                <ns2:creationId id="{BD1932DF-1D7D-424E-9976-86D3965119FE}"/>
              </a:ext>
            </a:extLst>
          </p:cNvPr>
          <p:cNvSpPr txBox="1">
            <a:spLocks noGrp="1"/>
          </p:cNvSpPr>
          <p:nvPr/>
        </p:nvSpPr>
        <p:spPr>
          <a:xfrm>
            <a:off x="762000" y="72199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7.</a:t>
            </a:r>
          </a:p>
        </p:txBody>
      </p:sp>
      <p:sp>
        <p:nvSpPr>
          <p:cNvPr id="19" name="">
            <a:extLst>
              <a:ext uri="{FF2B5EF4-FFF2-40B4-BE49-F238E27FC236}">
                <ns2:creationId id="{01F44FAB-0B1C-46B7-9474-915AACE655DD}"/>
              </a:ext>
            </a:extLst>
          </p:cNvPr>
          <p:cNvSpPr txBox="1">
            <a:spLocks noGrp="1"/>
          </p:cNvSpPr>
          <p:nvPr/>
        </p:nvSpPr>
        <p:spPr>
          <a:xfrm>
            <a:off x="1619250" y="72199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Demo plan</a:t>
            </a:r>
          </a:p>
        </p:txBody>
      </p:sp>
      <p:sp>
        <p:nvSpPr>
          <p:cNvPr id="20" name="">
            <a:extLst>
              <a:ext uri="{FF2B5EF4-FFF2-40B4-BE49-F238E27FC236}">
                <ns2:creationId id="{423230FF-76A1-46D8-B9A4-1D3B5F4081B3}"/>
              </a:ext>
            </a:extLst>
          </p:cNvPr>
          <p:cNvSpPr txBox="1">
            <a:spLocks noGrp="1"/>
          </p:cNvSpPr>
          <p:nvPr/>
        </p:nvSpPr>
        <p:spPr>
          <a:xfrm>
            <a:off x="762000" y="78676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8.</a:t>
            </a:r>
          </a:p>
        </p:txBody>
      </p:sp>
      <p:sp>
        <p:nvSpPr>
          <p:cNvPr id="21" name="">
            <a:extLst>
              <a:ext uri="{FF2B5EF4-FFF2-40B4-BE49-F238E27FC236}">
                <ns2:creationId id="{970542AB-8037-47ED-9A3A-86D7C3A6A959}"/>
              </a:ext>
            </a:extLst>
          </p:cNvPr>
          <p:cNvSpPr txBox="1">
            <a:spLocks noGrp="1"/>
          </p:cNvSpPr>
          <p:nvPr/>
        </p:nvSpPr>
        <p:spPr>
          <a:xfrm>
            <a:off x="1619250" y="78676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Open questions</a:t>
            </a:r>
          </a:p>
        </p:txBody>
      </p:sp>
      <p:sp>
        <p:nvSpPr>
          <p:cNvPr id="22" name="">
            <a:extLst>
              <a:ext uri="{FF2B5EF4-FFF2-40B4-BE49-F238E27FC236}">
                <ns2:creationId id="{8C00B438-78B8-47A1-894E-4AD9CC012A38}"/>
              </a:ext>
            </a:extLst>
          </p:cNvPr>
          <p:cNvSpPr txBox="1">
            <a:spLocks noGrp="1"/>
          </p:cNvSpPr>
          <p:nvPr/>
        </p:nvSpPr>
        <p:spPr>
          <a:xfrm>
            <a:off x="762000" y="85153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9.</a:t>
            </a:r>
          </a:p>
        </p:txBody>
      </p:sp>
      <p:sp>
        <p:nvSpPr>
          <p:cNvPr id="23" name="">
            <a:extLst>
              <a:ext uri="{FF2B5EF4-FFF2-40B4-BE49-F238E27FC236}">
                <ns2:creationId id="{26B0E537-6025-49A3-B33B-0938A990C917}"/>
              </a:ext>
            </a:extLst>
          </p:cNvPr>
          <p:cNvSpPr txBox="1">
            <a:spLocks noGrp="1"/>
          </p:cNvSpPr>
          <p:nvPr/>
        </p:nvSpPr>
        <p:spPr>
          <a:xfrm>
            <a:off x="1619250" y="85153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Next steps</a:t>
            </a:r>
          </a:p>
        </p:txBody>
      </p:sp>
    </p:spTree>
    <p:extLst>
      <p:ext uri="{BB962C8B-B14F-4D97-AF65-F5344CB8AC3E}">
        <ns3:creationId val="1268769060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80599BD0-54F0-4C08-AD72-4F6D1902E8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F570F2CA-C45C-4297-8E24-911BF9C1E405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1C677EC8-48B6-4290-A10C-764235D7BCF7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1BA8FE01-D7A9-444E-AA47-DBCC450F7816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3 / 20</a:t>
            </a:r>
          </a:p>
        </p:txBody>
      </p:sp>
      <p:sp>
        <p:nvSpPr>
          <p:cNvPr id="5" name="">
            <a:extLst>
              <a:ext uri="{FF2B5EF4-FFF2-40B4-BE49-F238E27FC236}">
                <ns2:creationId id="{AAA0DDEA-7F71-4B98-AA2E-437EB5B8CCEE}"/>
              </a:ext>
            </a:extLst>
          </p:cNvPr>
          <p:cNvSpPr txBox="1">
            <a:spLocks noGrp="1"/>
          </p:cNvSpPr>
          <p:nvPr/>
        </p:nvSpPr>
        <p:spPr>
          <a:xfrm>
            <a:off x="762000" y="3190875"/>
            <a:ext cx="1524000" cy="1809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1</a:t>
            </a:r>
          </a:p>
        </p:txBody>
      </p:sp>
      <p:sp>
        <p:nvSpPr>
          <p:cNvPr id="6" name="">
            <a:extLst>
              <a:ext uri="{FF2B5EF4-FFF2-40B4-BE49-F238E27FC236}">
                <ns2:creationId id="{F8160263-0BF1-4477-B28C-02C71621F26E}"/>
              </a:ext>
            </a:extLst>
          </p:cNvPr>
          <p:cNvSpPr txBox="1">
            <a:spLocks noGrp="1"/>
          </p:cNvSpPr>
          <p:nvPr/>
        </p:nvSpPr>
        <p:spPr>
          <a:xfrm>
            <a:off x="2476500" y="3543300"/>
            <a:ext cx="14287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Why now</a:t>
            </a:r>
          </a:p>
        </p:txBody>
      </p:sp>
    </p:spTree>
    <p:extLst>
      <p:ext uri="{BB962C8B-B14F-4D97-AF65-F5344CB8AC3E}">
        <ns3:creationId val="5228777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34B859E3-4AA1-4E02-9E7C-24D344D22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B2861335-C8E4-4E7C-9352-ED6BC4EC1606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7360F5A6-76EA-4783-BA9B-5BEBC2C5B29A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371AC401-689B-437E-B364-6912EF552D5C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4 / 20</a:t>
            </a:r>
          </a:p>
        </p:txBody>
      </p:sp>
      <p:sp>
        <p:nvSpPr>
          <p:cNvPr id="5" name="">
            <a:extLst>
              <a:ext uri="{FF2B5EF4-FFF2-40B4-BE49-F238E27FC236}">
                <ns2:creationId id="{00D4AB01-CA93-4289-BAA3-5E0D80375E92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Why Centaur, why now</a:t>
            </a:r>
          </a:p>
        </p:txBody>
      </p:sp>
      <p:sp>
        <p:nvSpPr>
          <p:cNvPr id="6" name="">
            <a:extLst>
              <a:ext uri="{FF2B5EF4-FFF2-40B4-BE49-F238E27FC236}">
                <ns2:creationId id="{47FEA4B2-BDE9-42EE-87AD-7938486C86F1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Paradigm + Tempo open-sourced their internal agent platform under Apache 2.0.</a:t>
            </a:r>
          </a:p>
        </p:txBody>
      </p:sp>
      <p:sp>
        <p:nvSpPr>
          <p:cNvPr id="7" name="">
            <a:extLst>
              <a:ext uri="{FF2B5EF4-FFF2-40B4-BE49-F238E27FC236}">
                <ns2:creationId id="{F66B037D-6AFF-44E9-9180-669E1E3EDBEF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16764000" cy="219075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8" name="">
            <a:extLst>
              <a:ext uri="{FF2B5EF4-FFF2-40B4-BE49-F238E27FC236}">
                <ns2:creationId id="{DB3BAD2B-6816-413F-B170-7D1D17814AC8}"/>
              </a:ext>
            </a:extLst>
          </p:cNvPr>
          <p:cNvSpPr txBox="1">
            <a:spLocks noGrp="1"/>
          </p:cNvSpPr>
          <p:nvPr/>
        </p:nvSpPr>
        <p:spPr>
          <a:xfrm>
            <a:off x="1257300" y="3857625"/>
            <a:ext cx="1524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450" b="0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3450" b="0" i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“Most agent stacks are still built for one user on one machine.”</a:t>
            </a:r>
          </a:p>
        </p:txBody>
      </p:sp>
      <p:sp>
        <p:nvSpPr>
          <p:cNvPr id="9" name="">
            <a:extLst>
              <a:ext uri="{FF2B5EF4-FFF2-40B4-BE49-F238E27FC236}">
                <ns2:creationId id="{D325655C-25EC-42F7-B3DF-79827C4808B6}"/>
              </a:ext>
            </a:extLst>
          </p:cNvPr>
          <p:cNvSpPr txBox="1">
            <a:spLocks noGrp="1"/>
          </p:cNvSpPr>
          <p:nvPr/>
        </p:nvSpPr>
        <p:spPr>
          <a:xfrm>
            <a:off x="1257300" y="4876800"/>
            <a:ext cx="142875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800" b="0" i="1">
                <a:solidFill>
                  <a:srgbClr val="6E6E6E"/>
                </a:solidFill>
                <a:latin typeface="Inter"/>
                <a:ea typeface="Inter"/>
                <a:cs typeface="Inter"/>
              </a:rPr>
              <a:t>Organizations should own their stack, move at their own speed, use AI collaboratively.</a:t>
            </a:r>
          </a:p>
        </p:txBody>
      </p:sp>
      <p:sp>
        <p:nvSpPr>
          <p:cNvPr id="10" name="">
            <a:extLst>
              <a:ext uri="{FF2B5EF4-FFF2-40B4-BE49-F238E27FC236}">
                <ns2:creationId id="{56EFF1C8-6601-4D1B-B2BA-E136019D39F5}"/>
              </a:ext>
            </a:extLst>
          </p:cNvPr>
          <p:cNvSpPr txBox="1">
            <a:spLocks noGrp="1"/>
          </p:cNvSpPr>
          <p:nvPr/>
        </p:nvSpPr>
        <p:spPr>
          <a:xfrm>
            <a:off x="762000" y="72390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License</a:t>
            </a:r>
          </a:p>
        </p:txBody>
      </p:sp>
      <p:sp>
        <p:nvSpPr>
          <p:cNvPr id="11" name="">
            <a:extLst>
              <a:ext uri="{FF2B5EF4-FFF2-40B4-BE49-F238E27FC236}">
                <ns2:creationId id="{A5BC5E90-4FE7-4353-AD4D-ADF678950684}"/>
              </a:ext>
            </a:extLst>
          </p:cNvPr>
          <p:cNvSpPr txBox="1">
            <a:spLocks noGrp="1"/>
          </p:cNvSpPr>
          <p:nvPr/>
        </p:nvSpPr>
        <p:spPr>
          <a:xfrm>
            <a:off x="762000" y="7667625"/>
            <a:ext cx="4572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40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Apache 2.0</a:t>
            </a:r>
          </a:p>
        </p:txBody>
      </p:sp>
      <p:sp>
        <p:nvSpPr>
          <p:cNvPr id="12" name="">
            <a:extLst>
              <a:ext uri="{FF2B5EF4-FFF2-40B4-BE49-F238E27FC236}">
                <ns2:creationId id="{E7D38821-4DFE-46A6-A671-27BDD0CC4E27}"/>
              </a:ext>
            </a:extLst>
          </p:cNvPr>
          <p:cNvSpPr txBox="1">
            <a:spLocks noGrp="1"/>
          </p:cNvSpPr>
          <p:nvPr/>
        </p:nvSpPr>
        <p:spPr>
          <a:xfrm>
            <a:off x="7239000" y="72390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Built by</a:t>
            </a:r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 ns3:embed="R770c3e77b64349d4"/>
          <a:stretch/>
        </p:blipFill>
        <p:spPr>
          <a:xfrm>
            <a:off x="7239000" y="7791450"/>
            <a:ext cx="457200" cy="457200"/>
          </a:xfrm>
          <a:prstGeom prst="rect">
            <a:avLst/>
          </a:prstGeom>
        </p:spPr>
      </p:pic>
      <p:sp>
        <p:nvSpPr>
          <p:cNvPr id="14" name="">
            <a:extLst>
              <a:ext uri="{FF2B5EF4-FFF2-40B4-BE49-F238E27FC236}">
                <ns2:creationId id="{5E1BFDB4-A91C-4EA1-A869-CD62C08142A5}"/>
              </a:ext>
            </a:extLst>
          </p:cNvPr>
          <p:cNvSpPr txBox="1">
            <a:spLocks noGrp="1"/>
          </p:cNvSpPr>
          <p:nvPr/>
        </p:nvSpPr>
        <p:spPr>
          <a:xfrm>
            <a:off x="7886700" y="7734300"/>
            <a:ext cx="2095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Paradigm</a:t>
            </a:r>
          </a:p>
        </p:txBody>
      </p:sp>
      <p:pic>
        <p:nvPicPr>
          <p:cNvPr id="15" name=""/>
          <p:cNvPicPr>
            <a:picLocks noChangeAspect="1"/>
          </p:cNvPicPr>
          <p:nvPr/>
        </p:nvPicPr>
        <p:blipFill>
          <a:blip ns3:embed="R483551197a9546b5"/>
          <a:stretch/>
        </p:blipFill>
        <p:spPr>
          <a:xfrm>
            <a:off x="10668828" y="7791450"/>
            <a:ext cx="1636643" cy="361950"/>
          </a:xfrm>
          <a:prstGeom prst="rect">
            <a:avLst/>
          </a:prstGeom>
        </p:spPr>
      </p:pic>
    </p:spTree>
    <p:extLst>
      <p:ext uri="{BB962C8B-B14F-4D97-AF65-F5344CB8AC3E}">
        <ns4:creationId val="48609015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BE00A282-59D9-4A98-857B-D20DB68777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4083FC86-ED94-485B-878B-DBC76E90B7C9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14EB61E8-5F9C-4B2A-A424-09B6F6012116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900D52CC-05E3-44A0-8D6C-00E41985CA88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5 / 20</a:t>
            </a:r>
          </a:p>
        </p:txBody>
      </p:sp>
      <p:sp>
        <p:nvSpPr>
          <p:cNvPr id="5" name="">
            <a:extLst>
              <a:ext uri="{FF2B5EF4-FFF2-40B4-BE49-F238E27FC236}">
                <ns2:creationId id="{17EE1008-E981-4228-86B9-19D3B04C7FA3}"/>
              </a:ext>
            </a:extLst>
          </p:cNvPr>
          <p:cNvSpPr txBox="1">
            <a:spLocks noGrp="1"/>
          </p:cNvSpPr>
          <p:nvPr/>
        </p:nvSpPr>
        <p:spPr>
          <a:xfrm>
            <a:off x="762000" y="3190875"/>
            <a:ext cx="1524000" cy="1809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2</a:t>
            </a:r>
          </a:p>
        </p:txBody>
      </p:sp>
      <p:sp>
        <p:nvSpPr>
          <p:cNvPr id="6" name="">
            <a:extLst>
              <a:ext uri="{FF2B5EF4-FFF2-40B4-BE49-F238E27FC236}">
                <ns2:creationId id="{DACB2288-4258-4C42-A273-EE6FB4407DE3}"/>
              </a:ext>
            </a:extLst>
          </p:cNvPr>
          <p:cNvSpPr txBox="1">
            <a:spLocks noGrp="1"/>
          </p:cNvSpPr>
          <p:nvPr/>
        </p:nvSpPr>
        <p:spPr>
          <a:xfrm>
            <a:off x="2476500" y="3543300"/>
            <a:ext cx="14287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Architecture</a:t>
            </a:r>
          </a:p>
        </p:txBody>
      </p:sp>
    </p:spTree>
    <p:extLst>
      <p:ext uri="{BB962C8B-B14F-4D97-AF65-F5344CB8AC3E}">
        <ns3:creationId val="1765718508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3FE5427-AD86-4E5A-B23E-F5F2C25AED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4A33150C-A669-40D0-89B8-70DD9B8A95FB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F2702AC2-92D1-4887-AFDB-FDCC936E7B8D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6F5B79B5-4654-45BF-B69A-15EA9DF42A3E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6 / 20</a:t>
            </a:r>
          </a:p>
        </p:txBody>
      </p:sp>
      <p:sp>
        <p:nvSpPr>
          <p:cNvPr id="5" name="">
            <a:extLst>
              <a:ext uri="{FF2B5EF4-FFF2-40B4-BE49-F238E27FC236}">
                <ns2:creationId id="{D2C3292F-4C30-49E3-A22C-5884DAEBFE05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What the architecture has to prove</a:t>
            </a:r>
          </a:p>
        </p:txBody>
      </p:sp>
      <p:sp>
        <p:nvSpPr>
          <p:cNvPr id="6" name="">
            <a:extLst>
              <a:ext uri="{FF2B5EF4-FFF2-40B4-BE49-F238E27FC236}">
                <ns2:creationId id="{635D7237-66DB-4693-9E46-BDD07DE55A03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Before Centaur is useful inside an organization, it has to answer six rollout questions.</a:t>
            </a:r>
          </a:p>
        </p:txBody>
      </p:sp>
      <p:sp>
        <p:nvSpPr>
          <p:cNvPr id="7" name="">
            <a:extLst>
              <a:ext uri="{FF2B5EF4-FFF2-40B4-BE49-F238E27FC236}">
                <ns2:creationId id="{996F1725-4F7A-4A23-BCC2-DBAF61AFB993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5429250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F5C1045A-C1EC-48E6-A85E-4F60721C14CD}"/>
              </a:ext>
            </a:extLst>
          </p:cNvPr>
          <p:cNvSpPr txBox="1">
            <a:spLocks noGrp="1"/>
          </p:cNvSpPr>
          <p:nvPr/>
        </p:nvSpPr>
        <p:spPr>
          <a:xfrm>
            <a:off x="990600" y="36957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Boundary</a:t>
            </a:r>
          </a:p>
        </p:txBody>
      </p:sp>
      <p:sp>
        <p:nvSpPr>
          <p:cNvPr id="9" name="">
            <a:extLst>
              <a:ext uri="{FF2B5EF4-FFF2-40B4-BE49-F238E27FC236}">
                <ns2:creationId id="{D23BCA46-ED39-4C0C-8415-DCB2AFC25313}"/>
              </a:ext>
            </a:extLst>
          </p:cNvPr>
          <p:cNvSpPr txBox="1">
            <a:spLocks noGrp="1"/>
          </p:cNvSpPr>
          <p:nvPr/>
        </p:nvSpPr>
        <p:spPr>
          <a:xfrm>
            <a:off x="990600" y="4248150"/>
            <a:ext cx="49720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Can we trust the credential and network boundary?</a:t>
            </a:r>
          </a:p>
        </p:txBody>
      </p:sp>
      <p:sp>
        <p:nvSpPr>
          <p:cNvPr id="10" name="">
            <a:extLst>
              <a:ext uri="{FF2B5EF4-FFF2-40B4-BE49-F238E27FC236}">
                <ns2:creationId id="{B066A260-B703-4988-89D9-2E5CB5DC6951}"/>
              </a:ext>
            </a:extLst>
          </p:cNvPr>
          <p:cNvSpPr>
            <a:spLocks noGrp="1"/>
          </p:cNvSpPr>
          <p:nvPr/>
        </p:nvSpPr>
        <p:spPr>
          <a:xfrm>
            <a:off x="6400800" y="3429000"/>
            <a:ext cx="5429250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D16E181-FA74-4F49-82C5-5D0721F92DC3}"/>
              </a:ext>
            </a:extLst>
          </p:cNvPr>
          <p:cNvSpPr txBox="1">
            <a:spLocks noGrp="1"/>
          </p:cNvSpPr>
          <p:nvPr/>
        </p:nvSpPr>
        <p:spPr>
          <a:xfrm>
            <a:off x="6629400" y="36957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Slack</a:t>
            </a:r>
          </a:p>
        </p:txBody>
      </p:sp>
      <p:sp>
        <p:nvSpPr>
          <p:cNvPr id="12" name="">
            <a:extLst>
              <a:ext uri="{FF2B5EF4-FFF2-40B4-BE49-F238E27FC236}">
                <ns2:creationId id="{6CFB76FF-0FF7-406D-ADEB-ADD082F659DE}"/>
              </a:ext>
            </a:extLst>
          </p:cNvPr>
          <p:cNvSpPr txBox="1">
            <a:spLocks noGrp="1"/>
          </p:cNvSpPr>
          <p:nvPr/>
        </p:nvSpPr>
        <p:spPr>
          <a:xfrm>
            <a:off x="6629400" y="4248150"/>
            <a:ext cx="49720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Can it feel native where the company already works?</a:t>
            </a:r>
          </a:p>
        </p:txBody>
      </p:sp>
      <p:sp>
        <p:nvSpPr>
          <p:cNvPr id="13" name="">
            <a:extLst>
              <a:ext uri="{FF2B5EF4-FFF2-40B4-BE49-F238E27FC236}">
                <ns2:creationId id="{C1ADA521-C978-4014-BA1C-5F6D502FD4E9}"/>
              </a:ext>
            </a:extLst>
          </p:cNvPr>
          <p:cNvSpPr>
            <a:spLocks noGrp="1"/>
          </p:cNvSpPr>
          <p:nvPr/>
        </p:nvSpPr>
        <p:spPr>
          <a:xfrm>
            <a:off x="12039600" y="3429000"/>
            <a:ext cx="5429250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FCBBDB87-2B5C-43F8-AB1F-EA3C81B2428D}"/>
              </a:ext>
            </a:extLst>
          </p:cNvPr>
          <p:cNvSpPr txBox="1">
            <a:spLocks noGrp="1"/>
          </p:cNvSpPr>
          <p:nvPr/>
        </p:nvSpPr>
        <p:spPr>
          <a:xfrm>
            <a:off x="12268200" y="36957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State</a:t>
            </a:r>
          </a:p>
        </p:txBody>
      </p:sp>
      <p:sp>
        <p:nvSpPr>
          <p:cNvPr id="15" name="">
            <a:extLst>
              <a:ext uri="{FF2B5EF4-FFF2-40B4-BE49-F238E27FC236}">
                <ns2:creationId id="{CE76D02F-2A85-4A1A-88AD-8BF5CCAB5C57}"/>
              </a:ext>
            </a:extLst>
          </p:cNvPr>
          <p:cNvSpPr txBox="1">
            <a:spLocks noGrp="1"/>
          </p:cNvSpPr>
          <p:nvPr/>
        </p:nvSpPr>
        <p:spPr>
          <a:xfrm>
            <a:off x="12268200" y="4248150"/>
            <a:ext cx="49720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Can every turn survive restarts, retries and audits?</a:t>
            </a:r>
          </a:p>
        </p:txBody>
      </p:sp>
      <p:sp>
        <p:nvSpPr>
          <p:cNvPr id="16" name="">
            <a:extLst>
              <a:ext uri="{FF2B5EF4-FFF2-40B4-BE49-F238E27FC236}">
                <ns2:creationId id="{180F2457-48E1-4419-8610-812857E64AF6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5429250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7F24BF5-5981-482C-94DB-26A77202260A}"/>
              </a:ext>
            </a:extLst>
          </p:cNvPr>
          <p:cNvSpPr txBox="1">
            <a:spLocks noGrp="1"/>
          </p:cNvSpPr>
          <p:nvPr/>
        </p:nvSpPr>
        <p:spPr>
          <a:xfrm>
            <a:off x="990600" y="55245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Tools</a:t>
            </a:r>
          </a:p>
        </p:txBody>
      </p:sp>
      <p:sp>
        <p:nvSpPr>
          <p:cNvPr id="18" name="">
            <a:extLst>
              <a:ext uri="{FF2B5EF4-FFF2-40B4-BE49-F238E27FC236}">
                <ns2:creationId id="{53088FA2-4BC4-4940-918A-5C4F966581DE}"/>
              </a:ext>
            </a:extLst>
          </p:cNvPr>
          <p:cNvSpPr txBox="1">
            <a:spLocks noGrp="1"/>
          </p:cNvSpPr>
          <p:nvPr/>
        </p:nvSpPr>
        <p:spPr>
          <a:xfrm>
            <a:off x="990600" y="6076950"/>
            <a:ext cx="49720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Can we add team-specific tools without forking upstream?</a:t>
            </a:r>
          </a:p>
        </p:txBody>
      </p:sp>
      <p:sp>
        <p:nvSpPr>
          <p:cNvPr id="19" name="">
            <a:extLst>
              <a:ext uri="{FF2B5EF4-FFF2-40B4-BE49-F238E27FC236}">
                <ns2:creationId id="{C62A3F02-634D-4C55-A9B2-27148489E294}"/>
              </a:ext>
            </a:extLst>
          </p:cNvPr>
          <p:cNvSpPr>
            <a:spLocks noGrp="1"/>
          </p:cNvSpPr>
          <p:nvPr/>
        </p:nvSpPr>
        <p:spPr>
          <a:xfrm>
            <a:off x="6400800" y="5257800"/>
            <a:ext cx="5429250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03CDDC85-6B8D-4BD8-9521-9177028E9399}"/>
              </a:ext>
            </a:extLst>
          </p:cNvPr>
          <p:cNvSpPr txBox="1">
            <a:spLocks noGrp="1"/>
          </p:cNvSpPr>
          <p:nvPr/>
        </p:nvSpPr>
        <p:spPr>
          <a:xfrm>
            <a:off x="6629400" y="55245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Policy</a:t>
            </a:r>
          </a:p>
        </p:txBody>
      </p:sp>
      <p:sp>
        <p:nvSpPr>
          <p:cNvPr id="21" name="">
            <a:extLst>
              <a:ext uri="{FF2B5EF4-FFF2-40B4-BE49-F238E27FC236}">
                <ns2:creationId id="{3AAEAE15-222F-4B57-A325-B710F288B0B7}"/>
              </a:ext>
            </a:extLst>
          </p:cNvPr>
          <p:cNvSpPr txBox="1">
            <a:spLocks noGrp="1"/>
          </p:cNvSpPr>
          <p:nvPr/>
        </p:nvSpPr>
        <p:spPr>
          <a:xfrm>
            <a:off x="6629400" y="6076950"/>
            <a:ext cx="49720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Can access vary by channel, user and action type?</a:t>
            </a:r>
          </a:p>
        </p:txBody>
      </p:sp>
      <p:sp>
        <p:nvSpPr>
          <p:cNvPr id="22" name="">
            <a:extLst>
              <a:ext uri="{FF2B5EF4-FFF2-40B4-BE49-F238E27FC236}">
                <ns2:creationId id="{C2091B7C-91DA-4CCC-8F03-C286C3669704}"/>
              </a:ext>
            </a:extLst>
          </p:cNvPr>
          <p:cNvSpPr>
            <a:spLocks noGrp="1"/>
          </p:cNvSpPr>
          <p:nvPr/>
        </p:nvSpPr>
        <p:spPr>
          <a:xfrm>
            <a:off x="12039600" y="5257800"/>
            <a:ext cx="5429250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2D1541BA-8BBA-4F04-9418-7DE7F5FEA3C4}"/>
              </a:ext>
            </a:extLst>
          </p:cNvPr>
          <p:cNvSpPr txBox="1">
            <a:spLocks noGrp="1"/>
          </p:cNvSpPr>
          <p:nvPr/>
        </p:nvSpPr>
        <p:spPr>
          <a:xfrm>
            <a:off x="12268200" y="55245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Metrics</a:t>
            </a:r>
          </a:p>
        </p:txBody>
      </p:sp>
      <p:sp>
        <p:nvSpPr>
          <p:cNvPr id="24" name="">
            <a:extLst>
              <a:ext uri="{FF2B5EF4-FFF2-40B4-BE49-F238E27FC236}">
                <ns2:creationId id="{CACDF476-C9C6-4230-AE82-A346C2930F45}"/>
              </a:ext>
            </a:extLst>
          </p:cNvPr>
          <p:cNvSpPr txBox="1">
            <a:spLocks noGrp="1"/>
          </p:cNvSpPr>
          <p:nvPr/>
        </p:nvSpPr>
        <p:spPr>
          <a:xfrm>
            <a:off x="12268200" y="6076950"/>
            <a:ext cx="49720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Can it measure outcomes and suggest improvements?</a:t>
            </a:r>
          </a:p>
        </p:txBody>
      </p:sp>
      <p:sp>
        <p:nvSpPr>
          <p:cNvPr id="25" name="">
            <a:extLst>
              <a:ext uri="{FF2B5EF4-FFF2-40B4-BE49-F238E27FC236}">
                <ns2:creationId id="{736F391B-3A2C-4746-B650-1942DC6C3DB4}"/>
              </a:ext>
            </a:extLst>
          </p:cNvPr>
          <p:cNvSpPr txBox="1">
            <a:spLocks noGrp="1"/>
          </p:cNvSpPr>
          <p:nvPr/>
        </p:nvSpPr>
        <p:spPr>
          <a:xfrm>
            <a:off x="762000" y="9239250"/>
            <a:ext cx="142875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800" b="0" i="1">
                <a:solidFill>
                  <a:srgbClr val="6E6E6E"/>
                </a:solidFill>
                <a:latin typeface="Inter"/>
                <a:ea typeface="Inter"/>
                <a:cs typeface="Inter"/>
              </a:rPr>
              <a:t>The next scenes answer these mechanically: service flow, responsibilities, permissions and rollout surface.</a:t>
            </a:r>
          </a:p>
        </p:txBody>
      </p:sp>
    </p:spTree>
    <p:extLst>
      <p:ext uri="{BB962C8B-B14F-4D97-AF65-F5344CB8AC3E}">
        <ns3:creationId val="276098507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486CDDB-08E1-4280-B587-768A0B2B42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BF8B2E38-E70D-446E-BB06-F72D57DFC75B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F07A2721-116C-4E81-9A67-C9ECDB3E2CE8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56B84ED7-CFAF-4393-A8DD-F5072BB1D826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7 / 20</a:t>
            </a:r>
          </a:p>
        </p:txBody>
      </p:sp>
      <p:sp>
        <p:nvSpPr>
          <p:cNvPr id="5" name="">
            <a:extLst>
              <a:ext uri="{FF2B5EF4-FFF2-40B4-BE49-F238E27FC236}">
                <ns2:creationId id="{02175650-B7D2-42FB-A006-A630B7BE1A82}"/>
              </a:ext>
            </a:extLst>
          </p:cNvPr>
          <p:cNvSpPr txBox="1">
            <a:spLocks noGrp="1"/>
          </p:cNvSpPr>
          <p:nvPr/>
        </p:nvSpPr>
        <p:spPr>
          <a:xfrm>
            <a:off x="762000" y="1143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4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How it works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ns3:embed="Rd408b478ecec4a69"/>
          <a:stretch/>
        </p:blipFill>
        <p:spPr>
          <a:xfrm>
            <a:off x="12573000" y="1219200"/>
            <a:ext cx="381000" cy="381000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C114B123-C751-4A98-8EA6-7E15D41ADF43}"/>
              </a:ext>
            </a:extLst>
          </p:cNvPr>
          <p:cNvSpPr txBox="1">
            <a:spLocks noGrp="1"/>
          </p:cNvSpPr>
          <p:nvPr/>
        </p:nvSpPr>
        <p:spPr>
          <a:xfrm>
            <a:off x="13096875" y="1257300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paradigmxyz/centaur</a:t>
            </a:r>
          </a:p>
        </p:txBody>
      </p:sp>
      <p:sp>
        <p:nvSpPr>
          <p:cNvPr id="8" name="">
            <a:extLst>
              <a:ext uri="{FF2B5EF4-FFF2-40B4-BE49-F238E27FC236}">
                <ns2:creationId id="{DAB00C74-D975-4968-AA90-FB5C8908713C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3143250" cy="2238375"/>
          </a:xfrm>
          <a:prstGeom prst="rect">
            <a:avLst/>
          </a:prstGeom>
          <a:solidFill>
            <a:srgbClr val="FFFFFF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9" name=""/>
          <p:cNvPicPr>
            <a:picLocks noChangeAspect="1"/>
          </p:cNvPicPr>
          <p:nvPr/>
        </p:nvPicPr>
        <p:blipFill>
          <a:blip ns3:embed="Ra14b35c55bbd4450"/>
          <a:stretch/>
        </p:blipFill>
        <p:spPr>
          <a:xfrm>
            <a:off x="1009650" y="3257550"/>
            <a:ext cx="457200" cy="457200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53ECB737-082B-4548-A92B-8DF7644D06D3}"/>
              </a:ext>
            </a:extLst>
          </p:cNvPr>
          <p:cNvSpPr txBox="1">
            <a:spLocks noGrp="1"/>
          </p:cNvSpPr>
          <p:nvPr/>
        </p:nvSpPr>
        <p:spPr>
          <a:xfrm>
            <a:off x="1666875" y="3124200"/>
            <a:ext cx="26860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Workspace</a:t>
            </a:r>
          </a:p>
        </p:txBody>
      </p:sp>
      <p:sp>
        <p:nvSpPr>
          <p:cNvPr id="11" name="">
            <a:extLst>
              <a:ext uri="{FF2B5EF4-FFF2-40B4-BE49-F238E27FC236}">
                <ns2:creationId id="{B9B0CC39-79EF-43E9-AFDF-3D6D705C796B}"/>
              </a:ext>
            </a:extLst>
          </p:cNvPr>
          <p:cNvSpPr txBox="1">
            <a:spLocks noGrp="1"/>
          </p:cNvSpPr>
          <p:nvPr/>
        </p:nvSpPr>
        <p:spPr>
          <a:xfrm>
            <a:off x="1666875" y="354330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Set up within Slack</a:t>
            </a:r>
          </a:p>
        </p:txBody>
      </p:sp>
      <p:sp>
        <p:nvSpPr>
          <p:cNvPr id="12" name="">
            <a:extLst>
              <a:ext uri="{FF2B5EF4-FFF2-40B4-BE49-F238E27FC236}">
                <ns2:creationId id="{6DB91DEE-0FB6-4CC9-A77E-574420C7CA6A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314325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27826775-A82D-46F4-95C9-298C5E070BFE}"/>
              </a:ext>
            </a:extLst>
          </p:cNvPr>
          <p:cNvSpPr txBox="1">
            <a:spLocks noGrp="1"/>
          </p:cNvSpPr>
          <p:nvPr/>
        </p:nvSpPr>
        <p:spPr>
          <a:xfrm>
            <a:off x="7229475" y="3314700"/>
            <a:ext cx="26860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API</a:t>
            </a:r>
          </a:p>
        </p:txBody>
      </p:sp>
      <p:sp>
        <p:nvSpPr>
          <p:cNvPr id="14" name="">
            <a:extLst>
              <a:ext uri="{FF2B5EF4-FFF2-40B4-BE49-F238E27FC236}">
                <ns2:creationId id="{C1E684B3-DEB1-48E5-8F50-C541CE2A74DA}"/>
              </a:ext>
            </a:extLst>
          </p:cNvPr>
          <p:cNvSpPr txBox="1">
            <a:spLocks noGrp="1"/>
          </p:cNvSpPr>
          <p:nvPr/>
        </p:nvSpPr>
        <p:spPr>
          <a:xfrm>
            <a:off x="7229475" y="373380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control engine &amp; durable workflows</a:t>
            </a:r>
          </a:p>
        </p:txBody>
      </p:sp>
      <p:sp>
        <p:nvSpPr>
          <p:cNvPr id="15" name="">
            <a:extLst>
              <a:ext uri="{FF2B5EF4-FFF2-40B4-BE49-F238E27FC236}">
                <ns2:creationId id="{520F3DFA-D5AB-4BCF-A198-5A1E6404F578}"/>
              </a:ext>
            </a:extLst>
          </p:cNvPr>
          <p:cNvSpPr>
            <a:spLocks noGrp="1"/>
          </p:cNvSpPr>
          <p:nvPr/>
        </p:nvSpPr>
        <p:spPr>
          <a:xfrm>
            <a:off x="14097000" y="3048000"/>
            <a:ext cx="314325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8F0355FC-2C59-47E9-86F1-60B7BE6BD5B7}"/>
              </a:ext>
            </a:extLst>
          </p:cNvPr>
          <p:cNvSpPr txBox="1">
            <a:spLocks noGrp="1"/>
          </p:cNvSpPr>
          <p:nvPr/>
        </p:nvSpPr>
        <p:spPr>
          <a:xfrm>
            <a:off x="14325600" y="3314700"/>
            <a:ext cx="26860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Postgres</a:t>
            </a:r>
          </a:p>
        </p:txBody>
      </p:sp>
      <p:sp>
        <p:nvSpPr>
          <p:cNvPr id="17" name="">
            <a:extLst>
              <a:ext uri="{FF2B5EF4-FFF2-40B4-BE49-F238E27FC236}">
                <ns2:creationId id="{4D370FA5-F11D-4E2C-B9A2-8AE2DB7E5CCF}"/>
              </a:ext>
            </a:extLst>
          </p:cNvPr>
          <p:cNvSpPr txBox="1">
            <a:spLocks noGrp="1"/>
          </p:cNvSpPr>
          <p:nvPr/>
        </p:nvSpPr>
        <p:spPr>
          <a:xfrm>
            <a:off x="14325600" y="373380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durable state</a:t>
            </a:r>
          </a:p>
        </p:txBody>
      </p:sp>
      <p:sp>
        <p:nvSpPr>
          <p:cNvPr id="18" name="">
            <a:extLst>
              <a:ext uri="{FF2B5EF4-FFF2-40B4-BE49-F238E27FC236}">
                <ns2:creationId id="{F2361EEF-C231-476F-8223-4A84130543AF}"/>
              </a:ext>
            </a:extLst>
          </p:cNvPr>
          <p:cNvSpPr>
            <a:spLocks noGrp="1"/>
          </p:cNvSpPr>
          <p:nvPr/>
        </p:nvSpPr>
        <p:spPr>
          <a:xfrm>
            <a:off x="7000875" y="6191250"/>
            <a:ext cx="314325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9578AC6D-7E8C-468F-A065-2090D27C9193}"/>
              </a:ext>
            </a:extLst>
          </p:cNvPr>
          <p:cNvSpPr txBox="1">
            <a:spLocks noGrp="1"/>
          </p:cNvSpPr>
          <p:nvPr/>
        </p:nvSpPr>
        <p:spPr>
          <a:xfrm>
            <a:off x="7229475" y="6457950"/>
            <a:ext cx="26860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Sandbox</a:t>
            </a:r>
          </a:p>
        </p:txBody>
      </p:sp>
      <p:sp>
        <p:nvSpPr>
          <p:cNvPr id="20" name="">
            <a:extLst>
              <a:ext uri="{FF2B5EF4-FFF2-40B4-BE49-F238E27FC236}">
                <ns2:creationId id="{12ED3E76-E749-433C-A96E-1C314D52FF6A}"/>
              </a:ext>
            </a:extLst>
          </p:cNvPr>
          <p:cNvSpPr txBox="1">
            <a:spLocks noGrp="1"/>
          </p:cNvSpPr>
          <p:nvPr/>
        </p:nvSpPr>
        <p:spPr>
          <a:xfrm>
            <a:off x="7229475" y="687705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harness, skills &amp; custom tooling</a:t>
            </a:r>
          </a:p>
        </p:txBody>
      </p:sp>
      <p:sp>
        <p:nvSpPr>
          <p:cNvPr id="21" name="">
            <a:extLst>
              <a:ext uri="{FF2B5EF4-FFF2-40B4-BE49-F238E27FC236}">
                <ns2:creationId id="{DEA6676B-2D71-4479-8C1D-4B644B89638B}"/>
              </a:ext>
            </a:extLst>
          </p:cNvPr>
          <p:cNvSpPr>
            <a:spLocks noGrp="1"/>
          </p:cNvSpPr>
          <p:nvPr/>
        </p:nvSpPr>
        <p:spPr>
          <a:xfrm>
            <a:off x="7000875" y="8429625"/>
            <a:ext cx="314325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E97862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C6D136AF-6141-45BC-B5A7-AC5468EFA7D5}"/>
              </a:ext>
            </a:extLst>
          </p:cNvPr>
          <p:cNvSpPr txBox="1">
            <a:spLocks noGrp="1"/>
          </p:cNvSpPr>
          <p:nvPr/>
        </p:nvSpPr>
        <p:spPr>
          <a:xfrm>
            <a:off x="7229475" y="8696325"/>
            <a:ext cx="26860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Proxy</a:t>
            </a:r>
          </a:p>
        </p:txBody>
      </p:sp>
      <p:sp>
        <p:nvSpPr>
          <p:cNvPr id="23" name="">
            <a:extLst>
              <a:ext uri="{FF2B5EF4-FFF2-40B4-BE49-F238E27FC236}">
                <ns2:creationId id="{B1ACFDFC-6079-4491-BC35-928A6DE1AF6C}"/>
              </a:ext>
            </a:extLst>
          </p:cNvPr>
          <p:cNvSpPr txBox="1">
            <a:spLocks noGrp="1"/>
          </p:cNvSpPr>
          <p:nvPr/>
        </p:nvSpPr>
        <p:spPr>
          <a:xfrm>
            <a:off x="7229475" y="9115425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built on iron.sh</a:t>
            </a:r>
          </a:p>
        </p:txBody>
      </p:sp>
      <p:sp>
        <p:nvSpPr>
          <p:cNvPr id="24" name="">
            <a:extLst>
              <a:ext uri="{FF2B5EF4-FFF2-40B4-BE49-F238E27FC236}">
                <ns2:creationId id="{2305A300-6E9B-40E3-97EF-7BAE6D2B7C23}"/>
              </a:ext>
            </a:extLst>
          </p:cNvPr>
          <p:cNvSpPr>
            <a:spLocks noGrp="1"/>
          </p:cNvSpPr>
          <p:nvPr/>
        </p:nvSpPr>
        <p:spPr>
          <a:xfrm>
            <a:off x="14097000" y="8382000"/>
            <a:ext cx="314325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62CD0CE4-D4F2-46F7-A921-8789783D9614}"/>
              </a:ext>
            </a:extLst>
          </p:cNvPr>
          <p:cNvSpPr txBox="1">
            <a:spLocks noGrp="1"/>
          </p:cNvSpPr>
          <p:nvPr/>
        </p:nvSpPr>
        <p:spPr>
          <a:xfrm>
            <a:off x="14325600" y="8648700"/>
            <a:ext cx="26860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1Password</a:t>
            </a:r>
          </a:p>
        </p:txBody>
      </p:sp>
      <p:sp>
        <p:nvSpPr>
          <p:cNvPr id="26" name="">
            <a:extLst>
              <a:ext uri="{FF2B5EF4-FFF2-40B4-BE49-F238E27FC236}">
                <ns2:creationId id="{FF565B1E-8A75-4DD5-911B-256813622A04}"/>
              </a:ext>
            </a:extLst>
          </p:cNvPr>
          <p:cNvSpPr txBox="1">
            <a:spLocks noGrp="1"/>
          </p:cNvSpPr>
          <p:nvPr/>
        </p:nvSpPr>
        <p:spPr>
          <a:xfrm>
            <a:off x="14325600" y="906780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org secrets</a:t>
            </a:r>
          </a:p>
        </p:txBody>
      </p:sp>
      <p:sp>
        <p:nvSpPr>
          <p:cNvPr id="27" name="">
            <a:extLst>
              <a:ext uri="{FF2B5EF4-FFF2-40B4-BE49-F238E27FC236}">
                <ns2:creationId id="{64E4D6C8-0EDB-4F32-B281-40838B17F833}"/>
              </a:ext>
            </a:extLst>
          </p:cNvPr>
          <p:cNvSpPr txBox="1">
            <a:spLocks noGrp="1"/>
          </p:cNvSpPr>
          <p:nvPr/>
        </p:nvSpPr>
        <p:spPr>
          <a:xfrm>
            <a:off x="4095750" y="333375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registers thread</a:t>
            </a:r>
          </a:p>
        </p:txBody>
      </p:sp>
      <p:sp>
        <p:nvSpPr>
          <p:cNvPr id="28" name="">
            <a:extLst>
              <a:ext uri="{FF2B5EF4-FFF2-40B4-BE49-F238E27FC236}">
                <ns2:creationId id="{43DACCF5-C666-434B-9F08-C9052471AD34}"/>
              </a:ext>
            </a:extLst>
          </p:cNvPr>
          <p:cNvSpPr txBox="1">
            <a:spLocks noGrp="1"/>
          </p:cNvSpPr>
          <p:nvPr/>
        </p:nvSpPr>
        <p:spPr>
          <a:xfrm>
            <a:off x="11572875" y="333375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persists to</a:t>
            </a:r>
          </a:p>
        </p:txBody>
      </p:sp>
      <p:sp>
        <p:nvSpPr>
          <p:cNvPr id="29" name="">
            <a:extLst>
              <a:ext uri="{FF2B5EF4-FFF2-40B4-BE49-F238E27FC236}">
                <ns2:creationId id="{10309205-A436-4B1F-B4A7-FDF935BC08DA}"/>
              </a:ext>
            </a:extLst>
          </p:cNvPr>
          <p:cNvSpPr txBox="1">
            <a:spLocks noGrp="1"/>
          </p:cNvSpPr>
          <p:nvPr/>
        </p:nvSpPr>
        <p:spPr>
          <a:xfrm>
            <a:off x="7667625" y="51911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sends inputs to</a:t>
            </a:r>
          </a:p>
        </p:txBody>
      </p:sp>
      <p:sp>
        <p:nvSpPr>
          <p:cNvPr id="30" name="">
            <a:extLst>
              <a:ext uri="{FF2B5EF4-FFF2-40B4-BE49-F238E27FC236}">
                <ns2:creationId id="{A552D65E-E61A-43C5-B487-3A2305E87B8A}"/>
              </a:ext>
            </a:extLst>
          </p:cNvPr>
          <p:cNvSpPr txBox="1">
            <a:spLocks noGrp="1"/>
          </p:cNvSpPr>
          <p:nvPr/>
        </p:nvSpPr>
        <p:spPr>
          <a:xfrm>
            <a:off x="4762500" y="657225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create via Kubernetes</a:t>
            </a:r>
          </a:p>
        </p:txBody>
      </p:sp>
      <p:sp>
        <p:nvSpPr>
          <p:cNvPr id="31" name="">
            <a:extLst>
              <a:ext uri="{FF2B5EF4-FFF2-40B4-BE49-F238E27FC236}">
                <ns2:creationId id="{A1EF8D98-155B-4F8D-8C6F-E9D3DDE01B58}"/>
              </a:ext>
            </a:extLst>
          </p:cNvPr>
          <p:cNvSpPr txBox="1">
            <a:spLocks noGrp="1"/>
          </p:cNvSpPr>
          <p:nvPr/>
        </p:nvSpPr>
        <p:spPr>
          <a:xfrm>
            <a:off x="4762500" y="78581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internet egress via</a:t>
            </a:r>
          </a:p>
        </p:txBody>
      </p:sp>
      <p:sp>
        <p:nvSpPr>
          <p:cNvPr id="32" name="">
            <a:extLst>
              <a:ext uri="{FF2B5EF4-FFF2-40B4-BE49-F238E27FC236}">
                <ns2:creationId id="{6B1F6974-11EF-4BBD-90C1-DE71257896ED}"/>
              </a:ext>
            </a:extLst>
          </p:cNvPr>
          <p:cNvSpPr txBox="1">
            <a:spLocks noGrp="1"/>
          </p:cNvSpPr>
          <p:nvPr/>
        </p:nvSpPr>
        <p:spPr>
          <a:xfrm>
            <a:off x="11525250" y="866775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auth using</a:t>
            </a:r>
          </a:p>
        </p:txBody>
      </p:sp>
      <p:sp>
        <p:nvSpPr>
          <p:cNvPr id="33" name="Flow arrow 33"/>
          <p:cNvSpPr txBox="1">
            <a:spLocks noGrp="1"/>
          </p:cNvSpPr>
          <p:nvPr/>
        </p:nvSpPr>
        <p:spPr>
          <a:xfrm>
            <a:off x="6381750" y="3286125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34" name="Flow arrow 34"/>
          <p:cNvSpPr txBox="1">
            <a:spLocks noGrp="1"/>
          </p:cNvSpPr>
          <p:nvPr/>
        </p:nvSpPr>
        <p:spPr>
          <a:xfrm>
            <a:off x="13430250" y="3286125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35" name="Flow arrow 35"/>
          <p:cNvSpPr txBox="1">
            <a:spLocks noGrp="1"/>
          </p:cNvSpPr>
          <p:nvPr/>
        </p:nvSpPr>
        <p:spPr>
          <a:xfrm>
            <a:off x="8648700" y="5619750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↓</a:t>
            </a:r>
          </a:p>
        </p:txBody>
      </p:sp>
      <p:sp>
        <p:nvSpPr>
          <p:cNvPr id="36" name="Flow arrow 36"/>
          <p:cNvSpPr txBox="1">
            <a:spLocks noGrp="1"/>
          </p:cNvSpPr>
          <p:nvPr/>
        </p:nvSpPr>
        <p:spPr>
          <a:xfrm>
            <a:off x="6381750" y="6572250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37" name="Flow arrow 37"/>
          <p:cNvSpPr txBox="1">
            <a:spLocks noGrp="1"/>
          </p:cNvSpPr>
          <p:nvPr/>
        </p:nvSpPr>
        <p:spPr>
          <a:xfrm>
            <a:off x="6400800" y="8172450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38" name="Flow arrow 38"/>
          <p:cNvSpPr txBox="1">
            <a:spLocks noGrp="1"/>
          </p:cNvSpPr>
          <p:nvPr/>
        </p:nvSpPr>
        <p:spPr>
          <a:xfrm>
            <a:off x="10525125" y="5191125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returns outputs to API</a:t>
            </a:r>
          </a:p>
        </p:txBody>
      </p:sp>
      <p:sp>
        <p:nvSpPr>
          <p:cNvPr id="39" name="Flow arrow 39"/>
          <p:cNvSpPr txBox="1">
            <a:spLocks noGrp="1"/>
          </p:cNvSpPr>
          <p:nvPr/>
        </p:nvSpPr>
        <p:spPr>
          <a:xfrm>
            <a:off x="10077450" y="5095875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↑</a:t>
            </a:r>
          </a:p>
        </p:txBody>
      </p:sp>
      <p:sp>
        <p:nvSpPr>
          <p:cNvPr id="40" name="Flow arrow 40"/>
          <p:cNvSpPr txBox="1">
            <a:spLocks noGrp="1"/>
          </p:cNvSpPr>
          <p:nvPr/>
        </p:nvSpPr>
        <p:spPr>
          <a:xfrm>
            <a:off x="13430250" y="8620125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</p:spTree>
    <p:extLst>
      <p:ext uri="{BB962C8B-B14F-4D97-AF65-F5344CB8AC3E}">
        <ns4:creationId val="179799376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2963723-EA78-4038-A55E-93BC8CCA56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92489EDF-508E-4C1B-9585-03B46ADB020D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73E60CCF-0B6A-4BC2-B102-A52D3251A12E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C826A85D-D38F-4033-A03F-3FE9C8588D0D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8 / 20</a:t>
            </a:r>
          </a:p>
        </p:txBody>
      </p:sp>
      <p:sp>
        <p:nvSpPr>
          <p:cNvPr id="5" name="">
            <a:extLst>
              <a:ext uri="{FF2B5EF4-FFF2-40B4-BE49-F238E27FC236}">
                <ns2:creationId id="{C161AEB0-A254-456E-9383-AE5AA0EA31AB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Six services that make Centaur work</a:t>
            </a:r>
          </a:p>
        </p:txBody>
      </p:sp>
      <p:sp>
        <p:nvSpPr>
          <p:cNvPr id="6" name="">
            <a:extLst>
              <a:ext uri="{FF2B5EF4-FFF2-40B4-BE49-F238E27FC236}">
                <ns2:creationId id="{AEDDE353-FC3E-493D-A50C-7DD8918761F2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The runtime is simple: ingress, control, state, execution, egress and observability.</a:t>
            </a:r>
          </a:p>
        </p:txBody>
      </p:sp>
      <p:sp>
        <p:nvSpPr>
          <p:cNvPr id="7" name="">
            <a:extLst>
              <a:ext uri="{FF2B5EF4-FFF2-40B4-BE49-F238E27FC236}">
                <ns2:creationId id="{E2CB352D-CF98-4EDD-9D21-0CF58B667B8E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54292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613672BE-FE25-46A3-B501-E6A69875B539}"/>
              </a:ext>
            </a:extLst>
          </p:cNvPr>
          <p:cNvSpPr txBox="1">
            <a:spLocks noGrp="1"/>
          </p:cNvSpPr>
          <p:nvPr/>
        </p:nvSpPr>
        <p:spPr>
          <a:xfrm>
            <a:off x="990600" y="3495675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ns2:creationId id="{D76F617E-3B75-4B35-B0D0-E0F2D1A55486}"/>
              </a:ext>
            </a:extLst>
          </p:cNvPr>
          <p:cNvSpPr txBox="1">
            <a:spLocks noGrp="1"/>
          </p:cNvSpPr>
          <p:nvPr/>
        </p:nvSpPr>
        <p:spPr>
          <a:xfrm>
            <a:off x="990600" y="3857625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Slackbot</a:t>
            </a:r>
          </a:p>
        </p:txBody>
      </p:sp>
      <p:sp>
        <p:nvSpPr>
          <p:cNvPr id="10" name="">
            <a:extLst>
              <a:ext uri="{FF2B5EF4-FFF2-40B4-BE49-F238E27FC236}">
                <ns2:creationId id="{D113B075-1C5A-4EDC-A6DB-8F3EDCB6C016}"/>
              </a:ext>
            </a:extLst>
          </p:cNvPr>
          <p:cNvSpPr txBox="1">
            <a:spLocks noGrp="1"/>
          </p:cNvSpPr>
          <p:nvPr/>
        </p:nvSpPr>
        <p:spPr>
          <a:xfrm>
            <a:off x="990600" y="4352925"/>
            <a:ext cx="49720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Thin listener. Mentions become durable API turns.</a:t>
            </a:r>
          </a:p>
        </p:txBody>
      </p:sp>
      <p:sp>
        <p:nvSpPr>
          <p:cNvPr id="11" name="">
            <a:extLst>
              <a:ext uri="{FF2B5EF4-FFF2-40B4-BE49-F238E27FC236}">
                <ns2:creationId id="{726FF150-2372-404E-8EAF-A7E43E238B05}"/>
              </a:ext>
            </a:extLst>
          </p:cNvPr>
          <p:cNvSpPr>
            <a:spLocks noGrp="1"/>
          </p:cNvSpPr>
          <p:nvPr/>
        </p:nvSpPr>
        <p:spPr>
          <a:xfrm>
            <a:off x="6400800" y="3286125"/>
            <a:ext cx="54292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D100630D-5FC1-49A8-AC20-A3F46B4EAFB6}"/>
              </a:ext>
            </a:extLst>
          </p:cNvPr>
          <p:cNvSpPr txBox="1">
            <a:spLocks noGrp="1"/>
          </p:cNvSpPr>
          <p:nvPr/>
        </p:nvSpPr>
        <p:spPr>
          <a:xfrm>
            <a:off x="6629400" y="3495675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3" name="">
            <a:extLst>
              <a:ext uri="{FF2B5EF4-FFF2-40B4-BE49-F238E27FC236}">
                <ns2:creationId id="{10A9D4AF-7EF1-4447-9046-310B6A8F026C}"/>
              </a:ext>
            </a:extLst>
          </p:cNvPr>
          <p:cNvSpPr txBox="1">
            <a:spLocks noGrp="1"/>
          </p:cNvSpPr>
          <p:nvPr/>
        </p:nvSpPr>
        <p:spPr>
          <a:xfrm>
            <a:off x="6629400" y="3857625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API</a:t>
            </a:r>
          </a:p>
        </p:txBody>
      </p:sp>
      <p:sp>
        <p:nvSpPr>
          <p:cNvPr id="14" name="">
            <a:extLst>
              <a:ext uri="{FF2B5EF4-FFF2-40B4-BE49-F238E27FC236}">
                <ns2:creationId id="{11252723-8E46-4D5B-8B25-97D5A8AA5A95}"/>
              </a:ext>
            </a:extLst>
          </p:cNvPr>
          <p:cNvSpPr txBox="1">
            <a:spLocks noGrp="1"/>
          </p:cNvSpPr>
          <p:nvPr/>
        </p:nvSpPr>
        <p:spPr>
          <a:xfrm>
            <a:off x="6629400" y="4352925"/>
            <a:ext cx="49720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Control plane: spawn, message, execute and stream events.</a:t>
            </a:r>
          </a:p>
        </p:txBody>
      </p:sp>
      <p:sp>
        <p:nvSpPr>
          <p:cNvPr id="15" name="">
            <a:extLst>
              <a:ext uri="{FF2B5EF4-FFF2-40B4-BE49-F238E27FC236}">
                <ns2:creationId id="{6BC4E382-AA2D-4E38-A1E3-51AA1F8322BE}"/>
              </a:ext>
            </a:extLst>
          </p:cNvPr>
          <p:cNvSpPr>
            <a:spLocks noGrp="1"/>
          </p:cNvSpPr>
          <p:nvPr/>
        </p:nvSpPr>
        <p:spPr>
          <a:xfrm>
            <a:off x="12039600" y="3286125"/>
            <a:ext cx="54292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263A081F-291C-410B-AF3A-E1DA1E86A62E}"/>
              </a:ext>
            </a:extLst>
          </p:cNvPr>
          <p:cNvSpPr txBox="1">
            <a:spLocks noGrp="1"/>
          </p:cNvSpPr>
          <p:nvPr/>
        </p:nvSpPr>
        <p:spPr>
          <a:xfrm>
            <a:off x="12268200" y="3495675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7" name="">
            <a:extLst>
              <a:ext uri="{FF2B5EF4-FFF2-40B4-BE49-F238E27FC236}">
                <ns2:creationId id="{2E722B72-8D8C-4C22-B943-ACC83BE44E35}"/>
              </a:ext>
            </a:extLst>
          </p:cNvPr>
          <p:cNvSpPr txBox="1">
            <a:spLocks noGrp="1"/>
          </p:cNvSpPr>
          <p:nvPr/>
        </p:nvSpPr>
        <p:spPr>
          <a:xfrm>
            <a:off x="12268200" y="3857625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Postgres</a:t>
            </a:r>
          </a:p>
        </p:txBody>
      </p:sp>
      <p:sp>
        <p:nvSpPr>
          <p:cNvPr id="18" name="">
            <a:extLst>
              <a:ext uri="{FF2B5EF4-FFF2-40B4-BE49-F238E27FC236}">
                <ns2:creationId id="{D827DC5F-F493-4991-949F-EC73DDF6CCA2}"/>
              </a:ext>
            </a:extLst>
          </p:cNvPr>
          <p:cNvSpPr txBox="1">
            <a:spLocks noGrp="1"/>
          </p:cNvSpPr>
          <p:nvPr/>
        </p:nvSpPr>
        <p:spPr>
          <a:xfrm>
            <a:off x="12268200" y="4352925"/>
            <a:ext cx="49720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Single source of truth for threads, checkpoints, keys and audit logs.</a:t>
            </a:r>
          </a:p>
        </p:txBody>
      </p:sp>
      <p:sp>
        <p:nvSpPr>
          <p:cNvPr id="19" name="">
            <a:extLst>
              <a:ext uri="{FF2B5EF4-FFF2-40B4-BE49-F238E27FC236}">
                <ns2:creationId id="{59BE60CB-8EF8-4DDA-9F3E-D5DBEDB778F7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54292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8B0356F9-A615-4032-8230-8BFD3D01B7B1}"/>
              </a:ext>
            </a:extLst>
          </p:cNvPr>
          <p:cNvSpPr txBox="1">
            <a:spLocks noGrp="1"/>
          </p:cNvSpPr>
          <p:nvPr/>
        </p:nvSpPr>
        <p:spPr>
          <a:xfrm>
            <a:off x="990600" y="546735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1" name="">
            <a:extLst>
              <a:ext uri="{FF2B5EF4-FFF2-40B4-BE49-F238E27FC236}">
                <ns2:creationId id="{44C57901-3C07-4BCB-B983-ECCFB28825D2}"/>
              </a:ext>
            </a:extLst>
          </p:cNvPr>
          <p:cNvSpPr txBox="1">
            <a:spLocks noGrp="1"/>
          </p:cNvSpPr>
          <p:nvPr/>
        </p:nvSpPr>
        <p:spPr>
          <a:xfrm>
            <a:off x="990600" y="58293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Sandbox</a:t>
            </a:r>
          </a:p>
        </p:txBody>
      </p:sp>
      <p:sp>
        <p:nvSpPr>
          <p:cNvPr id="22" name="">
            <a:extLst>
              <a:ext uri="{FF2B5EF4-FFF2-40B4-BE49-F238E27FC236}">
                <ns2:creationId id="{4CC81549-1817-44D4-B592-0DD5ACECAC66}"/>
              </a:ext>
            </a:extLst>
          </p:cNvPr>
          <p:cNvSpPr txBox="1">
            <a:spLocks noGrp="1"/>
          </p:cNvSpPr>
          <p:nvPr/>
        </p:nvSpPr>
        <p:spPr>
          <a:xfrm>
            <a:off x="990600" y="6324600"/>
            <a:ext cx="49720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Per-conversation container with read-only mounts and tool access.</a:t>
            </a:r>
          </a:p>
        </p:txBody>
      </p:sp>
      <p:sp>
        <p:nvSpPr>
          <p:cNvPr id="23" name="">
            <a:extLst>
              <a:ext uri="{FF2B5EF4-FFF2-40B4-BE49-F238E27FC236}">
                <ns2:creationId id="{34EB4835-E805-4633-8981-E21299D36FBF}"/>
              </a:ext>
            </a:extLst>
          </p:cNvPr>
          <p:cNvSpPr>
            <a:spLocks noGrp="1"/>
          </p:cNvSpPr>
          <p:nvPr/>
        </p:nvSpPr>
        <p:spPr>
          <a:xfrm>
            <a:off x="6400800" y="5257800"/>
            <a:ext cx="54292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E80A807C-0112-4C13-B73E-2B96DD8E4062}"/>
              </a:ext>
            </a:extLst>
          </p:cNvPr>
          <p:cNvSpPr txBox="1">
            <a:spLocks noGrp="1"/>
          </p:cNvSpPr>
          <p:nvPr/>
        </p:nvSpPr>
        <p:spPr>
          <a:xfrm>
            <a:off x="6629400" y="546735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5" name="">
            <a:extLst>
              <a:ext uri="{FF2B5EF4-FFF2-40B4-BE49-F238E27FC236}">
                <ns2:creationId id="{5178C1F2-0780-4678-9F3E-853B71B0F518}"/>
              </a:ext>
            </a:extLst>
          </p:cNvPr>
          <p:cNvSpPr txBox="1">
            <a:spLocks noGrp="1"/>
          </p:cNvSpPr>
          <p:nvPr/>
        </p:nvSpPr>
        <p:spPr>
          <a:xfrm>
            <a:off x="6629400" y="58293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Proxy</a:t>
            </a:r>
          </a:p>
        </p:txBody>
      </p:sp>
      <p:sp>
        <p:nvSpPr>
          <p:cNvPr id="26" name="">
            <a:extLst>
              <a:ext uri="{FF2B5EF4-FFF2-40B4-BE49-F238E27FC236}">
                <ns2:creationId id="{297E4C06-1AFB-4CC7-A71A-66BBFE34CCF8}"/>
              </a:ext>
            </a:extLst>
          </p:cNvPr>
          <p:cNvSpPr txBox="1">
            <a:spLocks noGrp="1"/>
          </p:cNvSpPr>
          <p:nvPr/>
        </p:nvSpPr>
        <p:spPr>
          <a:xfrm>
            <a:off x="6629400" y="6324600"/>
            <a:ext cx="49720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Egress firewall. Injects credentials in-flight after policy checks.</a:t>
            </a:r>
          </a:p>
        </p:txBody>
      </p:sp>
      <p:sp>
        <p:nvSpPr>
          <p:cNvPr id="27" name="">
            <a:extLst>
              <a:ext uri="{FF2B5EF4-FFF2-40B4-BE49-F238E27FC236}">
                <ns2:creationId id="{582493A8-474B-42ED-B525-9EA1B963CCF3}"/>
              </a:ext>
            </a:extLst>
          </p:cNvPr>
          <p:cNvSpPr>
            <a:spLocks noGrp="1"/>
          </p:cNvSpPr>
          <p:nvPr/>
        </p:nvSpPr>
        <p:spPr>
          <a:xfrm>
            <a:off x="12039600" y="5257800"/>
            <a:ext cx="54292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902DE221-96F4-489C-92DA-24C54D1ACD28}"/>
              </a:ext>
            </a:extLst>
          </p:cNvPr>
          <p:cNvSpPr txBox="1">
            <a:spLocks noGrp="1"/>
          </p:cNvSpPr>
          <p:nvPr/>
        </p:nvSpPr>
        <p:spPr>
          <a:xfrm>
            <a:off x="12268200" y="546735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9" name="">
            <a:extLst>
              <a:ext uri="{FF2B5EF4-FFF2-40B4-BE49-F238E27FC236}">
                <ns2:creationId id="{467BB809-5E52-4D9C-BB2E-D1997908AE5F}"/>
              </a:ext>
            </a:extLst>
          </p:cNvPr>
          <p:cNvSpPr txBox="1">
            <a:spLocks noGrp="1"/>
          </p:cNvSpPr>
          <p:nvPr/>
        </p:nvSpPr>
        <p:spPr>
          <a:xfrm>
            <a:off x="12268200" y="58293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Observability</a:t>
            </a:r>
          </a:p>
        </p:txBody>
      </p:sp>
      <p:sp>
        <p:nvSpPr>
          <p:cNvPr id="30" name="">
            <a:extLst>
              <a:ext uri="{FF2B5EF4-FFF2-40B4-BE49-F238E27FC236}">
                <ns2:creationId id="{A13F080B-9102-4FDA-80A2-CD3F063E95F7}"/>
              </a:ext>
            </a:extLst>
          </p:cNvPr>
          <p:cNvSpPr txBox="1">
            <a:spLocks noGrp="1"/>
          </p:cNvSpPr>
          <p:nvPr/>
        </p:nvSpPr>
        <p:spPr>
          <a:xfrm>
            <a:off x="12268200" y="6324600"/>
            <a:ext cx="49720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Structured logs, metrics and traces Centaur can inspect itself.</a:t>
            </a:r>
          </a:p>
        </p:txBody>
      </p:sp>
    </p:spTree>
    <p:extLst>
      <p:ext uri="{BB962C8B-B14F-4D97-AF65-F5344CB8AC3E}">
        <ns3:creationId val="1033167757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DB08D75-E964-468D-9E1A-2637A173E2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16277D21-49BA-4211-8091-89AADAF48973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F573A31A-69F8-48DB-9371-1E4823C9CBD5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0A739A23-6988-4C74-8234-CBDEB5040445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9 / 20</a:t>
            </a:r>
          </a:p>
        </p:txBody>
      </p:sp>
      <p:sp>
        <p:nvSpPr>
          <p:cNvPr id="5" name="">
            <a:extLst>
              <a:ext uri="{FF2B5EF4-FFF2-40B4-BE49-F238E27FC236}">
                <ns2:creationId id="{0A00F223-2C96-4ECC-9BDE-A1440819306C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Kernel / userspace split</a:t>
            </a:r>
          </a:p>
        </p:txBody>
      </p:sp>
      <p:sp>
        <p:nvSpPr>
          <p:cNvPr id="6" name="">
            <a:extLst>
              <a:ext uri="{FF2B5EF4-FFF2-40B4-BE49-F238E27FC236}">
                <ns2:creationId id="{2BC3BA95-6D4D-4F04-9A74-1CB8BB6789E8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The rollout stays safe because the blast radius is structurally bounded.</a:t>
            </a:r>
          </a:p>
        </p:txBody>
      </p:sp>
      <p:sp>
        <p:nvSpPr>
          <p:cNvPr id="7" name="">
            <a:extLst>
              <a:ext uri="{FF2B5EF4-FFF2-40B4-BE49-F238E27FC236}">
                <ns2:creationId id="{F025BABD-A1CB-4327-ADF0-DFDC93513782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8286750" cy="40957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70754F2E-9962-4BC6-92E3-D60E5AE88B11}"/>
              </a:ext>
            </a:extLst>
          </p:cNvPr>
          <p:cNvSpPr txBox="1">
            <a:spLocks noGrp="1"/>
          </p:cNvSpPr>
          <p:nvPr/>
        </p:nvSpPr>
        <p:spPr>
          <a:xfrm>
            <a:off x="990600" y="3600450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36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Kernel</a:t>
            </a:r>
          </a:p>
        </p:txBody>
      </p:sp>
      <p:sp>
        <p:nvSpPr>
          <p:cNvPr id="9" name="">
            <a:extLst>
              <a:ext uri="{FF2B5EF4-FFF2-40B4-BE49-F238E27FC236}">
                <ns2:creationId id="{5C043247-C1F8-470C-8A4E-46F592B51E68}"/>
              </a:ext>
            </a:extLst>
          </p:cNvPr>
          <p:cNvSpPr txBox="1">
            <a:spLocks noGrp="1"/>
          </p:cNvSpPr>
          <p:nvPr/>
        </p:nvSpPr>
        <p:spPr>
          <a:xfrm>
            <a:off x="990600" y="4152900"/>
            <a:ext cx="7829550" cy="2952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small · auditable · slow to change</a:t>
            </a:r>
          </a:p>
          <a:p>
            <a:r>
              <a:t/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API lifecycle</a:t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iron-proxy egress + secrets</a:t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Sandbox firewall + K8s policy</a:t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Audit log</a:t>
            </a:r>
          </a:p>
        </p:txBody>
      </p:sp>
      <p:sp>
        <p:nvSpPr>
          <p:cNvPr id="10" name="">
            <a:extLst>
              <a:ext uri="{FF2B5EF4-FFF2-40B4-BE49-F238E27FC236}">
                <ns2:creationId id="{2BD281D0-CE74-4B8B-8A30-1D031F68A0C4}"/>
              </a:ext>
            </a:extLst>
          </p:cNvPr>
          <p:cNvSpPr>
            <a:spLocks noGrp="1"/>
          </p:cNvSpPr>
          <p:nvPr/>
        </p:nvSpPr>
        <p:spPr>
          <a:xfrm>
            <a:off x="9544050" y="3333750"/>
            <a:ext cx="8286750" cy="409575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6EBBD6F6-DEA5-4C4D-A9FF-11883DBADCC7}"/>
              </a:ext>
            </a:extLst>
          </p:cNvPr>
          <p:cNvSpPr txBox="1">
            <a:spLocks noGrp="1"/>
          </p:cNvSpPr>
          <p:nvPr/>
        </p:nvSpPr>
        <p:spPr>
          <a:xfrm>
            <a:off x="9772650" y="3600450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36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Userspace</a:t>
            </a:r>
          </a:p>
        </p:txBody>
      </p:sp>
      <p:sp>
        <p:nvSpPr>
          <p:cNvPr id="12" name="">
            <a:extLst>
              <a:ext uri="{FF2B5EF4-FFF2-40B4-BE49-F238E27FC236}">
                <ns2:creationId id="{3E34ADF1-5B8F-4AFB-8D6B-8A3677640883}"/>
              </a:ext>
            </a:extLst>
          </p:cNvPr>
          <p:cNvSpPr txBox="1">
            <a:spLocks noGrp="1"/>
          </p:cNvSpPr>
          <p:nvPr/>
        </p:nvSpPr>
        <p:spPr>
          <a:xfrm>
            <a:off x="9772650" y="4152900"/>
            <a:ext cx="7829550" cy="2952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wide-open · agent-editable · fast</a:t>
            </a:r>
          </a:p>
          <a:p>
            <a:r>
              <a:t/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Tools</a:t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Workflows</a:t>
            </a:r>
          </a:p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Nightly self-improvement</a:t>
            </a:r>
          </a:p>
        </p:txBody>
      </p:sp>
    </p:spTree>
    <p:extLst>
      <p:ext uri="{BB962C8B-B14F-4D97-AF65-F5344CB8AC3E}">
        <ns3:creationId val="29298804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2117CCD-E6DA-4085-BE20-8214A70125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7DA16616-3EA2-4F52-BAE6-80E8D5ABFCE2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86BE8677-B100-4071-8AD2-9A8B6FEF0BFF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0236F9E6-1C83-45DA-B40F-364533CC40C7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10 / 20</a:t>
            </a:r>
          </a:p>
        </p:txBody>
      </p:sp>
      <p:sp>
        <p:nvSpPr>
          <p:cNvPr id="5" name="">
            <a:extLst>
              <a:ext uri="{FF2B5EF4-FFF2-40B4-BE49-F238E27FC236}">
                <ns2:creationId id="{294C76E0-4286-42EB-A4B5-EDFD9A1E7ECA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iron-proxy: the credential boundary</a:t>
            </a:r>
          </a:p>
        </p:txBody>
      </p:sp>
      <p:sp>
        <p:nvSpPr>
          <p:cNvPr id="6" name="">
            <a:extLst>
              <a:ext uri="{FF2B5EF4-FFF2-40B4-BE49-F238E27FC236}">
                <ns2:creationId id="{1575CACB-9940-40ED-8481-33397318DF77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Real secrets never enter the sandbox. Substitution happens at egress.</a:t>
            </a:r>
          </a:p>
        </p:txBody>
      </p:sp>
      <p:sp>
        <p:nvSpPr>
          <p:cNvPr id="7" name="">
            <a:extLst>
              <a:ext uri="{FF2B5EF4-FFF2-40B4-BE49-F238E27FC236}">
                <ns2:creationId id="{1B989CF5-BA84-4A27-9568-1E68A25CC709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5334000" cy="223837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FD3D2C68-420B-4EDD-A091-B80D7C75C01A}"/>
              </a:ext>
            </a:extLst>
          </p:cNvPr>
          <p:cNvSpPr txBox="1">
            <a:spLocks noGrp="1"/>
          </p:cNvSpPr>
          <p:nvPr/>
        </p:nvSpPr>
        <p:spPr>
          <a:xfrm>
            <a:off x="990600" y="3886200"/>
            <a:ext cx="487680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Sandbox</a:t>
            </a:r>
          </a:p>
        </p:txBody>
      </p:sp>
      <p:sp>
        <p:nvSpPr>
          <p:cNvPr id="9" name="">
            <a:extLst>
              <a:ext uri="{FF2B5EF4-FFF2-40B4-BE49-F238E27FC236}">
                <ns2:creationId id="{C2E31240-FB48-45A8-A23D-3DC29537A45A}"/>
              </a:ext>
            </a:extLst>
          </p:cNvPr>
          <p:cNvSpPr txBox="1">
            <a:spLocks noGrp="1"/>
          </p:cNvSpPr>
          <p:nvPr/>
        </p:nvSpPr>
        <p:spPr>
          <a:xfrm>
            <a:off x="990600" y="4438650"/>
            <a:ext cx="4876800" cy="1095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OPENAI_API_KEY = "OPENAI_API_KEY"</a:t>
            </a:r>
          </a:p>
          <a:p>
            <a:r>
              <a:t/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placeholder</a:t>
            </a:r>
          </a:p>
        </p:txBody>
      </p:sp>
      <p:sp>
        <p:nvSpPr>
          <p:cNvPr id="10" name="">
            <a:extLst>
              <a:ext uri="{FF2B5EF4-FFF2-40B4-BE49-F238E27FC236}">
                <ns2:creationId id="{5D919AC4-D6CC-4CF0-8195-3D1A0B7A8DEE}"/>
              </a:ext>
            </a:extLst>
          </p:cNvPr>
          <p:cNvSpPr>
            <a:spLocks noGrp="1"/>
          </p:cNvSpPr>
          <p:nvPr/>
        </p:nvSpPr>
        <p:spPr>
          <a:xfrm>
            <a:off x="6419850" y="3619500"/>
            <a:ext cx="5334000" cy="2238375"/>
          </a:xfrm>
          <a:prstGeom prst="rect">
            <a:avLst/>
          </a:prstGeom>
          <a:solidFill>
            <a:srgbClr val="121316"/>
          </a:solidFill>
          <a:ln w="19050">
            <a:solidFill>
              <a:srgbClr val="121316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4F1B720A-DCCB-42B0-9F2D-1596E78A0FA3}"/>
              </a:ext>
            </a:extLst>
          </p:cNvPr>
          <p:cNvSpPr txBox="1">
            <a:spLocks noGrp="1"/>
          </p:cNvSpPr>
          <p:nvPr/>
        </p:nvSpPr>
        <p:spPr>
          <a:xfrm>
            <a:off x="6648450" y="3886200"/>
            <a:ext cx="487680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30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iron-proxy</a:t>
            </a:r>
          </a:p>
        </p:txBody>
      </p:sp>
      <p:sp>
        <p:nvSpPr>
          <p:cNvPr id="12" name="">
            <a:extLst>
              <a:ext uri="{FF2B5EF4-FFF2-40B4-BE49-F238E27FC236}">
                <ns2:creationId id="{FEA165FD-39CA-4677-B547-4ACE872340F5}"/>
              </a:ext>
            </a:extLst>
          </p:cNvPr>
          <p:cNvSpPr txBox="1">
            <a:spLocks noGrp="1"/>
          </p:cNvSpPr>
          <p:nvPr/>
        </p:nvSpPr>
        <p:spPr>
          <a:xfrm>
            <a:off x="6648450" y="4438650"/>
            <a:ext cx="4876800" cy="1095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swap placeholder → real cred</a:t>
            </a:r>
          </a:p>
          <a:p>
            <a:r>
              <a:t/>
            </a:r>
          </a:p>
          <a:p>
            <a:pPr algn="l">
              <a:defRPr sz="172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LLM judge may reject</a:t>
            </a:r>
          </a:p>
        </p:txBody>
      </p:sp>
      <p:sp>
        <p:nvSpPr>
          <p:cNvPr id="13" name="">
            <a:extLst>
              <a:ext uri="{FF2B5EF4-FFF2-40B4-BE49-F238E27FC236}">
                <ns2:creationId id="{026F724A-6BE6-45D8-9348-5D16C71AC338}"/>
              </a:ext>
            </a:extLst>
          </p:cNvPr>
          <p:cNvSpPr>
            <a:spLocks noGrp="1"/>
          </p:cNvSpPr>
          <p:nvPr/>
        </p:nvSpPr>
        <p:spPr>
          <a:xfrm>
            <a:off x="12077700" y="3619500"/>
            <a:ext cx="5334000" cy="223837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476A21A0-79C4-4868-ADDE-84C1903B009D}"/>
              </a:ext>
            </a:extLst>
          </p:cNvPr>
          <p:cNvSpPr txBox="1">
            <a:spLocks noGrp="1"/>
          </p:cNvSpPr>
          <p:nvPr/>
        </p:nvSpPr>
        <p:spPr>
          <a:xfrm>
            <a:off x="12306300" y="3886200"/>
            <a:ext cx="487680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Upstream</a:t>
            </a:r>
          </a:p>
        </p:txBody>
      </p:sp>
      <p:sp>
        <p:nvSpPr>
          <p:cNvPr id="15" name="">
            <a:extLst>
              <a:ext uri="{FF2B5EF4-FFF2-40B4-BE49-F238E27FC236}">
                <ns2:creationId id="{7BCA68DF-1E0F-496A-974F-AA97AF3A9B6B}"/>
              </a:ext>
            </a:extLst>
          </p:cNvPr>
          <p:cNvSpPr txBox="1">
            <a:spLocks noGrp="1"/>
          </p:cNvSpPr>
          <p:nvPr/>
        </p:nvSpPr>
        <p:spPr>
          <a:xfrm>
            <a:off x="12306300" y="4438650"/>
            <a:ext cx="4876800" cy="1095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API · DB · MCP</a:t>
            </a:r>
          </a:p>
          <a:p>
            <a:r>
              <a:t/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authenticated</a:t>
            </a:r>
          </a:p>
        </p:txBody>
      </p:sp>
      <p:sp>
        <p:nvSpPr>
          <p:cNvPr id="16" name="">
            <a:extLst>
              <a:ext uri="{FF2B5EF4-FFF2-40B4-BE49-F238E27FC236}">
                <ns2:creationId id="{1E02628C-CA7F-4714-94EF-594CD9F25A76}"/>
              </a:ext>
            </a:extLst>
          </p:cNvPr>
          <p:cNvSpPr txBox="1">
            <a:spLocks noGrp="1"/>
          </p:cNvSpPr>
          <p:nvPr/>
        </p:nvSpPr>
        <p:spPr>
          <a:xfrm>
            <a:off x="762000" y="657225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What we get for free</a:t>
            </a:r>
          </a:p>
        </p:txBody>
      </p:sp>
      <p:sp>
        <p:nvSpPr>
          <p:cNvPr id="17" name="">
            <a:extLst>
              <a:ext uri="{FF2B5EF4-FFF2-40B4-BE49-F238E27FC236}">
                <ns2:creationId id="{E875AAC8-16A8-4ECF-BA7B-0E787F18DF3C}"/>
              </a:ext>
            </a:extLst>
          </p:cNvPr>
          <p:cNvSpPr>
            <a:spLocks noGrp="1"/>
          </p:cNvSpPr>
          <p:nvPr/>
        </p:nvSpPr>
        <p:spPr>
          <a:xfrm>
            <a:off x="762000" y="721042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8" name="">
            <a:extLst>
              <a:ext uri="{FF2B5EF4-FFF2-40B4-BE49-F238E27FC236}">
                <ns2:creationId id="{80BCF56F-7798-4776-A5C2-04B9A71C02C4}"/>
              </a:ext>
            </a:extLst>
          </p:cNvPr>
          <p:cNvSpPr txBox="1">
            <a:spLocks noGrp="1"/>
          </p:cNvSpPr>
          <p:nvPr/>
        </p:nvSpPr>
        <p:spPr>
          <a:xfrm>
            <a:off x="1066800" y="7096125"/>
            <a:ext cx="6934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Default-deny allowlist with domain globs + CIDRs.</a:t>
            </a:r>
          </a:p>
        </p:txBody>
      </p:sp>
      <p:sp>
        <p:nvSpPr>
          <p:cNvPr id="19" name="">
            <a:extLst>
              <a:ext uri="{FF2B5EF4-FFF2-40B4-BE49-F238E27FC236}">
                <ns2:creationId id="{E4088207-04EA-4FED-B98D-60E6CC6668C1}"/>
              </a:ext>
            </a:extLst>
          </p:cNvPr>
          <p:cNvSpPr>
            <a:spLocks noGrp="1"/>
          </p:cNvSpPr>
          <p:nvPr/>
        </p:nvSpPr>
        <p:spPr>
          <a:xfrm>
            <a:off x="8572500" y="721042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0" name="">
            <a:extLst>
              <a:ext uri="{FF2B5EF4-FFF2-40B4-BE49-F238E27FC236}">
                <ns2:creationId id="{ABEBFB7B-BF4C-482E-9F9B-813B76F92878}"/>
              </a:ext>
            </a:extLst>
          </p:cNvPr>
          <p:cNvSpPr txBox="1">
            <a:spLocks noGrp="1"/>
          </p:cNvSpPr>
          <p:nvPr/>
        </p:nvSpPr>
        <p:spPr>
          <a:xfrm>
            <a:off x="8877300" y="7096125"/>
            <a:ext cx="6934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Upstream IP deny list closes SSRF and DNS-rebind gaps.</a:t>
            </a:r>
          </a:p>
        </p:txBody>
      </p:sp>
      <p:sp>
        <p:nvSpPr>
          <p:cNvPr id="21" name="">
            <a:extLst>
              <a:ext uri="{FF2B5EF4-FFF2-40B4-BE49-F238E27FC236}">
                <ns2:creationId id="{E1DDE81D-88DC-46D0-854D-8C61919CC246}"/>
              </a:ext>
            </a:extLst>
          </p:cNvPr>
          <p:cNvSpPr>
            <a:spLocks noGrp="1"/>
          </p:cNvSpPr>
          <p:nvPr/>
        </p:nvSpPr>
        <p:spPr>
          <a:xfrm>
            <a:off x="762000" y="780097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2" name="">
            <a:extLst>
              <a:ext uri="{FF2B5EF4-FFF2-40B4-BE49-F238E27FC236}">
                <ns2:creationId id="{2173E206-CCA3-43D5-98B2-926D2DC091F5}"/>
              </a:ext>
            </a:extLst>
          </p:cNvPr>
          <p:cNvSpPr txBox="1">
            <a:spLocks noGrp="1"/>
          </p:cNvSpPr>
          <p:nvPr/>
        </p:nvSpPr>
        <p:spPr>
          <a:xfrm>
            <a:off x="1066800" y="7686675"/>
            <a:ext cx="6934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Per-sandbox proxy pod: leaked tokens are useless outside.</a:t>
            </a:r>
          </a:p>
        </p:txBody>
      </p:sp>
      <p:sp>
        <p:nvSpPr>
          <p:cNvPr id="23" name="">
            <a:extLst>
              <a:ext uri="{FF2B5EF4-FFF2-40B4-BE49-F238E27FC236}">
                <ns2:creationId id="{8054805D-2F79-42F9-BC54-76147B456A58}"/>
              </a:ext>
            </a:extLst>
          </p:cNvPr>
          <p:cNvSpPr>
            <a:spLocks noGrp="1"/>
          </p:cNvSpPr>
          <p:nvPr/>
        </p:nvSpPr>
        <p:spPr>
          <a:xfrm>
            <a:off x="8572500" y="780097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4" name="">
            <a:extLst>
              <a:ext uri="{FF2B5EF4-FFF2-40B4-BE49-F238E27FC236}">
                <ns2:creationId id="{5514EC5C-0B6F-4A22-8F44-DEFDBACB8653}"/>
              </a:ext>
            </a:extLst>
          </p:cNvPr>
          <p:cNvSpPr txBox="1">
            <a:spLocks noGrp="1"/>
          </p:cNvSpPr>
          <p:nvPr/>
        </p:nvSpPr>
        <p:spPr>
          <a:xfrm>
            <a:off x="8877300" y="7686675"/>
            <a:ext cx="6934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LLM response bodies scanned + redacted in real time.</a:t>
            </a:r>
          </a:p>
        </p:txBody>
      </p:sp>
      <p:sp>
        <p:nvSpPr>
          <p:cNvPr id="25" name="">
            <a:extLst>
              <a:ext uri="{FF2B5EF4-FFF2-40B4-BE49-F238E27FC236}">
                <ns2:creationId id="{C0609C17-3FA8-4F0C-9414-9BDD53396395}"/>
              </a:ext>
            </a:extLst>
          </p:cNvPr>
          <p:cNvSpPr>
            <a:spLocks noGrp="1"/>
          </p:cNvSpPr>
          <p:nvPr/>
        </p:nvSpPr>
        <p:spPr>
          <a:xfrm>
            <a:off x="762000" y="839152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6" name="">
            <a:extLst>
              <a:ext uri="{FF2B5EF4-FFF2-40B4-BE49-F238E27FC236}">
                <ns2:creationId id="{40E93101-E846-4CD6-83D6-EF41785C28DB}"/>
              </a:ext>
            </a:extLst>
          </p:cNvPr>
          <p:cNvSpPr txBox="1">
            <a:spLocks noGrp="1"/>
          </p:cNvSpPr>
          <p:nvPr/>
        </p:nvSpPr>
        <p:spPr>
          <a:xfrm>
            <a:off x="1066800" y="8277225"/>
            <a:ext cx="6934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MCP JSON-RPC parsed and tools/list responses filtered.</a:t>
            </a:r>
          </a:p>
        </p:txBody>
      </p:sp>
      <p:sp>
        <p:nvSpPr>
          <p:cNvPr id="27" name="">
            <a:extLst>
              <a:ext uri="{FF2B5EF4-FFF2-40B4-BE49-F238E27FC236}">
                <ns2:creationId id="{54126499-5DBD-4E47-9B6E-EB39D35E0C4A}"/>
              </a:ext>
            </a:extLst>
          </p:cNvPr>
          <p:cNvSpPr>
            <a:spLocks noGrp="1"/>
          </p:cNvSpPr>
          <p:nvPr/>
        </p:nvSpPr>
        <p:spPr>
          <a:xfrm>
            <a:off x="8572500" y="839152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8" name="">
            <a:extLst>
              <a:ext uri="{FF2B5EF4-FFF2-40B4-BE49-F238E27FC236}">
                <ns2:creationId id="{91928FA9-9668-472C-850F-B358DB0051B9}"/>
              </a:ext>
            </a:extLst>
          </p:cNvPr>
          <p:cNvSpPr txBox="1">
            <a:spLocks noGrp="1"/>
          </p:cNvSpPr>
          <p:nvPr/>
        </p:nvSpPr>
        <p:spPr>
          <a:xfrm>
            <a:off x="8877300" y="8277225"/>
            <a:ext cx="6934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Optional Postgres MITM: SET ROLE + SQL AST guards.</a:t>
            </a:r>
          </a:p>
        </p:txBody>
      </p:sp>
    </p:spTree>
    <p:extLst>
      <p:ext uri="{BB962C8B-B14F-4D97-AF65-F5344CB8AC3E}">
        <ns3:creationId val="163143874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96999C5-7F30-4EBF-A58C-0F02B3B3B9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AD69D385-9FCE-472E-97C2-B93840A73BBA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088076DC-8131-4269-AB1F-F9CFDEC624C9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4F9EE4EF-544B-4BB2-8915-D4738DD33171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11 / 20</a:t>
            </a:r>
          </a:p>
        </p:txBody>
      </p:sp>
      <p:sp>
        <p:nvSpPr>
          <p:cNvPr id="5" name="">
            <a:extLst>
              <a:ext uri="{FF2B5EF4-FFF2-40B4-BE49-F238E27FC236}">
                <ns2:creationId id="{93CF270F-DD0C-48D7-98F4-E6CFD0130AF4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Extension via overlays, not forks</a:t>
            </a:r>
          </a:p>
        </p:txBody>
      </p:sp>
      <p:sp>
        <p:nvSpPr>
          <p:cNvPr id="6" name="">
            <a:extLst>
              <a:ext uri="{FF2B5EF4-FFF2-40B4-BE49-F238E27FC236}">
                <ns2:creationId id="{735869F3-7B70-4256-9EFD-01AC22F54222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Same Centaur kernel, company-specific userspace.</a:t>
            </a:r>
          </a:p>
        </p:txBody>
      </p:sp>
      <p:sp>
        <p:nvSpPr>
          <p:cNvPr id="7" name="">
            <a:extLst>
              <a:ext uri="{FF2B5EF4-FFF2-40B4-BE49-F238E27FC236}">
                <ns2:creationId id="{4B6DB6A1-1D61-4F77-9D65-E5151CD8B93F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5429250" cy="3143250"/>
          </a:xfrm>
          <a:prstGeom prst="rect">
            <a:avLst/>
          </a:prstGeom>
          <a:solidFill>
            <a:srgbClr val="E8E2D3"/>
          </a:solidFill>
          <a:ln w="19050">
            <a:solidFill>
              <a:srgbClr val="1F2A4E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D9E7FFE-3F41-4506-A376-ED4D1C7EA2E3}"/>
              </a:ext>
            </a:extLst>
          </p:cNvPr>
          <p:cNvSpPr txBox="1">
            <a:spLocks noGrp="1"/>
          </p:cNvSpPr>
          <p:nvPr/>
        </p:nvSpPr>
        <p:spPr>
          <a:xfrm>
            <a:off x="990600" y="3686175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KERNEL</a:t>
            </a:r>
          </a:p>
        </p:txBody>
      </p:sp>
      <p:sp>
        <p:nvSpPr>
          <p:cNvPr id="9" name="">
            <a:extLst>
              <a:ext uri="{FF2B5EF4-FFF2-40B4-BE49-F238E27FC236}">
                <ns2:creationId id="{36ADA120-27A5-433C-9874-7A1B9C112A52}"/>
              </a:ext>
            </a:extLst>
          </p:cNvPr>
          <p:cNvSpPr txBox="1">
            <a:spLocks noGrp="1"/>
          </p:cNvSpPr>
          <p:nvPr/>
        </p:nvSpPr>
        <p:spPr>
          <a:xfrm>
            <a:off x="990600" y="4048125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025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paradigmxyz/centaur</a:t>
            </a:r>
          </a:p>
        </p:txBody>
      </p:sp>
      <p:sp>
        <p:nvSpPr>
          <p:cNvPr id="10" name="">
            <a:extLst>
              <a:ext uri="{FF2B5EF4-FFF2-40B4-BE49-F238E27FC236}">
                <ns2:creationId id="{8BCC518F-E862-45DA-9218-44C4CE538B4C}"/>
              </a:ext>
            </a:extLst>
          </p:cNvPr>
          <p:cNvSpPr txBox="1">
            <a:spLocks noGrp="1"/>
          </p:cNvSpPr>
          <p:nvPr/>
        </p:nvSpPr>
        <p:spPr>
          <a:xfrm>
            <a:off x="990600" y="4543425"/>
            <a:ext cx="4972050" cy="2000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Upstream we track. Bump cleanly on release.</a:t>
            </a:r>
          </a:p>
        </p:txBody>
      </p:sp>
      <p:sp>
        <p:nvSpPr>
          <p:cNvPr id="11" name="">
            <a:extLst>
              <a:ext uri="{FF2B5EF4-FFF2-40B4-BE49-F238E27FC236}">
                <ns2:creationId id="{B6F05515-AF2A-4312-A73A-D05D033FB849}"/>
              </a:ext>
            </a:extLst>
          </p:cNvPr>
          <p:cNvSpPr>
            <a:spLocks noGrp="1"/>
          </p:cNvSpPr>
          <p:nvPr/>
        </p:nvSpPr>
        <p:spPr>
          <a:xfrm>
            <a:off x="6419850" y="3476625"/>
            <a:ext cx="5429250" cy="314325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FAB6E7C5-F3BD-4AF5-ABEE-437D5840350C}"/>
              </a:ext>
            </a:extLst>
          </p:cNvPr>
          <p:cNvSpPr txBox="1">
            <a:spLocks noGrp="1"/>
          </p:cNvSpPr>
          <p:nvPr/>
        </p:nvSpPr>
        <p:spPr>
          <a:xfrm>
            <a:off x="6648450" y="3686175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OVERLAY</a:t>
            </a:r>
          </a:p>
        </p:txBody>
      </p:sp>
      <p:sp>
        <p:nvSpPr>
          <p:cNvPr id="13" name="">
            <a:extLst>
              <a:ext uri="{FF2B5EF4-FFF2-40B4-BE49-F238E27FC236}">
                <ns2:creationId id="{D768F8E3-5EDB-4AE9-B3B6-D293C7DAE2E2}"/>
              </a:ext>
            </a:extLst>
          </p:cNvPr>
          <p:cNvSpPr txBox="1">
            <a:spLocks noGrp="1"/>
          </p:cNvSpPr>
          <p:nvPr/>
        </p:nvSpPr>
        <p:spPr>
          <a:xfrm>
            <a:off x="6648450" y="4048125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025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company/centaur-overlay</a:t>
            </a:r>
          </a:p>
        </p:txBody>
      </p:sp>
      <p:sp>
        <p:nvSpPr>
          <p:cNvPr id="14" name="">
            <a:extLst>
              <a:ext uri="{FF2B5EF4-FFF2-40B4-BE49-F238E27FC236}">
                <ns2:creationId id="{B1E0B8B1-43C4-45BE-BF0C-BE92E6A62D92}"/>
              </a:ext>
            </a:extLst>
          </p:cNvPr>
          <p:cNvSpPr txBox="1">
            <a:spLocks noGrp="1"/>
          </p:cNvSpPr>
          <p:nvPr/>
        </p:nvSpPr>
        <p:spPr>
          <a:xfrm>
            <a:off x="6648450" y="4543425"/>
            <a:ext cx="4972050" cy="2000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Team tools, skills and workflows. Mounted at /app/overlay/org.</a:t>
            </a:r>
          </a:p>
        </p:txBody>
      </p:sp>
      <p:sp>
        <p:nvSpPr>
          <p:cNvPr id="15" name="">
            <a:extLst>
              <a:ext uri="{FF2B5EF4-FFF2-40B4-BE49-F238E27FC236}">
                <ns2:creationId id="{FD46C974-1F90-499D-B310-5B8757251FDD}"/>
              </a:ext>
            </a:extLst>
          </p:cNvPr>
          <p:cNvSpPr>
            <a:spLocks noGrp="1"/>
          </p:cNvSpPr>
          <p:nvPr/>
        </p:nvSpPr>
        <p:spPr>
          <a:xfrm>
            <a:off x="12077700" y="3476625"/>
            <a:ext cx="5429250" cy="3143250"/>
          </a:xfrm>
          <a:prstGeom prst="rect">
            <a:avLst/>
          </a:prstGeom>
          <a:solidFill>
            <a:srgbClr val="E8E2D3"/>
          </a:solidFill>
          <a:ln w="19050">
            <a:solidFill>
              <a:srgbClr val="E97862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139CEAE4-7938-4A03-895C-B8BFC6FDC368}"/>
              </a:ext>
            </a:extLst>
          </p:cNvPr>
          <p:cNvSpPr txBox="1">
            <a:spLocks noGrp="1"/>
          </p:cNvSpPr>
          <p:nvPr/>
        </p:nvSpPr>
        <p:spPr>
          <a:xfrm>
            <a:off x="12306300" y="3686175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GITOPS</a:t>
            </a:r>
          </a:p>
        </p:txBody>
      </p:sp>
      <p:sp>
        <p:nvSpPr>
          <p:cNvPr id="17" name="">
            <a:extLst>
              <a:ext uri="{FF2B5EF4-FFF2-40B4-BE49-F238E27FC236}">
                <ns2:creationId id="{E14539E7-3E7C-48BE-B32E-41381B1D7FFB}"/>
              </a:ext>
            </a:extLst>
          </p:cNvPr>
          <p:cNvSpPr txBox="1">
            <a:spLocks noGrp="1"/>
          </p:cNvSpPr>
          <p:nvPr/>
        </p:nvSpPr>
        <p:spPr>
          <a:xfrm>
            <a:off x="12306300" y="4048125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025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company/centaur-infra</a:t>
            </a:r>
          </a:p>
        </p:txBody>
      </p:sp>
      <p:sp>
        <p:nvSpPr>
          <p:cNvPr id="18" name="">
            <a:extLst>
              <a:ext uri="{FF2B5EF4-FFF2-40B4-BE49-F238E27FC236}">
                <ns2:creationId id="{8CB2129E-5262-4CDE-97D0-231FB4829D07}"/>
              </a:ext>
            </a:extLst>
          </p:cNvPr>
          <p:cNvSpPr txBox="1">
            <a:spLocks noGrp="1"/>
          </p:cNvSpPr>
          <p:nvPr/>
        </p:nvSpPr>
        <p:spPr>
          <a:xfrm>
            <a:off x="12306300" y="4543425"/>
            <a:ext cx="4972050" cy="2000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Argo CD reference. Secrets, manifests, env config.</a:t>
            </a:r>
          </a:p>
        </p:txBody>
      </p:sp>
      <p:sp>
        <p:nvSpPr>
          <p:cNvPr id="19" name="">
            <a:extLst>
              <a:ext uri="{FF2B5EF4-FFF2-40B4-BE49-F238E27FC236}">
                <ns2:creationId id="{47D4AEFE-AFD1-4DE0-99AF-D5BCCD2BE292}"/>
              </a:ext>
            </a:extLst>
          </p:cNvPr>
          <p:cNvSpPr txBox="1">
            <a:spLocks noGrp="1"/>
          </p:cNvSpPr>
          <p:nvPr/>
        </p:nvSpPr>
        <p:spPr>
          <a:xfrm>
            <a:off x="762000" y="9191625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1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TOOL_DIRS · WORKFLOW_DIRS · CENTAUR_OVERLAY_DIR</a:t>
            </a:r>
          </a:p>
        </p:txBody>
      </p:sp>
    </p:spTree>
    <p:extLst>
      <p:ext uri="{BB962C8B-B14F-4D97-AF65-F5344CB8AC3E}">
        <ns3:creationId val="177326648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B397753-DD5D-413A-93B7-479113A97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ADB6354B-5A24-4E7C-8BD5-0AD4F8B84353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005E9B71-4D75-433F-9DD2-3594D02C2A06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68D9894C-F6DC-4542-B3B0-30A3D29C014F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12 / 20</a:t>
            </a:r>
          </a:p>
        </p:txBody>
      </p:sp>
      <p:sp>
        <p:nvSpPr>
          <p:cNvPr id="5" name="">
            <a:extLst>
              <a:ext uri="{FF2B5EF4-FFF2-40B4-BE49-F238E27FC236}">
                <ns2:creationId id="{1AA9A0BF-6BE9-4244-A6AA-5D80AA88D55E}"/>
              </a:ext>
            </a:extLst>
          </p:cNvPr>
          <p:cNvSpPr txBox="1">
            <a:spLocks noGrp="1"/>
          </p:cNvSpPr>
          <p:nvPr/>
        </p:nvSpPr>
        <p:spPr>
          <a:xfrm>
            <a:off x="762000" y="3190875"/>
            <a:ext cx="1524000" cy="1809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3</a:t>
            </a:r>
          </a:p>
        </p:txBody>
      </p:sp>
      <p:sp>
        <p:nvSpPr>
          <p:cNvPr id="6" name="">
            <a:extLst>
              <a:ext uri="{FF2B5EF4-FFF2-40B4-BE49-F238E27FC236}">
                <ns2:creationId id="{8927324E-7FAF-467E-952A-8DEC07B3B9EB}"/>
              </a:ext>
            </a:extLst>
          </p:cNvPr>
          <p:cNvSpPr txBox="1">
            <a:spLocks noGrp="1"/>
          </p:cNvSpPr>
          <p:nvPr/>
        </p:nvSpPr>
        <p:spPr>
          <a:xfrm>
            <a:off x="2476500" y="3543300"/>
            <a:ext cx="14287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Data sources</a:t>
            </a:r>
          </a:p>
        </p:txBody>
      </p:sp>
    </p:spTree>
    <p:extLst>
      <p:ext uri="{BB962C8B-B14F-4D97-AF65-F5344CB8AC3E}">
        <ns3:creationId val="1816776648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51DD9DB-8F5D-442E-8EE7-88CC681E80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FE0CCC9F-E5CE-4225-AB3F-380E715B83CF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532D200E-DD84-47E5-A97E-A1CF6D8365BA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30C311F6-D924-46F4-BD3C-AC87C79CAC74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13 / 20</a:t>
            </a:r>
          </a:p>
        </p:txBody>
      </p:sp>
      <p:sp>
        <p:nvSpPr>
          <p:cNvPr id="5" name="">
            <a:extLst>
              <a:ext uri="{FF2B5EF4-FFF2-40B4-BE49-F238E27FC236}">
                <ns2:creationId id="{47F1BD6F-A15F-46AF-BC14-DEBEE2B80573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Data sources to hook up</a:t>
            </a:r>
          </a:p>
        </p:txBody>
      </p:sp>
      <p:sp>
        <p:nvSpPr>
          <p:cNvPr id="6" name="">
            <a:extLst>
              <a:ext uri="{FF2B5EF4-FFF2-40B4-BE49-F238E27FC236}">
                <ns2:creationId id="{6B3E6F12-0138-4386-BE08-11348984166F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First wave is the bold set: product, engineering and collaboration signal.</a:t>
            </a:r>
          </a:p>
        </p:txBody>
      </p:sp>
      <p:sp>
        <p:nvSpPr>
          <p:cNvPr id="7" name="">
            <a:extLst>
              <a:ext uri="{FF2B5EF4-FFF2-40B4-BE49-F238E27FC236}">
                <ns2:creationId id="{C6E82982-447B-45E2-A9D1-0CBA2D25B5A2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5334000" cy="457200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89994DB-1E75-4215-88A4-9F8265A018A9}"/>
              </a:ext>
            </a:extLst>
          </p:cNvPr>
          <p:cNvSpPr txBox="1">
            <a:spLocks noGrp="1"/>
          </p:cNvSpPr>
          <p:nvPr/>
        </p:nvSpPr>
        <p:spPr>
          <a:xfrm>
            <a:off x="1009650" y="36195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Product + data</a:t>
            </a:r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ns3:embed="R1e3d9d18c9104617"/>
          <a:stretch/>
        </p:blipFill>
        <p:spPr>
          <a:xfrm>
            <a:off x="1028700" y="4238625"/>
            <a:ext cx="400050" cy="400050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4B04B72C-2B59-49CC-B667-4A1783025EFE}"/>
              </a:ext>
            </a:extLst>
          </p:cNvPr>
          <p:cNvSpPr txBox="1">
            <a:spLocks noGrp="1"/>
          </p:cNvSpPr>
          <p:nvPr/>
        </p:nvSpPr>
        <p:spPr>
          <a:xfrm>
            <a:off x="1619250" y="42957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Metabase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ns3:embed="R5e1fa52077ae4501"/>
          <a:stretch/>
        </p:blipFill>
        <p:spPr>
          <a:xfrm>
            <a:off x="1028700" y="4905375"/>
            <a:ext cx="400050" cy="400050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ns2:creationId id="{07CA1664-7E28-49F3-868A-FE5B8C90F72A}"/>
              </a:ext>
            </a:extLst>
          </p:cNvPr>
          <p:cNvSpPr txBox="1">
            <a:spLocks noGrp="1"/>
          </p:cNvSpPr>
          <p:nvPr/>
        </p:nvSpPr>
        <p:spPr>
          <a:xfrm>
            <a:off x="1619250" y="496252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Dune</a:t>
            </a:r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 ns3:embed="R570dd629e5ef4c8e"/>
          <a:stretch/>
        </p:blipFill>
        <p:spPr>
          <a:xfrm>
            <a:off x="1028700" y="5572125"/>
            <a:ext cx="400050" cy="400050"/>
          </a:xfrm>
          <a:prstGeom prst="rect">
            <a:avLst/>
          </a:prstGeom>
        </p:spPr>
      </p:pic>
      <p:sp>
        <p:nvSpPr>
          <p:cNvPr id="14" name="">
            <a:extLst>
              <a:ext uri="{FF2B5EF4-FFF2-40B4-BE49-F238E27FC236}">
                <ns2:creationId id="{E1AA4866-AE43-412F-BD47-11BEF393B103}"/>
              </a:ext>
            </a:extLst>
          </p:cNvPr>
          <p:cNvSpPr txBox="1">
            <a:spLocks noGrp="1"/>
          </p:cNvSpPr>
          <p:nvPr/>
        </p:nvSpPr>
        <p:spPr>
          <a:xfrm>
            <a:off x="1619250" y="56292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Allium</a:t>
            </a:r>
          </a:p>
        </p:txBody>
      </p:sp>
      <p:pic>
        <p:nvPicPr>
          <p:cNvPr id="15" name=""/>
          <p:cNvPicPr>
            <a:picLocks noChangeAspect="1"/>
          </p:cNvPicPr>
          <p:nvPr/>
        </p:nvPicPr>
        <p:blipFill>
          <a:blip ns3:embed="Rec0fe49e0b234477"/>
          <a:stretch/>
        </p:blipFill>
        <p:spPr>
          <a:xfrm>
            <a:off x="1028700" y="6238875"/>
            <a:ext cx="400050" cy="400050"/>
          </a:xfrm>
          <a:prstGeom prst="rect">
            <a:avLst/>
          </a:prstGeom>
        </p:spPr>
      </p:pic>
      <p:sp>
        <p:nvSpPr>
          <p:cNvPr id="16" name="">
            <a:extLst>
              <a:ext uri="{FF2B5EF4-FFF2-40B4-BE49-F238E27FC236}">
                <ns2:creationId id="{73916069-9367-4F28-B3E9-50074E549C0F}"/>
              </a:ext>
            </a:extLst>
          </p:cNvPr>
          <p:cNvSpPr txBox="1">
            <a:spLocks noGrp="1"/>
          </p:cNvSpPr>
          <p:nvPr/>
        </p:nvSpPr>
        <p:spPr>
          <a:xfrm>
            <a:off x="1619250" y="629602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Application database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ns3:embed="R05b0894202264262"/>
          <a:stretch/>
        </p:blipFill>
        <p:spPr>
          <a:xfrm>
            <a:off x="1028700" y="6905625"/>
            <a:ext cx="400050" cy="400050"/>
          </a:xfrm>
          <a:prstGeom prst="rect">
            <a:avLst/>
          </a:prstGeom>
        </p:spPr>
      </p:pic>
      <p:sp>
        <p:nvSpPr>
          <p:cNvPr id="18" name="">
            <a:extLst>
              <a:ext uri="{FF2B5EF4-FFF2-40B4-BE49-F238E27FC236}">
                <ns2:creationId id="{D7A1A217-D7E7-4F8A-BBC5-FD037B7FE2CF}"/>
              </a:ext>
            </a:extLst>
          </p:cNvPr>
          <p:cNvSpPr txBox="1">
            <a:spLocks noGrp="1"/>
          </p:cNvSpPr>
          <p:nvPr/>
        </p:nvSpPr>
        <p:spPr>
          <a:xfrm>
            <a:off x="1619250" y="69627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data APIs</a:t>
            </a:r>
          </a:p>
        </p:txBody>
      </p:sp>
      <p:sp>
        <p:nvSpPr>
          <p:cNvPr id="19" name="">
            <a:extLst>
              <a:ext uri="{FF2B5EF4-FFF2-40B4-BE49-F238E27FC236}">
                <ns2:creationId id="{4283A5C4-E17B-4C33-B831-6DE4A768DD60}"/>
              </a:ext>
            </a:extLst>
          </p:cNvPr>
          <p:cNvSpPr>
            <a:spLocks noGrp="1"/>
          </p:cNvSpPr>
          <p:nvPr/>
        </p:nvSpPr>
        <p:spPr>
          <a:xfrm>
            <a:off x="6600825" y="3333750"/>
            <a:ext cx="5334000" cy="4572000"/>
          </a:xfrm>
          <a:prstGeom prst="rect">
            <a:avLst/>
          </a:prstGeom>
          <a:solidFill>
            <a:srgbClr val="E8E2D3"/>
          </a:solidFill>
          <a:ln w="19050">
            <a:solidFill>
              <a:srgbClr val="E97862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B0FFF5B2-8B7B-4939-86F2-0CC6EBA4ADAF}"/>
              </a:ext>
            </a:extLst>
          </p:cNvPr>
          <p:cNvSpPr txBox="1">
            <a:spLocks noGrp="1"/>
          </p:cNvSpPr>
          <p:nvPr/>
        </p:nvSpPr>
        <p:spPr>
          <a:xfrm>
            <a:off x="6848475" y="36195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Eng + collab</a:t>
            </a:r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 ns3:embed="R8991324396d14c27"/>
          <a:stretch/>
        </p:blipFill>
        <p:spPr>
          <a:xfrm>
            <a:off x="6867525" y="4238625"/>
            <a:ext cx="400050" cy="400050"/>
          </a:xfrm>
          <a:prstGeom prst="rect">
            <a:avLst/>
          </a:prstGeom>
        </p:spPr>
      </p:pic>
      <p:sp>
        <p:nvSpPr>
          <p:cNvPr id="22" name="">
            <a:extLst>
              <a:ext uri="{FF2B5EF4-FFF2-40B4-BE49-F238E27FC236}">
                <ns2:creationId id="{E729DD46-8477-408C-B7A6-EECED0489A13}"/>
              </a:ext>
            </a:extLst>
          </p:cNvPr>
          <p:cNvSpPr txBox="1">
            <a:spLocks noGrp="1"/>
          </p:cNvSpPr>
          <p:nvPr/>
        </p:nvSpPr>
        <p:spPr>
          <a:xfrm>
            <a:off x="7458075" y="42957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Datadog</a:t>
            </a:r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ns3:embed="R373558b2a22d4134"/>
          <a:stretch/>
        </p:blipFill>
        <p:spPr>
          <a:xfrm>
            <a:off x="6867525" y="4905375"/>
            <a:ext cx="400050" cy="400050"/>
          </a:xfrm>
          <a:prstGeom prst="rect">
            <a:avLst/>
          </a:prstGeom>
        </p:spPr>
      </p:pic>
      <p:sp>
        <p:nvSpPr>
          <p:cNvPr id="24" name="">
            <a:extLst>
              <a:ext uri="{FF2B5EF4-FFF2-40B4-BE49-F238E27FC236}">
                <ns2:creationId id="{6AB27D98-45DE-45FB-9DB1-1B947EFDC556}"/>
              </a:ext>
            </a:extLst>
          </p:cNvPr>
          <p:cNvSpPr txBox="1">
            <a:spLocks noGrp="1"/>
          </p:cNvSpPr>
          <p:nvPr/>
        </p:nvSpPr>
        <p:spPr>
          <a:xfrm>
            <a:off x="7458075" y="496252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Linear</a:t>
            </a:r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 ns3:embed="R0b9fc2015cb6448f"/>
          <a:stretch/>
        </p:blipFill>
        <p:spPr>
          <a:xfrm>
            <a:off x="6867525" y="5572125"/>
            <a:ext cx="400050" cy="400050"/>
          </a:xfrm>
          <a:prstGeom prst="rect">
            <a:avLst/>
          </a:prstGeom>
        </p:spPr>
      </p:pic>
      <p:sp>
        <p:nvSpPr>
          <p:cNvPr id="26" name="">
            <a:extLst>
              <a:ext uri="{FF2B5EF4-FFF2-40B4-BE49-F238E27FC236}">
                <ns2:creationId id="{E97ED796-AF6B-4473-97D9-63573AB579C6}"/>
              </a:ext>
            </a:extLst>
          </p:cNvPr>
          <p:cNvSpPr txBox="1">
            <a:spLocks noGrp="1"/>
          </p:cNvSpPr>
          <p:nvPr/>
        </p:nvSpPr>
        <p:spPr>
          <a:xfrm>
            <a:off x="7458075" y="56292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Slack history</a:t>
            </a:r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 ns3:embed="Re7d1d4030d8f4ca3"/>
          <a:stretch/>
        </p:blipFill>
        <p:spPr>
          <a:xfrm>
            <a:off x="6867525" y="6238875"/>
            <a:ext cx="400050" cy="400050"/>
          </a:xfrm>
          <a:prstGeom prst="rect">
            <a:avLst/>
          </a:prstGeom>
        </p:spPr>
      </p:pic>
      <p:sp>
        <p:nvSpPr>
          <p:cNvPr id="28" name="">
            <a:extLst>
              <a:ext uri="{FF2B5EF4-FFF2-40B4-BE49-F238E27FC236}">
                <ns2:creationId id="{3C93D615-897C-4535-8377-4427FA018291}"/>
              </a:ext>
            </a:extLst>
          </p:cNvPr>
          <p:cNvSpPr txBox="1">
            <a:spLocks noGrp="1"/>
          </p:cNvSpPr>
          <p:nvPr/>
        </p:nvSpPr>
        <p:spPr>
          <a:xfrm>
            <a:off x="7458075" y="629602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GitHub</a:t>
            </a:r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 ns3:embed="R4059c9b8add348a9"/>
          <a:stretch/>
        </p:blipFill>
        <p:spPr>
          <a:xfrm>
            <a:off x="6867525" y="6905625"/>
            <a:ext cx="400050" cy="400050"/>
          </a:xfrm>
          <a:prstGeom prst="rect">
            <a:avLst/>
          </a:prstGeom>
        </p:spPr>
      </p:pic>
      <p:sp>
        <p:nvSpPr>
          <p:cNvPr id="30" name="">
            <a:extLst>
              <a:ext uri="{FF2B5EF4-FFF2-40B4-BE49-F238E27FC236}">
                <ns2:creationId id="{055C61ED-FAEE-4890-8696-9B3B1A687D2E}"/>
              </a:ext>
            </a:extLst>
          </p:cNvPr>
          <p:cNvSpPr txBox="1">
            <a:spLocks noGrp="1"/>
          </p:cNvSpPr>
          <p:nvPr/>
        </p:nvSpPr>
        <p:spPr>
          <a:xfrm>
            <a:off x="7458075" y="69627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Notion / docs</a:t>
            </a:r>
          </a:p>
        </p:txBody>
      </p:sp>
      <p:sp>
        <p:nvSpPr>
          <p:cNvPr id="31" name="">
            <a:extLst>
              <a:ext uri="{FF2B5EF4-FFF2-40B4-BE49-F238E27FC236}">
                <ns2:creationId id="{11AFEC56-704D-4535-9060-16C5CEFF0A46}"/>
              </a:ext>
            </a:extLst>
          </p:cNvPr>
          <p:cNvSpPr>
            <a:spLocks noGrp="1"/>
          </p:cNvSpPr>
          <p:nvPr/>
        </p:nvSpPr>
        <p:spPr>
          <a:xfrm>
            <a:off x="12439650" y="3333750"/>
            <a:ext cx="5334000" cy="45720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5FC1139B-8D43-44EF-BE08-6556B0005F98}"/>
              </a:ext>
            </a:extLst>
          </p:cNvPr>
          <p:cNvSpPr txBox="1">
            <a:spLocks noGrp="1"/>
          </p:cNvSpPr>
          <p:nvPr/>
        </p:nvSpPr>
        <p:spPr>
          <a:xfrm>
            <a:off x="12687300" y="36195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Ops + external</a:t>
            </a:r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 ns3:embed="Rc6ce4768ed184d90"/>
          <a:stretch/>
        </p:blipFill>
        <p:spPr>
          <a:xfrm>
            <a:off x="12706350" y="4238625"/>
            <a:ext cx="400050" cy="400050"/>
          </a:xfrm>
          <a:prstGeom prst="rect">
            <a:avLst/>
          </a:prstGeom>
        </p:spPr>
      </p:pic>
      <p:sp>
        <p:nvSpPr>
          <p:cNvPr id="34" name="">
            <a:extLst>
              <a:ext uri="{FF2B5EF4-FFF2-40B4-BE49-F238E27FC236}">
                <ns2:creationId id="{14A4C7E1-9B64-4D14-A006-90661CE4B76A}"/>
              </a:ext>
            </a:extLst>
          </p:cNvPr>
          <p:cNvSpPr txBox="1">
            <a:spLocks noGrp="1"/>
          </p:cNvSpPr>
          <p:nvPr/>
        </p:nvSpPr>
        <p:spPr>
          <a:xfrm>
            <a:off x="13296900" y="42957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Cal.com / scheduling</a:t>
            </a:r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 ns3:embed="Rd3a7d197d3d94f41"/>
          <a:stretch/>
        </p:blipFill>
        <p:spPr>
          <a:xfrm>
            <a:off x="12706350" y="4905375"/>
            <a:ext cx="400050" cy="400050"/>
          </a:xfrm>
          <a:prstGeom prst="rect">
            <a:avLst/>
          </a:prstGeom>
        </p:spPr>
      </p:pic>
      <p:sp>
        <p:nvSpPr>
          <p:cNvPr id="36" name="">
            <a:extLst>
              <a:ext uri="{FF2B5EF4-FFF2-40B4-BE49-F238E27FC236}">
                <ns2:creationId id="{365D2081-068D-4FA5-B8E6-660A1386A4C2}"/>
              </a:ext>
            </a:extLst>
          </p:cNvPr>
          <p:cNvSpPr txBox="1">
            <a:spLocks noGrp="1"/>
          </p:cNvSpPr>
          <p:nvPr/>
        </p:nvSpPr>
        <p:spPr>
          <a:xfrm>
            <a:off x="13296900" y="496252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Browser research</a:t>
            </a:r>
          </a:p>
        </p:txBody>
      </p:sp>
      <p:sp>
        <p:nvSpPr>
          <p:cNvPr id="37" name="">
            <a:extLst>
              <a:ext uri="{FF2B5EF4-FFF2-40B4-BE49-F238E27FC236}">
                <ns2:creationId id="{90908519-DC98-4375-B347-38D78E0F8D45}"/>
              </a:ext>
            </a:extLst>
          </p:cNvPr>
          <p:cNvSpPr>
            <a:spLocks noGrp="1"/>
          </p:cNvSpPr>
          <p:nvPr/>
        </p:nvSpPr>
        <p:spPr>
          <a:xfrm>
            <a:off x="12839700" y="5705475"/>
            <a:ext cx="123825" cy="1238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38" name="">
            <a:extLst>
              <a:ext uri="{FF2B5EF4-FFF2-40B4-BE49-F238E27FC236}">
                <ns2:creationId id="{CDE79AE7-2577-4AC5-9543-EE763B59A594}"/>
              </a:ext>
            </a:extLst>
          </p:cNvPr>
          <p:cNvSpPr txBox="1">
            <a:spLocks noGrp="1"/>
          </p:cNvSpPr>
          <p:nvPr/>
        </p:nvSpPr>
        <p:spPr>
          <a:xfrm>
            <a:off x="13296900" y="56292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WebSearch · WebFetch</a:t>
            </a:r>
          </a:p>
        </p:txBody>
      </p:sp>
      <p:sp>
        <p:nvSpPr>
          <p:cNvPr id="39" name="">
            <a:extLst>
              <a:ext uri="{FF2B5EF4-FFF2-40B4-BE49-F238E27FC236}">
                <ns2:creationId id="{832C7FAA-371D-4317-AE36-E2788D6CCB64}"/>
              </a:ext>
            </a:extLst>
          </p:cNvPr>
          <p:cNvSpPr>
            <a:spLocks noGrp="1"/>
          </p:cNvSpPr>
          <p:nvPr/>
        </p:nvSpPr>
        <p:spPr>
          <a:xfrm>
            <a:off x="12839700" y="6372225"/>
            <a:ext cx="123825" cy="1238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0" name="">
            <a:extLst>
              <a:ext uri="{FF2B5EF4-FFF2-40B4-BE49-F238E27FC236}">
                <ns2:creationId id="{41B681FB-9307-44A4-AABC-E7FEB698FA19}"/>
              </a:ext>
            </a:extLst>
          </p:cNvPr>
          <p:cNvSpPr txBox="1">
            <a:spLocks noGrp="1"/>
          </p:cNvSpPr>
          <p:nvPr/>
        </p:nvSpPr>
        <p:spPr>
          <a:xfrm>
            <a:off x="13296900" y="629602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X · Reddit · YouTube</a:t>
            </a:r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 ns3:embed="Rc39de9c7451e4c89"/>
          <a:stretch/>
        </p:blipFill>
        <p:spPr>
          <a:xfrm>
            <a:off x="12706350" y="6905625"/>
            <a:ext cx="400050" cy="400050"/>
          </a:xfrm>
          <a:prstGeom prst="rect">
            <a:avLst/>
          </a:prstGeom>
        </p:spPr>
      </p:pic>
      <p:sp>
        <p:nvSpPr>
          <p:cNvPr id="42" name="">
            <a:extLst>
              <a:ext uri="{FF2B5EF4-FFF2-40B4-BE49-F238E27FC236}">
                <ns2:creationId id="{04AA71A5-DCE5-46ED-9116-8A485DFCB5FD}"/>
              </a:ext>
            </a:extLst>
          </p:cNvPr>
          <p:cNvSpPr txBox="1">
            <a:spLocks noGrp="1"/>
          </p:cNvSpPr>
          <p:nvPr/>
        </p:nvSpPr>
        <p:spPr>
          <a:xfrm>
            <a:off x="13296900" y="69627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Knowledge base</a:t>
            </a:r>
          </a:p>
        </p:txBody>
      </p:sp>
    </p:spTree>
    <p:extLst>
      <p:ext uri="{BB962C8B-B14F-4D97-AF65-F5344CB8AC3E}">
        <ns4:creationId val="126174889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C6E012E-7110-4CB6-8CCD-7EC89772DB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D83A21C0-CD9F-4ED3-9685-B1D8961D6AC9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01A7DEC4-AAC6-4D32-B1EF-A3676801221A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8FA47870-9813-423E-8E46-6D9722A4774B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14 / 20</a:t>
            </a:r>
          </a:p>
        </p:txBody>
      </p:sp>
      <p:sp>
        <p:nvSpPr>
          <p:cNvPr id="5" name="">
            <a:extLst>
              <a:ext uri="{FF2B5EF4-FFF2-40B4-BE49-F238E27FC236}">
                <ns2:creationId id="{30D32F03-5C3E-4A2B-86D6-D2EA112FB511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Code-collab surface</a:t>
            </a:r>
          </a:p>
        </p:txBody>
      </p:sp>
      <p:sp>
        <p:nvSpPr>
          <p:cNvPr id="6" name="">
            <a:extLst>
              <a:ext uri="{FF2B5EF4-FFF2-40B4-BE49-F238E27FC236}">
                <ns2:creationId id="{9327436D-2D20-42BF-A821-F86912EC2D65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Watch the things we care about and do the boring follow-through.</a:t>
            </a:r>
          </a:p>
        </p:txBody>
      </p:sp>
      <p:sp>
        <p:nvSpPr>
          <p:cNvPr id="7" name="">
            <a:extLst>
              <a:ext uri="{FF2B5EF4-FFF2-40B4-BE49-F238E27FC236}">
                <ns2:creationId id="{FAD44966-F0F7-4B01-A32E-5DD123C41A7B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8286750" cy="381000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44B3CE7D-DF77-47B0-875B-F68D7EC608D0}"/>
              </a:ext>
            </a:extLst>
          </p:cNvPr>
          <p:cNvSpPr txBox="1">
            <a:spLocks noGrp="1"/>
          </p:cNvSpPr>
          <p:nvPr/>
        </p:nvSpPr>
        <p:spPr>
          <a:xfrm>
            <a:off x="990600" y="3695700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8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Internal</a:t>
            </a:r>
          </a:p>
        </p:txBody>
      </p:sp>
      <p:sp>
        <p:nvSpPr>
          <p:cNvPr id="9" name="">
            <a:extLst>
              <a:ext uri="{FF2B5EF4-FFF2-40B4-BE49-F238E27FC236}">
                <ns2:creationId id="{02FADEA3-D5CB-4766-B837-D842898BD430}"/>
              </a:ext>
            </a:extLst>
          </p:cNvPr>
          <p:cNvSpPr txBox="1">
            <a:spLocks noGrp="1"/>
          </p:cNvSpPr>
          <p:nvPr/>
        </p:nvSpPr>
        <p:spPr>
          <a:xfrm>
            <a:off x="990600" y="4248150"/>
            <a:ext cx="7829550" cy="266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Triage Linear + GitHub issues: auto-label, owner.</a:t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Solve simple Slack issues: Codex opens branch + PR.</a:t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Draft PR review comments with approval.</a:t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Daily digest of stalled or blocked PRs.</a:t>
            </a:r>
          </a:p>
        </p:txBody>
      </p:sp>
      <p:sp>
        <p:nvSpPr>
          <p:cNvPr id="10" name="">
            <a:extLst>
              <a:ext uri="{FF2B5EF4-FFF2-40B4-BE49-F238E27FC236}">
                <ns2:creationId id="{3949195B-B583-4D4E-85DD-2E54E753C2F4}"/>
              </a:ext>
            </a:extLst>
          </p:cNvPr>
          <p:cNvSpPr>
            <a:spLocks noGrp="1"/>
          </p:cNvSpPr>
          <p:nvPr/>
        </p:nvSpPr>
        <p:spPr>
          <a:xfrm>
            <a:off x="9582150" y="3429000"/>
            <a:ext cx="8286750" cy="3810000"/>
          </a:xfrm>
          <a:prstGeom prst="rect">
            <a:avLst/>
          </a:prstGeom>
          <a:solidFill>
            <a:srgbClr val="E8E2D3"/>
          </a:solidFill>
          <a:ln w="19050">
            <a:solidFill>
              <a:srgbClr val="E97862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CF9AC05D-79EA-4BBE-B456-25792995DFF7}"/>
              </a:ext>
            </a:extLst>
          </p:cNvPr>
          <p:cNvSpPr txBox="1">
            <a:spLocks noGrp="1"/>
          </p:cNvSpPr>
          <p:nvPr/>
        </p:nvSpPr>
        <p:spPr>
          <a:xfrm>
            <a:off x="9810750" y="3695700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8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External watchers</a:t>
            </a:r>
          </a:p>
        </p:txBody>
      </p:sp>
      <p:sp>
        <p:nvSpPr>
          <p:cNvPr id="12" name="">
            <a:extLst>
              <a:ext uri="{FF2B5EF4-FFF2-40B4-BE49-F238E27FC236}">
                <ns2:creationId id="{E5D7E93B-4558-49D9-A5A3-734CD3B0863E}"/>
              </a:ext>
            </a:extLst>
          </p:cNvPr>
          <p:cNvSpPr txBox="1">
            <a:spLocks noGrp="1"/>
          </p:cNvSpPr>
          <p:nvPr/>
        </p:nvSpPr>
        <p:spPr>
          <a:xfrm>
            <a:off x="9810750" y="4248150"/>
            <a:ext cx="7829550" cy="266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Framework releases that affect the product.</a:t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Upstream dependencies: performance and security advisories.</a:t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Research feeds relevant to roadmap bets.</a:t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Competitor radar: launches, pricing and positioning.</a:t>
            </a:r>
          </a:p>
        </p:txBody>
      </p:sp>
      <p:sp>
        <p:nvSpPr>
          <p:cNvPr id="13" name="">
            <a:extLst>
              <a:ext uri="{FF2B5EF4-FFF2-40B4-BE49-F238E27FC236}">
                <ns2:creationId id="{FE9A0942-01D5-4FBD-B653-AA9C03E824BC}"/>
              </a:ext>
            </a:extLst>
          </p:cNvPr>
          <p:cNvSpPr>
            <a:spLocks noGrp="1"/>
          </p:cNvSpPr>
          <p:nvPr/>
        </p:nvSpPr>
        <p:spPr>
          <a:xfrm>
            <a:off x="762000" y="8239125"/>
            <a:ext cx="16764000" cy="8572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4D59B73A-B7D4-435F-B7AA-C33A4941E838}"/>
              </a:ext>
            </a:extLst>
          </p:cNvPr>
          <p:cNvSpPr txBox="1">
            <a:spLocks noGrp="1"/>
          </p:cNvSpPr>
          <p:nvPr/>
        </p:nvSpPr>
        <p:spPr>
          <a:xfrm>
            <a:off x="1047750" y="8524875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1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MONITOR  →  REPORT  →  ACT</a:t>
            </a:r>
          </a:p>
        </p:txBody>
      </p:sp>
      <p:sp>
        <p:nvSpPr>
          <p:cNvPr id="15" name="">
            <a:extLst>
              <a:ext uri="{FF2B5EF4-FFF2-40B4-BE49-F238E27FC236}">
                <ns2:creationId id="{F7228D8F-F557-4AAE-A5F1-727E30EE342A}"/>
              </a:ext>
            </a:extLst>
          </p:cNvPr>
          <p:cNvSpPr txBox="1">
            <a:spLocks noGrp="1"/>
          </p:cNvSpPr>
          <p:nvPr/>
        </p:nvSpPr>
        <p:spPr>
          <a:xfrm>
            <a:off x="8096250" y="8524875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 i="1">
                <a:solidFill>
                  <a:srgbClr val="2F2F2F"/>
                </a:solidFill>
                <a:latin typeface="Inter"/>
                <a:ea typeface="Inter"/>
                <a:cs typeface="Inter"/>
              </a:rPr>
              <a:t>structured events → curated channel digest → draft Linear / PR comment / DM</a:t>
            </a:r>
          </a:p>
        </p:txBody>
      </p:sp>
    </p:spTree>
    <p:extLst>
      <p:ext uri="{BB962C8B-B14F-4D97-AF65-F5344CB8AC3E}">
        <ns3:creationId val="640293634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FBB1ACB-ADE5-4937-87B8-A6C9F00F4B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601708E3-0509-4CA0-BD73-CADD48CDAA84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138809BD-D6EF-4377-9584-60E4CBF4D932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16C59976-89C0-48F5-BD94-9FBD22C04032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15 / 20</a:t>
            </a:r>
          </a:p>
        </p:txBody>
      </p:sp>
      <p:sp>
        <p:nvSpPr>
          <p:cNvPr id="5" name="">
            <a:extLst>
              <a:ext uri="{FF2B5EF4-FFF2-40B4-BE49-F238E27FC236}">
                <ns2:creationId id="{D410D53A-4557-4C19-B049-04B2BA0960B6}"/>
              </a:ext>
            </a:extLst>
          </p:cNvPr>
          <p:cNvSpPr txBox="1">
            <a:spLocks noGrp="1"/>
          </p:cNvSpPr>
          <p:nvPr/>
        </p:nvSpPr>
        <p:spPr>
          <a:xfrm>
            <a:off x="762000" y="3190875"/>
            <a:ext cx="1524000" cy="1809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4</a:t>
            </a:r>
          </a:p>
        </p:txBody>
      </p:sp>
      <p:sp>
        <p:nvSpPr>
          <p:cNvPr id="6" name="">
            <a:extLst>
              <a:ext uri="{FF2B5EF4-FFF2-40B4-BE49-F238E27FC236}">
                <ns2:creationId id="{24D81FFA-44FA-4845-80C2-F3E0D27C1725}"/>
              </a:ext>
            </a:extLst>
          </p:cNvPr>
          <p:cNvSpPr txBox="1">
            <a:spLocks noGrp="1"/>
          </p:cNvSpPr>
          <p:nvPr/>
        </p:nvSpPr>
        <p:spPr>
          <a:xfrm>
            <a:off x="2476500" y="3543300"/>
            <a:ext cx="14287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Permissioning</a:t>
            </a:r>
          </a:p>
        </p:txBody>
      </p:sp>
    </p:spTree>
    <p:extLst>
      <p:ext uri="{BB962C8B-B14F-4D97-AF65-F5344CB8AC3E}">
        <ns3:creationId val="1434732144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5E0EBD2-3683-49A7-87F2-00A53E409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6E6581A8-2691-417F-AAD6-056712FCF6E0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E39CA399-8945-490D-BB6F-D12368D5DD86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0EA709AA-A3F6-48B5-972C-77B1D8752175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16 / 20</a:t>
            </a:r>
          </a:p>
        </p:txBody>
      </p:sp>
      <p:sp>
        <p:nvSpPr>
          <p:cNvPr id="5" name="">
            <a:extLst>
              <a:ext uri="{FF2B5EF4-FFF2-40B4-BE49-F238E27FC236}">
                <ns2:creationId id="{DEA32C00-B8C5-4BA1-8D61-985778A29F57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Permissioning model</a:t>
            </a:r>
          </a:p>
        </p:txBody>
      </p:sp>
      <p:sp>
        <p:nvSpPr>
          <p:cNvPr id="6" name="">
            <a:extLst>
              <a:ext uri="{FF2B5EF4-FFF2-40B4-BE49-F238E27FC236}">
                <ns2:creationId id="{644DE947-31FE-4CA3-A82D-AD61BBC339AF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Channel-scoped tools + per-user role overlay + full audit.</a:t>
            </a:r>
          </a:p>
        </p:txBody>
      </p:sp>
      <p:sp>
        <p:nvSpPr>
          <p:cNvPr id="7" name="">
            <a:extLst>
              <a:ext uri="{FF2B5EF4-FFF2-40B4-BE49-F238E27FC236}">
                <ns2:creationId id="{E7BC7C9B-E875-4DA8-845A-38D48AB2A59C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82867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93AB4953-7DB6-4E24-B6AC-D0FCCAE3A189}"/>
              </a:ext>
            </a:extLst>
          </p:cNvPr>
          <p:cNvSpPr txBox="1">
            <a:spLocks noGrp="1"/>
          </p:cNvSpPr>
          <p:nvPr/>
        </p:nvSpPr>
        <p:spPr>
          <a:xfrm>
            <a:off x="990600" y="3743325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Channel-scoped tools</a:t>
            </a:r>
          </a:p>
        </p:txBody>
      </p:sp>
      <p:sp>
        <p:nvSpPr>
          <p:cNvPr id="9" name="">
            <a:extLst>
              <a:ext uri="{FF2B5EF4-FFF2-40B4-BE49-F238E27FC236}">
                <ns2:creationId id="{B2CD7177-D59C-4B36-A084-659349FB7EE0}"/>
              </a:ext>
            </a:extLst>
          </p:cNvPr>
          <p:cNvSpPr txBox="1">
            <a:spLocks noGrp="1"/>
          </p:cNvSpPr>
          <p:nvPr/>
        </p:nvSpPr>
        <p:spPr>
          <a:xfrm>
            <a:off x="990600" y="4295775"/>
            <a:ext cx="78295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#customer-success → CRM + docs.</a:t>
            </a:r>
          </a:p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#eng-oncall → logs, traces and deploy state.</a:t>
            </a:r>
          </a:p>
        </p:txBody>
      </p:sp>
      <p:sp>
        <p:nvSpPr>
          <p:cNvPr id="10" name="">
            <a:extLst>
              <a:ext uri="{FF2B5EF4-FFF2-40B4-BE49-F238E27FC236}">
                <ns2:creationId id="{3613BCF3-3291-47CF-8396-D48AF17557B4}"/>
              </a:ext>
            </a:extLst>
          </p:cNvPr>
          <p:cNvSpPr>
            <a:spLocks noGrp="1"/>
          </p:cNvSpPr>
          <p:nvPr/>
        </p:nvSpPr>
        <p:spPr>
          <a:xfrm>
            <a:off x="9277350" y="3476625"/>
            <a:ext cx="82867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3EF850D2-151B-454C-AA2E-C670E20F9170}"/>
              </a:ext>
            </a:extLst>
          </p:cNvPr>
          <p:cNvSpPr txBox="1">
            <a:spLocks noGrp="1"/>
          </p:cNvSpPr>
          <p:nvPr/>
        </p:nvSpPr>
        <p:spPr>
          <a:xfrm>
            <a:off x="9505950" y="3743325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Per-user role overlay</a:t>
            </a:r>
          </a:p>
        </p:txBody>
      </p:sp>
      <p:sp>
        <p:nvSpPr>
          <p:cNvPr id="12" name="">
            <a:extLst>
              <a:ext uri="{FF2B5EF4-FFF2-40B4-BE49-F238E27FC236}">
                <ns2:creationId id="{A41B9321-3B96-4E0E-9257-B32AAA037AAB}"/>
              </a:ext>
            </a:extLst>
          </p:cNvPr>
          <p:cNvSpPr txBox="1">
            <a:spLocks noGrp="1"/>
          </p:cNvSpPr>
          <p:nvPr/>
        </p:nvSpPr>
        <p:spPr>
          <a:xfrm>
            <a:off x="9505950" y="4295775"/>
            <a:ext cx="78295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Finance, security and legal workflows gated to specific people.</a:t>
            </a:r>
          </a:p>
        </p:txBody>
      </p:sp>
      <p:sp>
        <p:nvSpPr>
          <p:cNvPr id="13" name="">
            <a:extLst>
              <a:ext uri="{FF2B5EF4-FFF2-40B4-BE49-F238E27FC236}">
                <ns2:creationId id="{E44256F6-3BD4-423D-AE88-7CADAD0F93E5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82867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E0F8B984-B0DE-4DF3-90A5-B7AFD53A2116}"/>
              </a:ext>
            </a:extLst>
          </p:cNvPr>
          <p:cNvSpPr txBox="1">
            <a:spLocks noGrp="1"/>
          </p:cNvSpPr>
          <p:nvPr/>
        </p:nvSpPr>
        <p:spPr>
          <a:xfrm>
            <a:off x="990600" y="5734050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Audit trail</a:t>
            </a:r>
          </a:p>
        </p:txBody>
      </p:sp>
      <p:sp>
        <p:nvSpPr>
          <p:cNvPr id="15" name="">
            <a:extLst>
              <a:ext uri="{FF2B5EF4-FFF2-40B4-BE49-F238E27FC236}">
                <ns2:creationId id="{E9AF324F-788C-4CF5-971E-2BDFB85D74F9}"/>
              </a:ext>
            </a:extLst>
          </p:cNvPr>
          <p:cNvSpPr txBox="1">
            <a:spLocks noGrp="1"/>
          </p:cNvSpPr>
          <p:nvPr/>
        </p:nvSpPr>
        <p:spPr>
          <a:xfrm>
            <a:off x="990600" y="6286500"/>
            <a:ext cx="78295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Every cross-source query logged: {user, channel, tool, args, ts}.</a:t>
            </a:r>
          </a:p>
        </p:txBody>
      </p:sp>
      <p:sp>
        <p:nvSpPr>
          <p:cNvPr id="16" name="">
            <a:extLst>
              <a:ext uri="{FF2B5EF4-FFF2-40B4-BE49-F238E27FC236}">
                <ns2:creationId id="{348C5F16-4376-4622-9790-83CBC894E675}"/>
              </a:ext>
            </a:extLst>
          </p:cNvPr>
          <p:cNvSpPr>
            <a:spLocks noGrp="1"/>
          </p:cNvSpPr>
          <p:nvPr/>
        </p:nvSpPr>
        <p:spPr>
          <a:xfrm>
            <a:off x="9277350" y="5467350"/>
            <a:ext cx="8286750" cy="176212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1920473F-AE46-477F-B6C8-309F90061A8D}"/>
              </a:ext>
            </a:extLst>
          </p:cNvPr>
          <p:cNvSpPr txBox="1">
            <a:spLocks noGrp="1"/>
          </p:cNvSpPr>
          <p:nvPr/>
        </p:nvSpPr>
        <p:spPr>
          <a:xfrm>
            <a:off x="9505950" y="5734050"/>
            <a:ext cx="7829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325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Read vs write split</a:t>
            </a:r>
          </a:p>
        </p:txBody>
      </p:sp>
      <p:sp>
        <p:nvSpPr>
          <p:cNvPr id="18" name="">
            <a:extLst>
              <a:ext uri="{FF2B5EF4-FFF2-40B4-BE49-F238E27FC236}">
                <ns2:creationId id="{935E6791-8B61-4FFB-BD25-59372922AF70}"/>
              </a:ext>
            </a:extLst>
          </p:cNvPr>
          <p:cNvSpPr txBox="1">
            <a:spLocks noGrp="1"/>
          </p:cNvSpPr>
          <p:nvPr/>
        </p:nvSpPr>
        <p:spPr>
          <a:xfrm>
            <a:off x="9505950" y="6286500"/>
            <a:ext cx="78295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Reads default-on. Writes need action-card approval.</a:t>
            </a:r>
          </a:p>
        </p:txBody>
      </p:sp>
      <p:sp>
        <p:nvSpPr>
          <p:cNvPr id="19" name="">
            <a:extLst>
              <a:ext uri="{FF2B5EF4-FFF2-40B4-BE49-F238E27FC236}">
                <ns2:creationId id="{C7BB9B29-4DC0-4813-BF21-CB14DB40D280}"/>
              </a:ext>
            </a:extLst>
          </p:cNvPr>
          <p:cNvSpPr txBox="1">
            <a:spLocks noGrp="1"/>
          </p:cNvSpPr>
          <p:nvPr/>
        </p:nvSpPr>
        <p:spPr>
          <a:xfrm>
            <a:off x="762000" y="9334500"/>
            <a:ext cx="11430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725" b="0" i="1">
                <a:solidFill>
                  <a:srgbClr val="6E6E6E"/>
                </a:solidFill>
                <a:latin typeface="Inter"/>
                <a:ea typeface="Inter"/>
                <a:cs typeface="Inter"/>
              </a:rPr>
              <a:t>Same upstream kernel, with policy and tools shaped by the organization.</a:t>
            </a:r>
          </a:p>
        </p:txBody>
      </p:sp>
    </p:spTree>
    <p:extLst>
      <p:ext uri="{BB962C8B-B14F-4D97-AF65-F5344CB8AC3E}">
        <ns3:creationId val="1012649119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A509BAA-4D22-48B8-9753-F919FE1BAB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F715BE5A-ACB8-4153-8504-D43A2769AE08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40B562EA-419A-4FBE-9CD6-8188A0F1F08C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AA9AA266-BA47-4BB7-AE87-5C0600E6CB1E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17 / 20</a:t>
            </a:r>
          </a:p>
        </p:txBody>
      </p:sp>
      <p:sp>
        <p:nvSpPr>
          <p:cNvPr id="5" name="">
            <a:extLst>
              <a:ext uri="{FF2B5EF4-FFF2-40B4-BE49-F238E27FC236}">
                <ns2:creationId id="{FDDE6CD4-47FC-456A-BDED-00B27D4A5C40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Use cases I want to unlock</a:t>
            </a:r>
          </a:p>
        </p:txBody>
      </p:sp>
      <p:sp>
        <p:nvSpPr>
          <p:cNvPr id="6" name="">
            <a:extLst>
              <a:ext uri="{FF2B5EF4-FFF2-40B4-BE49-F238E27FC236}">
                <ns2:creationId id="{1F9C56ED-026B-44C9-882E-4607F5682595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Day-one wins for eng, research and ops.</a:t>
            </a:r>
          </a:p>
        </p:txBody>
      </p:sp>
      <p:sp>
        <p:nvSpPr>
          <p:cNvPr id="7" name="">
            <a:extLst>
              <a:ext uri="{FF2B5EF4-FFF2-40B4-BE49-F238E27FC236}">
                <ns2:creationId id="{5F128447-B27A-451B-A54B-4CBAF5C61CC0}"/>
              </a:ext>
            </a:extLst>
          </p:cNvPr>
          <p:cNvSpPr>
            <a:spLocks noGrp="1"/>
          </p:cNvSpPr>
          <p:nvPr/>
        </p:nvSpPr>
        <p:spPr>
          <a:xfrm>
            <a:off x="762000" y="3448050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8" name="">
            <a:extLst>
              <a:ext uri="{FF2B5EF4-FFF2-40B4-BE49-F238E27FC236}">
                <ns2:creationId id="{2F5B9A16-1CB5-4BC7-892A-A40C3AD42507}"/>
              </a:ext>
            </a:extLst>
          </p:cNvPr>
          <p:cNvSpPr txBox="1">
            <a:spLocks noGrp="1"/>
          </p:cNvSpPr>
          <p:nvPr/>
        </p:nvSpPr>
        <p:spPr>
          <a:xfrm>
            <a:off x="1066800" y="3333750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Weekly customer signal summary → #go-to-market.</a:t>
            </a:r>
          </a:p>
        </p:txBody>
      </p:sp>
      <p:sp>
        <p:nvSpPr>
          <p:cNvPr id="9" name="">
            <a:extLst>
              <a:ext uri="{FF2B5EF4-FFF2-40B4-BE49-F238E27FC236}">
                <ns2:creationId id="{70755325-9DBC-496A-8D81-7E75B1D51CC5}"/>
              </a:ext>
            </a:extLst>
          </p:cNvPr>
          <p:cNvSpPr>
            <a:spLocks noGrp="1"/>
          </p:cNvSpPr>
          <p:nvPr/>
        </p:nvSpPr>
        <p:spPr>
          <a:xfrm>
            <a:off x="9048750" y="3448050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0" name="">
            <a:extLst>
              <a:ext uri="{FF2B5EF4-FFF2-40B4-BE49-F238E27FC236}">
                <ns2:creationId id="{1F9A38C8-3B2F-48DB-A63E-CDDB667CD7C3}"/>
              </a:ext>
            </a:extLst>
          </p:cNvPr>
          <p:cNvSpPr txBox="1">
            <a:spLocks noGrp="1"/>
          </p:cNvSpPr>
          <p:nvPr/>
        </p:nvSpPr>
        <p:spPr>
          <a:xfrm>
            <a:off x="9353550" y="3333750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Product metric readout from Metabase: last 7 days.</a:t>
            </a:r>
          </a:p>
        </p:txBody>
      </p:sp>
      <p:sp>
        <p:nvSpPr>
          <p:cNvPr id="11" name="">
            <a:extLst>
              <a:ext uri="{FF2B5EF4-FFF2-40B4-BE49-F238E27FC236}">
                <ns2:creationId id="{08214DB7-3A47-4F0C-A75F-1CCDC4634EF9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2" name="">
            <a:extLst>
              <a:ext uri="{FF2B5EF4-FFF2-40B4-BE49-F238E27FC236}">
                <ns2:creationId id="{531B7BF7-57AC-4C45-ACCF-1578AE172354}"/>
              </a:ext>
            </a:extLst>
          </p:cNvPr>
          <p:cNvSpPr txBox="1">
            <a:spLocks noGrp="1"/>
          </p:cNvSpPr>
          <p:nvPr/>
        </p:nvSpPr>
        <p:spPr>
          <a:xfrm>
            <a:off x="1066800" y="4333875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Metabase dashboard readout for feature X: last 7 days.</a:t>
            </a:r>
          </a:p>
        </p:txBody>
      </p:sp>
      <p:sp>
        <p:nvSpPr>
          <p:cNvPr id="13" name="">
            <a:extLst>
              <a:ext uri="{FF2B5EF4-FFF2-40B4-BE49-F238E27FC236}">
                <ns2:creationId id="{6E6B80CA-4CED-4A08-A89D-D6A9C26F07AE}"/>
              </a:ext>
            </a:extLst>
          </p:cNvPr>
          <p:cNvSpPr>
            <a:spLocks noGrp="1"/>
          </p:cNvSpPr>
          <p:nvPr/>
        </p:nvSpPr>
        <p:spPr>
          <a:xfrm>
            <a:off x="9048750" y="4448175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4" name="">
            <a:extLst>
              <a:ext uri="{FF2B5EF4-FFF2-40B4-BE49-F238E27FC236}">
                <ns2:creationId id="{6D2EF136-EE05-40DD-9083-AFB479BC7D9C}"/>
              </a:ext>
            </a:extLst>
          </p:cNvPr>
          <p:cNvSpPr txBox="1">
            <a:spLocks noGrp="1"/>
          </p:cNvSpPr>
          <p:nvPr/>
        </p:nvSpPr>
        <p:spPr>
          <a:xfrm>
            <a:off x="9353550" y="4333875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Summarize #engineering standup from the last 24h.</a:t>
            </a:r>
          </a:p>
        </p:txBody>
      </p:sp>
      <p:sp>
        <p:nvSpPr>
          <p:cNvPr id="15" name="">
            <a:extLst>
              <a:ext uri="{FF2B5EF4-FFF2-40B4-BE49-F238E27FC236}">
                <ns2:creationId id="{719F447C-004A-4395-A556-2D4A3F300F6A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6" name="">
            <a:extLst>
              <a:ext uri="{FF2B5EF4-FFF2-40B4-BE49-F238E27FC236}">
                <ns2:creationId id="{BB72660A-94A0-4C9D-A719-1A4D9D9A94B8}"/>
              </a:ext>
            </a:extLst>
          </p:cNvPr>
          <p:cNvSpPr txBox="1">
            <a:spLocks noGrp="1"/>
          </p:cNvSpPr>
          <p:nvPr/>
        </p:nvSpPr>
        <p:spPr>
          <a:xfrm>
            <a:off x="1066800" y="5334000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Draft a partner evaluation memo from this proposal.</a:t>
            </a:r>
          </a:p>
        </p:txBody>
      </p:sp>
      <p:sp>
        <p:nvSpPr>
          <p:cNvPr id="17" name="">
            <a:extLst>
              <a:ext uri="{FF2B5EF4-FFF2-40B4-BE49-F238E27FC236}">
                <ns2:creationId id="{23DD0BAE-B5EF-4002-8DFB-48F964D467EE}"/>
              </a:ext>
            </a:extLst>
          </p:cNvPr>
          <p:cNvSpPr>
            <a:spLocks noGrp="1"/>
          </p:cNvSpPr>
          <p:nvPr/>
        </p:nvSpPr>
        <p:spPr>
          <a:xfrm>
            <a:off x="9048750" y="5448300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8" name="">
            <a:extLst>
              <a:ext uri="{FF2B5EF4-FFF2-40B4-BE49-F238E27FC236}">
                <ns2:creationId id="{E58E7637-F3F5-4864-BFE0-356E41AFAC7A}"/>
              </a:ext>
            </a:extLst>
          </p:cNvPr>
          <p:cNvSpPr txBox="1">
            <a:spLocks noGrp="1"/>
          </p:cNvSpPr>
          <p:nvPr/>
        </p:nvSpPr>
        <p:spPr>
          <a:xfrm>
            <a:off x="9353550" y="5334000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Datadog errors for service X: on-call triage.</a:t>
            </a:r>
          </a:p>
        </p:txBody>
      </p:sp>
      <p:sp>
        <p:nvSpPr>
          <p:cNvPr id="19" name="">
            <a:extLst>
              <a:ext uri="{FF2B5EF4-FFF2-40B4-BE49-F238E27FC236}">
                <ns2:creationId id="{2C47A5F3-A1DF-4E1A-99A0-9A81F49B1286}"/>
              </a:ext>
            </a:extLst>
          </p:cNvPr>
          <p:cNvSpPr>
            <a:spLocks noGrp="1"/>
          </p:cNvSpPr>
          <p:nvPr/>
        </p:nvSpPr>
        <p:spPr>
          <a:xfrm>
            <a:off x="762000" y="6448425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0" name="">
            <a:extLst>
              <a:ext uri="{FF2B5EF4-FFF2-40B4-BE49-F238E27FC236}">
                <ns2:creationId id="{B1F60395-58FD-4C4A-A764-DB813F8E63D5}"/>
              </a:ext>
            </a:extLst>
          </p:cNvPr>
          <p:cNvSpPr txBox="1">
            <a:spLocks noGrp="1"/>
          </p:cNvSpPr>
          <p:nvPr/>
        </p:nvSpPr>
        <p:spPr>
          <a:xfrm>
            <a:off x="1066800" y="6334125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Triage new Linear issues: label + owner suggestions.</a:t>
            </a:r>
          </a:p>
        </p:txBody>
      </p:sp>
      <p:sp>
        <p:nvSpPr>
          <p:cNvPr id="21" name="">
            <a:extLst>
              <a:ext uri="{FF2B5EF4-FFF2-40B4-BE49-F238E27FC236}">
                <ns2:creationId id="{5444EECE-5EC9-4672-B201-112F69C2C24D}"/>
              </a:ext>
            </a:extLst>
          </p:cNvPr>
          <p:cNvSpPr>
            <a:spLocks noGrp="1"/>
          </p:cNvSpPr>
          <p:nvPr/>
        </p:nvSpPr>
        <p:spPr>
          <a:xfrm>
            <a:off x="9048750" y="6448425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2" name="">
            <a:extLst>
              <a:ext uri="{FF2B5EF4-FFF2-40B4-BE49-F238E27FC236}">
                <ns2:creationId id="{6E436360-B87C-4290-8FD0-0EA57A6B83E0}"/>
              </a:ext>
            </a:extLst>
          </p:cNvPr>
          <p:cNvSpPr txBox="1">
            <a:spLocks noGrp="1"/>
          </p:cNvSpPr>
          <p:nvPr/>
        </p:nvSpPr>
        <p:spPr>
          <a:xfrm>
            <a:off x="9353550" y="6334125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Draft a PR review for company/repo#1234.</a:t>
            </a:r>
          </a:p>
        </p:txBody>
      </p:sp>
    </p:spTree>
    <p:extLst>
      <p:ext uri="{BB962C8B-B14F-4D97-AF65-F5344CB8AC3E}">
        <ns3:creationId val="1186612574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9ECA59E-87CD-4D8F-A5D3-0B5D70762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7EDA1CC2-2374-42D6-A273-4AE510087D05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E13B2148-3D64-4121-8990-B137198ED5D2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93B26104-06AF-48E4-B2F3-0B18B902E20F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18 / 20</a:t>
            </a:r>
          </a:p>
        </p:txBody>
      </p:sp>
      <p:sp>
        <p:nvSpPr>
          <p:cNvPr id="5" name="">
            <a:extLst>
              <a:ext uri="{FF2B5EF4-FFF2-40B4-BE49-F238E27FC236}">
                <ns2:creationId id="{C43339E4-5112-42E7-8725-51C4FEC406AF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Demo plan</a:t>
            </a:r>
          </a:p>
        </p:txBody>
      </p:sp>
      <p:sp>
        <p:nvSpPr>
          <p:cNvPr id="6" name="">
            <a:extLst>
              <a:ext uri="{FF2B5EF4-FFF2-40B4-BE49-F238E27FC236}">
                <ns2:creationId id="{C1064C18-2069-49D9-9AA8-141BF41C8CA4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~5 minutes: same primitives, scoped for a real team workflow.</a:t>
            </a:r>
          </a:p>
        </p:txBody>
      </p:sp>
      <p:sp>
        <p:nvSpPr>
          <p:cNvPr id="7" name="">
            <a:extLst>
              <a:ext uri="{FF2B5EF4-FFF2-40B4-BE49-F238E27FC236}">
                <ns2:creationId id="{75D7595C-B865-45FB-974B-65EFC412506D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8001000" cy="195262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pic>
        <p:nvPicPr>
          <p:cNvPr id="8" name=""/>
          <p:cNvPicPr>
            <a:picLocks noChangeAspect="1"/>
          </p:cNvPicPr>
          <p:nvPr/>
        </p:nvPicPr>
        <p:blipFill>
          <a:blip ns3:embed="Rf0e4fc0c11c84e8e"/>
          <a:stretch/>
        </p:blipFill>
        <p:spPr>
          <a:xfrm>
            <a:off x="1028700" y="3695700"/>
            <a:ext cx="514350" cy="51435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D3DB1156-3F3E-43DA-ACFF-DA1D78265745}"/>
              </a:ext>
            </a:extLst>
          </p:cNvPr>
          <p:cNvSpPr txBox="1">
            <a:spLocks noGrp="1"/>
          </p:cNvSpPr>
          <p:nvPr/>
        </p:nvSpPr>
        <p:spPr>
          <a:xfrm>
            <a:off x="1809750" y="3695700"/>
            <a:ext cx="65722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Slack-driven Linear triage</a:t>
            </a:r>
          </a:p>
        </p:txBody>
      </p:sp>
      <p:sp>
        <p:nvSpPr>
          <p:cNvPr id="10" name="">
            <a:extLst>
              <a:ext uri="{FF2B5EF4-FFF2-40B4-BE49-F238E27FC236}">
                <ns2:creationId id="{8F62F1EA-474C-466C-A246-5C77EE2045B0}"/>
              </a:ext>
            </a:extLst>
          </p:cNvPr>
          <p:cNvSpPr txBox="1">
            <a:spLocks noGrp="1"/>
          </p:cNvSpPr>
          <p:nvPr/>
        </p:nvSpPr>
        <p:spPr>
          <a:xfrm>
            <a:off x="1809750" y="4210050"/>
            <a:ext cx="6477000" cy="809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Mention Centaur in Slack, ask it to label new issues, assign owners and draft the summary.</a:t>
            </a:r>
          </a:p>
        </p:txBody>
      </p:sp>
      <p:sp>
        <p:nvSpPr>
          <p:cNvPr id="11" name="">
            <a:extLst>
              <a:ext uri="{FF2B5EF4-FFF2-40B4-BE49-F238E27FC236}">
                <ns2:creationId id="{F54F3369-8284-46F2-A423-047F5A93ED6E}"/>
              </a:ext>
            </a:extLst>
          </p:cNvPr>
          <p:cNvSpPr>
            <a:spLocks noGrp="1"/>
          </p:cNvSpPr>
          <p:nvPr/>
        </p:nvSpPr>
        <p:spPr>
          <a:xfrm>
            <a:off x="9286875" y="3429000"/>
            <a:ext cx="8001000" cy="19526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12" name=""/>
          <p:cNvPicPr>
            <a:picLocks noChangeAspect="1"/>
          </p:cNvPicPr>
          <p:nvPr/>
        </p:nvPicPr>
        <p:blipFill>
          <a:blip ns3:embed="R317284b62c504b5c"/>
          <a:stretch/>
        </p:blipFill>
        <p:spPr>
          <a:xfrm>
            <a:off x="9553575" y="3695700"/>
            <a:ext cx="514350" cy="514350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AC9628F6-68C2-4C97-813E-68E7FA3EA515}"/>
              </a:ext>
            </a:extLst>
          </p:cNvPr>
          <p:cNvSpPr txBox="1">
            <a:spLocks noGrp="1"/>
          </p:cNvSpPr>
          <p:nvPr/>
        </p:nvSpPr>
        <p:spPr>
          <a:xfrm>
            <a:off x="10334625" y="3695700"/>
            <a:ext cx="65722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Upstream-watch digest</a:t>
            </a:r>
          </a:p>
        </p:txBody>
      </p:sp>
      <p:sp>
        <p:nvSpPr>
          <p:cNvPr id="14" name="">
            <a:extLst>
              <a:ext uri="{FF2B5EF4-FFF2-40B4-BE49-F238E27FC236}">
                <ns2:creationId id="{7D08169C-9ABE-49D3-8D63-722A0CB951F7}"/>
              </a:ext>
            </a:extLst>
          </p:cNvPr>
          <p:cNvSpPr txBox="1">
            <a:spLocks noGrp="1"/>
          </p:cNvSpPr>
          <p:nvPr/>
        </p:nvSpPr>
        <p:spPr>
          <a:xfrm>
            <a:off x="10334625" y="4210050"/>
            <a:ext cx="6477000" cy="809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Watch important repos and advisories, then post a curated digest into the right channel.</a:t>
            </a:r>
          </a:p>
        </p:txBody>
      </p:sp>
      <p:sp>
        <p:nvSpPr>
          <p:cNvPr id="15" name="">
            <a:extLst>
              <a:ext uri="{FF2B5EF4-FFF2-40B4-BE49-F238E27FC236}">
                <ns2:creationId id="{28C508D1-8833-4DF1-9A2E-D5247FFCB1B3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8001000" cy="195262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pic>
        <p:nvPicPr>
          <p:cNvPr id="16" name=""/>
          <p:cNvPicPr>
            <a:picLocks noChangeAspect="1"/>
          </p:cNvPicPr>
          <p:nvPr/>
        </p:nvPicPr>
        <p:blipFill>
          <a:blip ns3:embed="R86bba0542c9d4d88"/>
          <a:stretch/>
        </p:blipFill>
        <p:spPr>
          <a:xfrm>
            <a:off x="1028700" y="6076950"/>
            <a:ext cx="514350" cy="514350"/>
          </a:xfrm>
          <a:prstGeom prst="rect">
            <a:avLst/>
          </a:prstGeom>
        </p:spPr>
      </p:pic>
      <p:sp>
        <p:nvSpPr>
          <p:cNvPr id="17" name="">
            <a:extLst>
              <a:ext uri="{FF2B5EF4-FFF2-40B4-BE49-F238E27FC236}">
                <ns2:creationId id="{385412FE-C016-4F7B-98A7-B93AC9C6BD88}"/>
              </a:ext>
            </a:extLst>
          </p:cNvPr>
          <p:cNvSpPr txBox="1">
            <a:spLocks noGrp="1"/>
          </p:cNvSpPr>
          <p:nvPr/>
        </p:nvSpPr>
        <p:spPr>
          <a:xfrm>
            <a:off x="1809750" y="6076950"/>
            <a:ext cx="65722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Scoped data readout</a:t>
            </a:r>
          </a:p>
        </p:txBody>
      </p:sp>
      <p:sp>
        <p:nvSpPr>
          <p:cNvPr id="18" name="">
            <a:extLst>
              <a:ext uri="{FF2B5EF4-FFF2-40B4-BE49-F238E27FC236}">
                <ns2:creationId id="{A2D02346-BBE4-4F97-8A0C-147C5FB9F3AD}"/>
              </a:ext>
            </a:extLst>
          </p:cNvPr>
          <p:cNvSpPr txBox="1">
            <a:spLocks noGrp="1"/>
          </p:cNvSpPr>
          <p:nvPr/>
        </p:nvSpPr>
        <p:spPr>
          <a:xfrm>
            <a:off x="1809750" y="6591300"/>
            <a:ext cx="6477000" cy="809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Ask about a product metric or dashboard with channel-scoped access to the right data source.</a:t>
            </a:r>
          </a:p>
        </p:txBody>
      </p:sp>
      <p:sp>
        <p:nvSpPr>
          <p:cNvPr id="19" name="">
            <a:extLst>
              <a:ext uri="{FF2B5EF4-FFF2-40B4-BE49-F238E27FC236}">
                <ns2:creationId id="{519E2337-B717-4F39-A4F7-5C7D48B12472}"/>
              </a:ext>
            </a:extLst>
          </p:cNvPr>
          <p:cNvSpPr>
            <a:spLocks noGrp="1"/>
          </p:cNvSpPr>
          <p:nvPr/>
        </p:nvSpPr>
        <p:spPr>
          <a:xfrm>
            <a:off x="9286875" y="5810250"/>
            <a:ext cx="8001000" cy="1952625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20" name=""/>
          <p:cNvPicPr>
            <a:picLocks noChangeAspect="1"/>
          </p:cNvPicPr>
          <p:nvPr/>
        </p:nvPicPr>
        <p:blipFill>
          <a:blip ns3:embed="R094536255fcf40c5"/>
          <a:stretch/>
        </p:blipFill>
        <p:spPr>
          <a:xfrm>
            <a:off x="9553575" y="6076950"/>
            <a:ext cx="514350" cy="514350"/>
          </a:xfrm>
          <a:prstGeom prst="rect">
            <a:avLst/>
          </a:prstGeom>
        </p:spPr>
      </p:pic>
      <p:sp>
        <p:nvSpPr>
          <p:cNvPr id="21" name="">
            <a:extLst>
              <a:ext uri="{FF2B5EF4-FFF2-40B4-BE49-F238E27FC236}">
                <ns2:creationId id="{D4DF356D-43C4-4736-A19B-271E16B05B40}"/>
              </a:ext>
            </a:extLst>
          </p:cNvPr>
          <p:cNvSpPr txBox="1">
            <a:spLocks noGrp="1"/>
          </p:cNvSpPr>
          <p:nvPr/>
        </p:nvSpPr>
        <p:spPr>
          <a:xfrm>
            <a:off x="10334625" y="6076950"/>
            <a:ext cx="65722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Permissioning walkthrough</a:t>
            </a:r>
          </a:p>
        </p:txBody>
      </p:sp>
      <p:sp>
        <p:nvSpPr>
          <p:cNvPr id="22" name="">
            <a:extLst>
              <a:ext uri="{FF2B5EF4-FFF2-40B4-BE49-F238E27FC236}">
                <ns2:creationId id="{DEBED25A-FC12-47EF-9DD4-B4E5551C9102}"/>
              </a:ext>
            </a:extLst>
          </p:cNvPr>
          <p:cNvSpPr txBox="1">
            <a:spLocks noGrp="1"/>
          </p:cNvSpPr>
          <p:nvPr/>
        </p:nvSpPr>
        <p:spPr>
          <a:xfrm>
            <a:off x="10334625" y="6591300"/>
            <a:ext cx="6477000" cy="809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Show reads, action cards and audit trails before anything writes to a production system.</a:t>
            </a:r>
          </a:p>
        </p:txBody>
      </p:sp>
    </p:spTree>
    <p:extLst>
      <p:ext uri="{BB962C8B-B14F-4D97-AF65-F5344CB8AC3E}">
        <ns4:creationId val="1255434079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094D68E-DC18-414A-B761-A6C47CAEC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A3F4A78B-0936-4103-8E53-33FEE5B949B1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4BE5CFA4-3043-4931-B3C0-20AAA679E9F3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F70C092D-D103-4B9C-87B7-692D3EB4E893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19 / 20</a:t>
            </a:r>
          </a:p>
        </p:txBody>
      </p:sp>
      <p:sp>
        <p:nvSpPr>
          <p:cNvPr id="5" name="">
            <a:extLst>
              <a:ext uri="{FF2B5EF4-FFF2-40B4-BE49-F238E27FC236}">
                <ns2:creationId id="{1EC8E732-239E-40D1-900B-1B2EB4A24450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Open questions for the sync</a:t>
            </a:r>
          </a:p>
        </p:txBody>
      </p:sp>
      <p:sp>
        <p:nvSpPr>
          <p:cNvPr id="6" name="">
            <a:extLst>
              <a:ext uri="{FF2B5EF4-FFF2-40B4-BE49-F238E27FC236}">
                <ns2:creationId id="{E2404A85-090B-4103-BF52-E1FDD12F4195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16764000" cy="7429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5DB5BA06-5A07-461D-AE72-42FBFDCD8AA7}"/>
              </a:ext>
            </a:extLst>
          </p:cNvPr>
          <p:cNvSpPr txBox="1">
            <a:spLocks noGrp="1"/>
          </p:cNvSpPr>
          <p:nvPr/>
        </p:nvSpPr>
        <p:spPr>
          <a:xfrm>
            <a:off x="1066800" y="3429000"/>
            <a:ext cx="15811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Which 3-5 data sources first? My pick: Linear, GitHub, Slack history, Metabase and Datadog.</a:t>
            </a:r>
          </a:p>
        </p:txBody>
      </p:sp>
      <p:sp>
        <p:nvSpPr>
          <p:cNvPr id="8" name="">
            <a:extLst>
              <a:ext uri="{FF2B5EF4-FFF2-40B4-BE49-F238E27FC236}">
                <ns2:creationId id="{F9DF43C1-DD90-4333-8711-C48DB4FBE1D0}"/>
              </a:ext>
            </a:extLst>
          </p:cNvPr>
          <p:cNvSpPr>
            <a:spLocks noGrp="1"/>
          </p:cNvSpPr>
          <p:nvPr/>
        </p:nvSpPr>
        <p:spPr>
          <a:xfrm>
            <a:off x="762000" y="4381500"/>
            <a:ext cx="16764000" cy="7429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B0882328-B96E-4245-AEFD-2C642C5490D9}"/>
              </a:ext>
            </a:extLst>
          </p:cNvPr>
          <p:cNvSpPr txBox="1">
            <a:spLocks noGrp="1"/>
          </p:cNvSpPr>
          <p:nvPr/>
        </p:nvSpPr>
        <p:spPr>
          <a:xfrm>
            <a:off x="1066800" y="4572000"/>
            <a:ext cx="15811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Who owns privacy policy, data retention and audit review?</a:t>
            </a:r>
          </a:p>
        </p:txBody>
      </p:sp>
      <p:sp>
        <p:nvSpPr>
          <p:cNvPr id="10" name="">
            <a:extLst>
              <a:ext uri="{FF2B5EF4-FFF2-40B4-BE49-F238E27FC236}">
                <ns2:creationId id="{053A2ED8-E18A-46CE-AE4D-ABBB36032672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6764000" cy="7429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53E4596D-CB9E-4427-B974-0E45A388DE62}"/>
              </a:ext>
            </a:extLst>
          </p:cNvPr>
          <p:cNvSpPr txBox="1">
            <a:spLocks noGrp="1"/>
          </p:cNvSpPr>
          <p:nvPr/>
        </p:nvSpPr>
        <p:spPr>
          <a:xfrm>
            <a:off x="1066800" y="5715000"/>
            <a:ext cx="15811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Where should action-card approvals live: Slack only, Linear, or both?</a:t>
            </a:r>
          </a:p>
        </p:txBody>
      </p:sp>
      <p:sp>
        <p:nvSpPr>
          <p:cNvPr id="12" name="">
            <a:extLst>
              <a:ext uri="{FF2B5EF4-FFF2-40B4-BE49-F238E27FC236}">
                <ns2:creationId id="{10AE88E4-6D3F-4E4D-83EC-E3190B1138DB}"/>
              </a:ext>
            </a:extLst>
          </p:cNvPr>
          <p:cNvSpPr>
            <a:spLocks noGrp="1"/>
          </p:cNvSpPr>
          <p:nvPr/>
        </p:nvSpPr>
        <p:spPr>
          <a:xfrm>
            <a:off x="762000" y="6667500"/>
            <a:ext cx="16764000" cy="7429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62CAF0A7-3210-41DB-A450-3FAE680CDE83}"/>
              </a:ext>
            </a:extLst>
          </p:cNvPr>
          <p:cNvSpPr txBox="1">
            <a:spLocks noGrp="1"/>
          </p:cNvSpPr>
          <p:nvPr/>
        </p:nvSpPr>
        <p:spPr>
          <a:xfrm>
            <a:off x="1066800" y="6858000"/>
            <a:ext cx="15811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Which production Slack channels are safe for the first rollout?</a:t>
            </a:r>
          </a:p>
        </p:txBody>
      </p:sp>
      <p:sp>
        <p:nvSpPr>
          <p:cNvPr id="14" name="">
            <a:extLst>
              <a:ext uri="{FF2B5EF4-FFF2-40B4-BE49-F238E27FC236}">
                <ns2:creationId id="{CF86310E-1413-4CC7-9A62-DD3DC2ABFA94}"/>
              </a:ext>
            </a:extLst>
          </p:cNvPr>
          <p:cNvSpPr>
            <a:spLocks noGrp="1"/>
          </p:cNvSpPr>
          <p:nvPr/>
        </p:nvSpPr>
        <p:spPr>
          <a:xfrm>
            <a:off x="762000" y="7810500"/>
            <a:ext cx="16764000" cy="7429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4897E3B0-4C0A-4DA8-A989-AFBD45F9004A}"/>
              </a:ext>
            </a:extLst>
          </p:cNvPr>
          <p:cNvSpPr txBox="1">
            <a:spLocks noGrp="1"/>
          </p:cNvSpPr>
          <p:nvPr/>
        </p:nvSpPr>
        <p:spPr>
          <a:xfrm>
            <a:off x="1066800" y="8001000"/>
            <a:ext cx="15811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What KPIs make this worth expanding: hours saved, cycle time, fewer dropped follow-ups, better incident response?</a:t>
            </a:r>
          </a:p>
        </p:txBody>
      </p:sp>
    </p:spTree>
    <p:extLst>
      <p:ext uri="{BB962C8B-B14F-4D97-AF65-F5344CB8AC3E}">
        <ns3:creationId val="1601332901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03DA24A-373A-427F-8D9F-EAB8A8C014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9C998A1C-33A9-4E7F-A5E2-358952D1114F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CENTAUR</a:t>
            </a:r>
          </a:p>
        </p:txBody>
      </p:sp>
      <p:sp>
        <p:nvSpPr>
          <p:cNvPr id="3" name="">
            <a:extLst>
              <a:ext uri="{FF2B5EF4-FFF2-40B4-BE49-F238E27FC236}">
                <ns2:creationId id="{D6188CAB-872E-453A-B5D3-11546866F0FA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3CFEEB4C-E9C5-495B-B259-BA8BE41E07BF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20 / 20</a:t>
            </a:r>
          </a:p>
        </p:txBody>
      </p:sp>
      <p:sp>
        <p:nvSpPr>
          <p:cNvPr id="5" name="">
            <a:extLst>
              <a:ext uri="{FF2B5EF4-FFF2-40B4-BE49-F238E27FC236}">
                <ns2:creationId id="{3A7E7360-0E77-4D63-9703-1CE5AB455D52}"/>
              </a:ext>
            </a:extLst>
          </p:cNvPr>
          <p:cNvSpPr txBox="1">
            <a:spLocks noGrp="1"/>
          </p:cNvSpPr>
          <p:nvPr/>
        </p:nvSpPr>
        <p:spPr>
          <a:xfrm>
            <a:off x="12001500" y="857250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7500" b="1">
                <a:solidFill>
                  <a:srgbClr val="2A2C32"/>
                </a:solidFill>
                <a:latin typeface="Inter Tight"/>
                <a:ea typeface="Inter Tight"/>
                <a:cs typeface="Inter Tight"/>
              </a:defRPr>
            </a:pPr>
            <a:r>
              <a:rPr sz="7500" b="1">
                <a:solidFill>
                  <a:srgbClr val="2A2C32"/>
                </a:solidFill>
                <a:latin typeface="Inter Tight"/>
                <a:ea typeface="Inter Tight"/>
                <a:cs typeface="Inter Tight"/>
              </a:rPr>
              <a:t>Centaur</a:t>
            </a:r>
          </a:p>
        </p:txBody>
      </p:sp>
      <p:sp>
        <p:nvSpPr>
          <p:cNvPr id="6" name="">
            <a:extLst>
              <a:ext uri="{FF2B5EF4-FFF2-40B4-BE49-F238E27FC236}">
                <ns2:creationId id="{03BF56E2-D302-463D-A931-C8B1E9653A07}"/>
              </a:ext>
            </a:extLst>
          </p:cNvPr>
          <p:cNvSpPr txBox="1">
            <a:spLocks noGrp="1"/>
          </p:cNvSpPr>
          <p:nvPr/>
        </p:nvSpPr>
        <p:spPr>
          <a:xfrm>
            <a:off x="762000" y="1476375"/>
            <a:ext cx="16192500" cy="904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66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66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How to get started</a:t>
            </a:r>
          </a:p>
        </p:txBody>
      </p:sp>
      <p:sp>
        <p:nvSpPr>
          <p:cNvPr id="7" name="">
            <a:extLst>
              <a:ext uri="{FF2B5EF4-FFF2-40B4-BE49-F238E27FC236}">
                <ns2:creationId id="{09E9C232-DD71-42E5-8591-DAB45F707FB3}"/>
              </a:ext>
            </a:extLst>
          </p:cNvPr>
          <p:cNvSpPr txBox="1">
            <a:spLocks noGrp="1"/>
          </p:cNvSpPr>
          <p:nvPr/>
        </p:nvSpPr>
        <p:spPr>
          <a:xfrm>
            <a:off x="762000" y="29527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1.</a:t>
            </a:r>
          </a:p>
        </p:txBody>
      </p:sp>
      <p:sp>
        <p:nvSpPr>
          <p:cNvPr id="8" name="">
            <a:extLst>
              <a:ext uri="{FF2B5EF4-FFF2-40B4-BE49-F238E27FC236}">
                <ns2:creationId id="{21007596-76D1-4E13-A10E-67AA09AD3D81}"/>
              </a:ext>
            </a:extLst>
          </p:cNvPr>
          <p:cNvSpPr txBox="1">
            <a:spLocks noGrp="1"/>
          </p:cNvSpPr>
          <p:nvPr/>
        </p:nvSpPr>
        <p:spPr>
          <a:xfrm>
            <a:off x="1600200" y="2952750"/>
            <a:ext cx="138112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Start with the docs quickstart: centaur.run/llms-full.txt + the ACME overlay example.</a:t>
            </a:r>
          </a:p>
        </p:txBody>
      </p:sp>
      <p:sp>
        <p:nvSpPr>
          <p:cNvPr id="9" name="">
            <a:extLst>
              <a:ext uri="{FF2B5EF4-FFF2-40B4-BE49-F238E27FC236}">
                <ns2:creationId id="{EBDD5E94-F9C0-4F15-B7F4-BEED74264643}"/>
              </a:ext>
            </a:extLst>
          </p:cNvPr>
          <p:cNvSpPr txBox="1">
            <a:spLocks noGrp="1"/>
          </p:cNvSpPr>
          <p:nvPr/>
        </p:nvSpPr>
        <p:spPr>
          <a:xfrm>
            <a:off x="762000" y="3857625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2.</a:t>
            </a:r>
          </a:p>
        </p:txBody>
      </p:sp>
      <p:sp>
        <p:nvSpPr>
          <p:cNvPr id="10" name="">
            <a:extLst>
              <a:ext uri="{FF2B5EF4-FFF2-40B4-BE49-F238E27FC236}">
                <ns2:creationId id="{17E066F4-E93B-40A2-A586-B71410293479}"/>
              </a:ext>
            </a:extLst>
          </p:cNvPr>
          <p:cNvSpPr txBox="1">
            <a:spLocks noGrp="1"/>
          </p:cNvSpPr>
          <p:nvPr/>
        </p:nvSpPr>
        <p:spPr>
          <a:xfrm>
            <a:off x="1600200" y="3857625"/>
            <a:ext cx="138112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Stand up a sandbox Centaur instance for your team.</a:t>
            </a:r>
          </a:p>
        </p:txBody>
      </p:sp>
      <p:sp>
        <p:nvSpPr>
          <p:cNvPr id="11" name="">
            <a:extLst>
              <a:ext uri="{FF2B5EF4-FFF2-40B4-BE49-F238E27FC236}">
                <ns2:creationId id="{38A59BDE-A342-499B-8854-597791AAF801}"/>
              </a:ext>
            </a:extLst>
          </p:cNvPr>
          <p:cNvSpPr txBox="1">
            <a:spLocks noGrp="1"/>
          </p:cNvSpPr>
          <p:nvPr/>
        </p:nvSpPr>
        <p:spPr>
          <a:xfrm>
            <a:off x="762000" y="476250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3.</a:t>
            </a:r>
          </a:p>
        </p:txBody>
      </p:sp>
      <p:sp>
        <p:nvSpPr>
          <p:cNvPr id="12" name="">
            <a:extLst>
              <a:ext uri="{FF2B5EF4-FFF2-40B4-BE49-F238E27FC236}">
                <ns2:creationId id="{75227A66-FE35-4C87-925B-FE6177B99C1F}"/>
              </a:ext>
            </a:extLst>
          </p:cNvPr>
          <p:cNvSpPr txBox="1">
            <a:spLocks noGrp="1"/>
          </p:cNvSpPr>
          <p:nvPr/>
        </p:nvSpPr>
        <p:spPr>
          <a:xfrm>
            <a:off x="1600200" y="4762500"/>
            <a:ext cx="138112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Pick 2-3 workflow examples that would be useful inside your company.</a:t>
            </a:r>
          </a:p>
        </p:txBody>
      </p:sp>
      <p:sp>
        <p:nvSpPr>
          <p:cNvPr id="13" name="">
            <a:extLst>
              <a:ext uri="{FF2B5EF4-FFF2-40B4-BE49-F238E27FC236}">
                <ns2:creationId id="{A40B22E7-C5D4-4E55-893D-2EBF7FFCF6C3}"/>
              </a:ext>
            </a:extLst>
          </p:cNvPr>
          <p:cNvSpPr txBox="1">
            <a:spLocks noGrp="1"/>
          </p:cNvSpPr>
          <p:nvPr/>
        </p:nvSpPr>
        <p:spPr>
          <a:xfrm>
            <a:off x="762000" y="5667375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B1391A4A-A8FA-43A6-AF67-1FC14792D295}"/>
              </a:ext>
            </a:extLst>
          </p:cNvPr>
          <p:cNvSpPr txBox="1">
            <a:spLocks noGrp="1"/>
          </p:cNvSpPr>
          <p:nvPr/>
        </p:nvSpPr>
        <p:spPr>
          <a:xfrm>
            <a:off x="1600200" y="5667375"/>
            <a:ext cx="138112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Align stakeholders on privacy, retention, access control and integration process.</a:t>
            </a:r>
          </a:p>
        </p:txBody>
      </p:sp>
      <p:sp>
        <p:nvSpPr>
          <p:cNvPr id="15" name="">
            <a:extLst>
              <a:ext uri="{FF2B5EF4-FFF2-40B4-BE49-F238E27FC236}">
                <ns2:creationId id="{DB129B5B-D25D-4F7E-89F9-E9698AD8B7A3}"/>
              </a:ext>
            </a:extLst>
          </p:cNvPr>
          <p:cNvSpPr txBox="1">
            <a:spLocks noGrp="1"/>
          </p:cNvSpPr>
          <p:nvPr/>
        </p:nvSpPr>
        <p:spPr>
          <a:xfrm>
            <a:off x="762000" y="65722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5.</a:t>
            </a:r>
          </a:p>
        </p:txBody>
      </p:sp>
      <p:sp>
        <p:nvSpPr>
          <p:cNvPr id="16" name="">
            <a:extLst>
              <a:ext uri="{FF2B5EF4-FFF2-40B4-BE49-F238E27FC236}">
                <ns2:creationId id="{FCC703E7-A3AE-4E13-BAD0-211414FCB7E4}"/>
              </a:ext>
            </a:extLst>
          </p:cNvPr>
          <p:cNvSpPr txBox="1">
            <a:spLocks noGrp="1"/>
          </p:cNvSpPr>
          <p:nvPr/>
        </p:nvSpPr>
        <p:spPr>
          <a:xfrm>
            <a:off x="1600200" y="6572250"/>
            <a:ext cx="138112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Integrate Centaur into Slack, connect your first tools, then teach the team how to use it.</a:t>
            </a:r>
          </a:p>
        </p:txBody>
      </p:sp>
      <p:sp>
        <p:nvSpPr>
          <p:cNvPr id="17" name="">
            <a:extLst>
              <a:ext uri="{FF2B5EF4-FFF2-40B4-BE49-F238E27FC236}">
                <ns2:creationId id="{718A3192-5600-4B3D-A638-B4C02470625F}"/>
              </a:ext>
            </a:extLst>
          </p:cNvPr>
          <p:cNvSpPr txBox="1">
            <a:spLocks noGrp="1"/>
          </p:cNvSpPr>
          <p:nvPr/>
        </p:nvSpPr>
        <p:spPr>
          <a:xfrm>
            <a:off x="762000" y="7477125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6.</a:t>
            </a:r>
          </a:p>
        </p:txBody>
      </p:sp>
      <p:sp>
        <p:nvSpPr>
          <p:cNvPr id="18" name="">
            <a:extLst>
              <a:ext uri="{FF2B5EF4-FFF2-40B4-BE49-F238E27FC236}">
                <ns2:creationId id="{40D8380C-4A2E-4B1C-8A0A-8E10B643FF56}"/>
              </a:ext>
            </a:extLst>
          </p:cNvPr>
          <p:cNvSpPr txBox="1">
            <a:spLocks noGrp="1"/>
          </p:cNvSpPr>
          <p:nvPr/>
        </p:nvSpPr>
        <p:spPr>
          <a:xfrm>
            <a:off x="1600200" y="7477125"/>
            <a:ext cx="138112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Define KPIs, measure outcomes and let Centaur suggest better skills and workflows.</a:t>
            </a:r>
          </a:p>
        </p:txBody>
      </p:sp>
      <p:sp>
        <p:nvSpPr>
          <p:cNvPr id="19" name="">
            <a:extLst>
              <a:ext uri="{FF2B5EF4-FFF2-40B4-BE49-F238E27FC236}">
                <ns2:creationId id="{AFA8F984-5CB7-4E7D-8227-6694569A5D81}"/>
              </a:ext>
            </a:extLst>
          </p:cNvPr>
          <p:cNvSpPr txBox="1">
            <a:spLocks noGrp="1"/>
          </p:cNvSpPr>
          <p:nvPr/>
        </p:nvSpPr>
        <p:spPr>
          <a:xfrm>
            <a:off x="762000" y="94297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DA8A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3DA8A0"/>
                </a:solidFill>
                <a:latin typeface="JetBrains Mono"/>
                <a:ea typeface="JetBrains Mono"/>
                <a:cs typeface="JetBrains Mono"/>
              </a:rPr>
              <a:t>centaur.run</a:t>
            </a:r>
          </a:p>
        </p:txBody>
      </p:sp>
    </p:spTree>
    <p:extLst>
      <p:ext uri="{BB962C8B-B14F-4D97-AF65-F5344CB8AC3E}">
        <ns3:creationId val="289920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2026-06-01T12:27:45.2010000Z</dcterms:created>
  <dcterms:modified xsi:type="dcterms:W3CDTF">2026-06-01T12:27:45.2010000Z</dcterms:modified>
</coreProperties>
</file>